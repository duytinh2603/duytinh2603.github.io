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2.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3.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Lớp 2 = 1.000 Ω·m (đá gốc)</c:v>
                </c:pt>
              </c:strCache>
            </c:strRef>
          </c:tx>
          <c:spPr>
            <a:solidFill>
              <a:srgbClr val="234782"/>
            </a:solidFill>
            <a:ln w="31750" cap="flat">
              <a:solidFill>
                <a:srgbClr val="234782"/>
              </a:solidFill>
              <a:prstDash val="solid"/>
              <a:round/>
            </a:ln>
            <a:effectLst/>
          </c:spPr>
          <c:marker>
            <c:symbol val="none"/>
            <c:size val="6"/>
            <c:spPr>
              <a:solidFill>
                <a:srgbClr val="234782"/>
              </a:solidFill>
              <a:ln w="9525" cap="flat">
                <a:solidFill>
                  <a:srgbClr val="234782"/>
                </a:solidFill>
                <a:prstDash val="solid"/>
                <a:round/>
              </a:ln>
              <a:effectLst/>
            </c:spPr>
          </c:marker>
          <c:xVal>
            <c:numRef>
              <c:f>Sheet1!$A$2:$A$42</c:f>
              <c:numCache>
                <c:formatCode>General</c:formatCode>
                <c:ptCount val="41"/>
                <c:pt idx="0">
                  <c:v>1</c:v>
                </c:pt>
                <c:pt idx="1">
                  <c:v>1.122</c:v>
                </c:pt>
                <c:pt idx="2">
                  <c:v>1.259</c:v>
                </c:pt>
                <c:pt idx="3">
                  <c:v>1.413</c:v>
                </c:pt>
                <c:pt idx="4">
                  <c:v>1.585</c:v>
                </c:pt>
                <c:pt idx="5">
                  <c:v>1.778</c:v>
                </c:pt>
                <c:pt idx="6">
                  <c:v>1.995</c:v>
                </c:pt>
                <c:pt idx="7">
                  <c:v>2.239</c:v>
                </c:pt>
                <c:pt idx="8">
                  <c:v>2.512</c:v>
                </c:pt>
                <c:pt idx="9">
                  <c:v>2.818</c:v>
                </c:pt>
                <c:pt idx="10">
                  <c:v>3.162</c:v>
                </c:pt>
                <c:pt idx="11">
                  <c:v>3.548</c:v>
                </c:pt>
                <c:pt idx="12">
                  <c:v>3.981</c:v>
                </c:pt>
                <c:pt idx="13">
                  <c:v>4.467</c:v>
                </c:pt>
                <c:pt idx="14">
                  <c:v>5.012</c:v>
                </c:pt>
                <c:pt idx="15">
                  <c:v>5.623</c:v>
                </c:pt>
                <c:pt idx="16">
                  <c:v>6.31</c:v>
                </c:pt>
                <c:pt idx="17">
                  <c:v>7.079</c:v>
                </c:pt>
                <c:pt idx="18">
                  <c:v>7.943</c:v>
                </c:pt>
                <c:pt idx="19">
                  <c:v>8.913</c:v>
                </c:pt>
                <c:pt idx="20">
                  <c:v>10</c:v>
                </c:pt>
                <c:pt idx="21">
                  <c:v>11.22</c:v>
                </c:pt>
                <c:pt idx="22">
                  <c:v>12.589</c:v>
                </c:pt>
                <c:pt idx="23">
                  <c:v>14.125</c:v>
                </c:pt>
                <c:pt idx="24">
                  <c:v>15.849</c:v>
                </c:pt>
                <c:pt idx="25">
                  <c:v>17.783</c:v>
                </c:pt>
                <c:pt idx="26">
                  <c:v>19.953</c:v>
                </c:pt>
                <c:pt idx="27">
                  <c:v>22.387</c:v>
                </c:pt>
                <c:pt idx="28">
                  <c:v>25.119</c:v>
                </c:pt>
                <c:pt idx="29">
                  <c:v>28.184</c:v>
                </c:pt>
                <c:pt idx="30">
                  <c:v>31.623</c:v>
                </c:pt>
                <c:pt idx="31">
                  <c:v>35.481</c:v>
                </c:pt>
                <c:pt idx="32">
                  <c:v>39.811</c:v>
                </c:pt>
                <c:pt idx="33">
                  <c:v>44.668</c:v>
                </c:pt>
                <c:pt idx="34">
                  <c:v>50.119</c:v>
                </c:pt>
                <c:pt idx="35">
                  <c:v>56.234</c:v>
                </c:pt>
                <c:pt idx="36">
                  <c:v>63.096</c:v>
                </c:pt>
                <c:pt idx="37">
                  <c:v>70.795</c:v>
                </c:pt>
                <c:pt idx="38">
                  <c:v>79.433</c:v>
                </c:pt>
                <c:pt idx="39">
                  <c:v>89.125</c:v>
                </c:pt>
                <c:pt idx="40">
                  <c:v>100</c:v>
                </c:pt>
              </c:numCache>
            </c:numRef>
          </c:xVal>
          <c:yVal>
            <c:numRef>
              <c:f>Sheet1!$B$2:$B$42</c:f>
              <c:numCache>
                <c:formatCode>General</c:formatCode>
                <c:ptCount val="41"/>
                <c:pt idx="0">
                  <c:v>100.5</c:v>
                </c:pt>
                <c:pt idx="1">
                  <c:v>100.8</c:v>
                </c:pt>
                <c:pt idx="2">
                  <c:v>101.1</c:v>
                </c:pt>
                <c:pt idx="3">
                  <c:v>101.5</c:v>
                </c:pt>
                <c:pt idx="4">
                  <c:v>102.1</c:v>
                </c:pt>
                <c:pt idx="5">
                  <c:v>102.9</c:v>
                </c:pt>
                <c:pt idx="6">
                  <c:v>103.9</c:v>
                </c:pt>
                <c:pt idx="7">
                  <c:v>105.4</c:v>
                </c:pt>
                <c:pt idx="8">
                  <c:v>107.3</c:v>
                </c:pt>
                <c:pt idx="9">
                  <c:v>109.9</c:v>
                </c:pt>
                <c:pt idx="10">
                  <c:v>113.3</c:v>
                </c:pt>
                <c:pt idx="11">
                  <c:v>117.6</c:v>
                </c:pt>
                <c:pt idx="12">
                  <c:v>123.1</c:v>
                </c:pt>
                <c:pt idx="13">
                  <c:v>129.9</c:v>
                </c:pt>
                <c:pt idx="14">
                  <c:v>138.2</c:v>
                </c:pt>
                <c:pt idx="15">
                  <c:v>148.2</c:v>
                </c:pt>
                <c:pt idx="16">
                  <c:v>160</c:v>
                </c:pt>
                <c:pt idx="17">
                  <c:v>173.5</c:v>
                </c:pt>
                <c:pt idx="18">
                  <c:v>189</c:v>
                </c:pt>
                <c:pt idx="19">
                  <c:v>206.2</c:v>
                </c:pt>
                <c:pt idx="20">
                  <c:v>225.3</c:v>
                </c:pt>
                <c:pt idx="21">
                  <c:v>246.1</c:v>
                </c:pt>
                <c:pt idx="22">
                  <c:v>268.5</c:v>
                </c:pt>
                <c:pt idx="23">
                  <c:v>292.6</c:v>
                </c:pt>
                <c:pt idx="24">
                  <c:v>318.2</c:v>
                </c:pt>
                <c:pt idx="25">
                  <c:v>345.2</c:v>
                </c:pt>
                <c:pt idx="26">
                  <c:v>373.6</c:v>
                </c:pt>
                <c:pt idx="27">
                  <c:v>403.3</c:v>
                </c:pt>
                <c:pt idx="28">
                  <c:v>434</c:v>
                </c:pt>
                <c:pt idx="29">
                  <c:v>465.8</c:v>
                </c:pt>
                <c:pt idx="30">
                  <c:v>498.2</c:v>
                </c:pt>
                <c:pt idx="31">
                  <c:v>531.2</c:v>
                </c:pt>
                <c:pt idx="32">
                  <c:v>564.5</c:v>
                </c:pt>
                <c:pt idx="33">
                  <c:v>597.9</c:v>
                </c:pt>
                <c:pt idx="34">
                  <c:v>630.9</c:v>
                </c:pt>
                <c:pt idx="35">
                  <c:v>663.5</c:v>
                </c:pt>
                <c:pt idx="36">
                  <c:v>695.2</c:v>
                </c:pt>
                <c:pt idx="37">
                  <c:v>725.8</c:v>
                </c:pt>
                <c:pt idx="38">
                  <c:v>755.2</c:v>
                </c:pt>
                <c:pt idx="39">
                  <c:v>782.9</c:v>
                </c:pt>
                <c:pt idx="40">
                  <c:v>808.9</c:v>
                </c:pt>
              </c:numCache>
            </c:numRef>
          </c:yVal>
          <c:smooth val="0"/>
        </c:ser>
        <c:ser>
          <c:idx val="1"/>
          <c:order val="1"/>
          <c:tx>
            <c:strRef>
              <c:f>Sheet1!$C$1</c:f>
              <c:strCache>
                <c:ptCount val="1"/>
                <c:pt idx="0">
                  <c:v>Lớp 2 = 10 Ω·m (sét, nước mặn)</c:v>
                </c:pt>
              </c:strCache>
            </c:strRef>
          </c:tx>
          <c:spPr>
            <a:solidFill>
              <a:srgbClr val="D95F0E"/>
            </a:solidFill>
            <a:ln w="31750" cap="flat">
              <a:solidFill>
                <a:srgbClr val="D95F0E"/>
              </a:solidFill>
              <a:prstDash val="solid"/>
              <a:round/>
            </a:ln>
            <a:effectLst/>
          </c:spPr>
          <c:marker>
            <c:symbol val="none"/>
            <c:size val="6"/>
            <c:spPr>
              <a:solidFill>
                <a:srgbClr val="D95F0E"/>
              </a:solidFill>
              <a:ln w="9525" cap="flat">
                <a:solidFill>
                  <a:srgbClr val="D95F0E"/>
                </a:solidFill>
                <a:prstDash val="solid"/>
                <a:round/>
              </a:ln>
              <a:effectLst/>
            </c:spPr>
          </c:marker>
          <c:xVal>
            <c:numRef>
              <c:f>Sheet1!$A$2:$A$42</c:f>
              <c:numCache>
                <c:formatCode>General</c:formatCode>
                <c:ptCount val="41"/>
                <c:pt idx="0">
                  <c:v>1</c:v>
                </c:pt>
                <c:pt idx="1">
                  <c:v>1.122</c:v>
                </c:pt>
                <c:pt idx="2">
                  <c:v>1.259</c:v>
                </c:pt>
                <c:pt idx="3">
                  <c:v>1.413</c:v>
                </c:pt>
                <c:pt idx="4">
                  <c:v>1.585</c:v>
                </c:pt>
                <c:pt idx="5">
                  <c:v>1.778</c:v>
                </c:pt>
                <c:pt idx="6">
                  <c:v>1.995</c:v>
                </c:pt>
                <c:pt idx="7">
                  <c:v>2.239</c:v>
                </c:pt>
                <c:pt idx="8">
                  <c:v>2.512</c:v>
                </c:pt>
                <c:pt idx="9">
                  <c:v>2.818</c:v>
                </c:pt>
                <c:pt idx="10">
                  <c:v>3.162</c:v>
                </c:pt>
                <c:pt idx="11">
                  <c:v>3.548</c:v>
                </c:pt>
                <c:pt idx="12">
                  <c:v>3.981</c:v>
                </c:pt>
                <c:pt idx="13">
                  <c:v>4.467</c:v>
                </c:pt>
                <c:pt idx="14">
                  <c:v>5.012</c:v>
                </c:pt>
                <c:pt idx="15">
                  <c:v>5.623</c:v>
                </c:pt>
                <c:pt idx="16">
                  <c:v>6.31</c:v>
                </c:pt>
                <c:pt idx="17">
                  <c:v>7.079</c:v>
                </c:pt>
                <c:pt idx="18">
                  <c:v>7.943</c:v>
                </c:pt>
                <c:pt idx="19">
                  <c:v>8.913</c:v>
                </c:pt>
                <c:pt idx="20">
                  <c:v>10</c:v>
                </c:pt>
                <c:pt idx="21">
                  <c:v>11.22</c:v>
                </c:pt>
                <c:pt idx="22">
                  <c:v>12.589</c:v>
                </c:pt>
                <c:pt idx="23">
                  <c:v>14.125</c:v>
                </c:pt>
                <c:pt idx="24">
                  <c:v>15.849</c:v>
                </c:pt>
                <c:pt idx="25">
                  <c:v>17.783</c:v>
                </c:pt>
                <c:pt idx="26">
                  <c:v>19.953</c:v>
                </c:pt>
                <c:pt idx="27">
                  <c:v>22.387</c:v>
                </c:pt>
                <c:pt idx="28">
                  <c:v>25.119</c:v>
                </c:pt>
                <c:pt idx="29">
                  <c:v>28.184</c:v>
                </c:pt>
                <c:pt idx="30">
                  <c:v>31.623</c:v>
                </c:pt>
                <c:pt idx="31">
                  <c:v>35.481</c:v>
                </c:pt>
                <c:pt idx="32">
                  <c:v>39.811</c:v>
                </c:pt>
                <c:pt idx="33">
                  <c:v>44.668</c:v>
                </c:pt>
                <c:pt idx="34">
                  <c:v>50.119</c:v>
                </c:pt>
                <c:pt idx="35">
                  <c:v>56.234</c:v>
                </c:pt>
                <c:pt idx="36">
                  <c:v>63.096</c:v>
                </c:pt>
                <c:pt idx="37">
                  <c:v>70.795</c:v>
                </c:pt>
                <c:pt idx="38">
                  <c:v>79.433</c:v>
                </c:pt>
                <c:pt idx="39">
                  <c:v>89.125</c:v>
                </c:pt>
                <c:pt idx="40">
                  <c:v>100</c:v>
                </c:pt>
              </c:numCache>
            </c:numRef>
          </c:xVal>
          <c:yVal>
            <c:numRef>
              <c:f>Sheet1!$C$2:$C$42</c:f>
              <c:numCache>
                <c:formatCode>General</c:formatCode>
                <c:ptCount val="41"/>
                <c:pt idx="0">
                  <c:v>99.6</c:v>
                </c:pt>
                <c:pt idx="1">
                  <c:v>99.4</c:v>
                </c:pt>
                <c:pt idx="2">
                  <c:v>99.2</c:v>
                </c:pt>
                <c:pt idx="3">
                  <c:v>98.8</c:v>
                </c:pt>
                <c:pt idx="4">
                  <c:v>98.4</c:v>
                </c:pt>
                <c:pt idx="5">
                  <c:v>97.8</c:v>
                </c:pt>
                <c:pt idx="6">
                  <c:v>96.9</c:v>
                </c:pt>
                <c:pt idx="7">
                  <c:v>95.8</c:v>
                </c:pt>
                <c:pt idx="8">
                  <c:v>94.3</c:v>
                </c:pt>
                <c:pt idx="9">
                  <c:v>92.4</c:v>
                </c:pt>
                <c:pt idx="10">
                  <c:v>90</c:v>
                </c:pt>
                <c:pt idx="11">
                  <c:v>86.9</c:v>
                </c:pt>
                <c:pt idx="12">
                  <c:v>83.1</c:v>
                </c:pt>
                <c:pt idx="13">
                  <c:v>78.6</c:v>
                </c:pt>
                <c:pt idx="14">
                  <c:v>73.3</c:v>
                </c:pt>
                <c:pt idx="15">
                  <c:v>67.3</c:v>
                </c:pt>
                <c:pt idx="16">
                  <c:v>60.8</c:v>
                </c:pt>
                <c:pt idx="17">
                  <c:v>53.9</c:v>
                </c:pt>
                <c:pt idx="18">
                  <c:v>47</c:v>
                </c:pt>
                <c:pt idx="19">
                  <c:v>40.2</c:v>
                </c:pt>
                <c:pt idx="20">
                  <c:v>33.9</c:v>
                </c:pt>
                <c:pt idx="21">
                  <c:v>28.2</c:v>
                </c:pt>
                <c:pt idx="22">
                  <c:v>23.4</c:v>
                </c:pt>
                <c:pt idx="23">
                  <c:v>19.6</c:v>
                </c:pt>
                <c:pt idx="24">
                  <c:v>16.6</c:v>
                </c:pt>
                <c:pt idx="25">
                  <c:v>14.4</c:v>
                </c:pt>
                <c:pt idx="26">
                  <c:v>12.9</c:v>
                </c:pt>
                <c:pt idx="27">
                  <c:v>11.9</c:v>
                </c:pt>
                <c:pt idx="28">
                  <c:v>11.2</c:v>
                </c:pt>
                <c:pt idx="29">
                  <c:v>10.8</c:v>
                </c:pt>
                <c:pt idx="30">
                  <c:v>10.6</c:v>
                </c:pt>
                <c:pt idx="31">
                  <c:v>10.4</c:v>
                </c:pt>
                <c:pt idx="32">
                  <c:v>10.3</c:v>
                </c:pt>
                <c:pt idx="33">
                  <c:v>10.2</c:v>
                </c:pt>
                <c:pt idx="34">
                  <c:v>10.2</c:v>
                </c:pt>
                <c:pt idx="35">
                  <c:v>10.1</c:v>
                </c:pt>
                <c:pt idx="36">
                  <c:v>10.1</c:v>
                </c:pt>
                <c:pt idx="37">
                  <c:v>10.1</c:v>
                </c:pt>
                <c:pt idx="38">
                  <c:v>10.1</c:v>
                </c:pt>
                <c:pt idx="39">
                  <c:v>10.1</c:v>
                </c:pt>
                <c:pt idx="40">
                  <c:v>10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logBase val="10"/>
          <c:orientation val="minMax"/>
          <c:max val="100"/>
          <c:min val="1"/>
        </c:scaling>
        <c:delete val="0"/>
        <c:axPos val="b"/>
        <c:title>
          <c:tx>
            <c:rich>
              <a:bodyPr/>
              <a:lstStyle/>
              <a:p>
                <a:pPr>
                  <a:defRPr sz="1200" b="0" i="0" u="none" strike="noStrike">
                    <a:solidFill>
                      <a:srgbClr val="000000"/>
                    </a:solidFill>
                    <a:latin typeface="Tahoma"/>
                  </a:defRPr>
                </a:pPr>
                <a:r>
                  <a:rPr sz="1200" b="0" i="0" u="none" strike="noStrike">
                    <a:solidFill>
                      <a:srgbClr val="000000"/>
                    </a:solidFill>
                    <a:latin typeface="Tahoma"/>
                  </a:rPr>
                  <a:t>Khoảng cách cực a (m)</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000000"/>
                </a:solidFill>
                <a:latin typeface="Tahoma"/>
              </a:defRPr>
            </a:pPr>
            <a:endParaRPr lang="en-US"/>
          </a:p>
        </c:txPr>
        <c:crossAx val="2094734552"/>
        <c:crosses val="autoZero"/>
        <c:auto val="1"/>
        <c:lblAlgn val="ctr"/>
        <c:noMultiLvlLbl val="1"/>
      </c:valAx>
      <c:valAx>
        <c:axId val="2094734552"/>
        <c:scaling>
          <c:logBase val="10"/>
          <c:orientation val="minMax"/>
          <c:max val="10000"/>
          <c:min val="1"/>
        </c:scaling>
        <c:delete val="0"/>
        <c:axPos val="l"/>
        <c:majorGridlines>
          <c:spPr>
            <a:ln w="6350" cap="flat">
              <a:solidFill>
                <a:srgbClr val="E3E7EB"/>
              </a:solidFill>
              <a:prstDash val="solid"/>
              <a:round/>
            </a:ln>
          </c:spPr>
        </c:majorGridlines>
        <c:title>
          <c:tx>
            <c:rich>
              <a:bodyPr/>
              <a:lstStyle/>
              <a:p>
                <a:pPr>
                  <a:defRPr sz="1200" b="0" i="0" u="none" strike="noStrike">
                    <a:solidFill>
                      <a:srgbClr val="000000"/>
                    </a:solidFill>
                    <a:latin typeface="Tahoma"/>
                  </a:defRPr>
                </a:pPr>
                <a:r>
                  <a:rPr sz="1200" b="0" i="0" u="none" strike="noStrike">
                    <a:solidFill>
                      <a:srgbClr val="000000"/>
                    </a:solidFill>
                    <a:latin typeface="Tahoma"/>
                  </a:rPr>
                  <a:t>ρa (Ω·m)</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000000"/>
                </a:solidFill>
                <a:latin typeface="Tahoma"/>
              </a:defRPr>
            </a:pPr>
            <a:endParaRPr lang="en-US"/>
          </a:p>
        </c:txPr>
        <c:crossAx val="2094734554"/>
        <c:crosses val="autoZero"/>
        <c:crossBetween val="midCat"/>
      </c:valAx>
      <c:spPr>
        <a:noFill/>
        <a:ln>
          <a:noFill/>
        </a:ln>
        <a:effectLst/>
      </c:spPr>
    </c:plotArea>
    <c:legend>
      <c:legendPos val="t"/>
      <c:overlay val="0"/>
      <c:txPr>
        <a:bodyPr/>
        <a:lstStyle/>
        <a:p>
          <a:pPr>
            <a:defRPr sz="1200">
              <a:latin typeface="Tahoma"/>
              <a:cs typeface="Tahoma"/>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Thời gian sóng tới đầu</c:v>
                </c:pt>
              </c:strCache>
            </c:strRef>
          </c:tx>
          <c:spPr>
            <a:solidFill>
              <a:srgbClr val="234782"/>
            </a:solidFill>
            <a:ln>
              <a:noFill/>
            </a:ln>
            <a:effectLst/>
          </c:spPr>
          <c:marker>
            <c:symbol val="circle"/>
            <c:size val="8"/>
            <c:spPr>
              <a:solidFill>
                <a:srgbClr val="234782"/>
              </a:solidFill>
              <a:ln w="9525" cap="flat">
                <a:solidFill>
                  <a:srgbClr val="234782"/>
                </a:solidFill>
                <a:prstDash val="solid"/>
                <a:round/>
              </a:ln>
              <a:effectLst/>
            </c:spPr>
          </c:marker>
          <c:xVal>
            <c:numRef>
              <c:f>Sheet1!$A$2:$A$13</c:f>
              <c:numCache>
                <c:formatCode>General</c:formatCode>
                <c:ptCount val="12"/>
                <c:pt idx="0">
                  <c:v>5</c:v>
                </c:pt>
                <c:pt idx="1">
                  <c:v>10</c:v>
                </c:pt>
                <c:pt idx="2">
                  <c:v>15</c:v>
                </c:pt>
                <c:pt idx="3">
                  <c:v>20</c:v>
                </c:pt>
                <c:pt idx="4">
                  <c:v>25</c:v>
                </c:pt>
                <c:pt idx="5">
                  <c:v>30</c:v>
                </c:pt>
                <c:pt idx="6">
                  <c:v>35</c:v>
                </c:pt>
                <c:pt idx="7">
                  <c:v>40</c:v>
                </c:pt>
                <c:pt idx="8">
                  <c:v>45</c:v>
                </c:pt>
                <c:pt idx="9">
                  <c:v>50</c:v>
                </c:pt>
                <c:pt idx="10">
                  <c:v>55</c:v>
                </c:pt>
                <c:pt idx="11">
                  <c:v>60</c:v>
                </c:pt>
              </c:numCache>
            </c:numRef>
          </c:xVal>
          <c:yVal>
            <c:numRef>
              <c:f>Sheet1!$B$2:$B$13</c:f>
              <c:numCache>
                <c:formatCode>General</c:formatCode>
                <c:ptCount val="12"/>
                <c:pt idx="0">
                  <c:v>10</c:v>
                </c:pt>
                <c:pt idx="1">
                  <c:v>20</c:v>
                </c:pt>
                <c:pt idx="2">
                  <c:v>26.9</c:v>
                </c:pt>
                <c:pt idx="3">
                  <c:v>29.4</c:v>
                </c:pt>
                <c:pt idx="4">
                  <c:v>31.9</c:v>
                </c:pt>
                <c:pt idx="5">
                  <c:v>34.4</c:v>
                </c:pt>
                <c:pt idx="6">
                  <c:v>36.9</c:v>
                </c:pt>
                <c:pt idx="7">
                  <c:v>39.4</c:v>
                </c:pt>
                <c:pt idx="8">
                  <c:v>41.9</c:v>
                </c:pt>
                <c:pt idx="9">
                  <c:v>44.4</c:v>
                </c:pt>
                <c:pt idx="10">
                  <c:v>46.9</c:v>
                </c:pt>
                <c:pt idx="11">
                  <c:v>49.4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5"/>
          <c:min val="0"/>
        </c:scaling>
        <c:delete val="0"/>
        <c:axPos val="b"/>
        <c:title>
          <c:tx>
            <c:rich>
              <a:bodyPr/>
              <a:lstStyle/>
              <a:p>
                <a:pPr>
                  <a:defRPr sz="1200" b="0" i="0" u="none" strike="noStrike">
                    <a:solidFill>
                      <a:srgbClr val="000000"/>
                    </a:solidFill>
                    <a:latin typeface="Tahoma"/>
                  </a:defRPr>
                </a:pPr>
                <a:r>
                  <a:rPr sz="1200" b="0" i="0" u="none" strike="noStrike">
                    <a:solidFill>
                      <a:srgbClr val="000000"/>
                    </a:solidFill>
                    <a:latin typeface="Tahoma"/>
                  </a:rPr>
                  <a:t>x (m)</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000000"/>
                </a:solidFill>
                <a:latin typeface="Tahoma"/>
              </a:defRPr>
            </a:pPr>
            <a:endParaRPr lang="en-US"/>
          </a:p>
        </c:txPr>
        <c:crossAx val="2094734552"/>
        <c:crosses val="autoZero"/>
        <c:auto val="1"/>
        <c:lblAlgn val="ctr"/>
        <c:noMultiLvlLbl val="1"/>
      </c:valAx>
      <c:valAx>
        <c:axId val="2094734552"/>
        <c:scaling>
          <c:orientation val="minMax"/>
          <c:max val="60"/>
          <c:min val="0"/>
        </c:scaling>
        <c:delete val="0"/>
        <c:axPos val="l"/>
        <c:majorGridlines>
          <c:spPr>
            <a:ln w="6350" cap="flat">
              <a:solidFill>
                <a:srgbClr val="E3E7EB"/>
              </a:solidFill>
              <a:prstDash val="solid"/>
              <a:round/>
            </a:ln>
          </c:spPr>
        </c:majorGridlines>
        <c:title>
          <c:tx>
            <c:rich>
              <a:bodyPr/>
              <a:lstStyle/>
              <a:p>
                <a:pPr>
                  <a:defRPr sz="1200" b="0" i="0" u="none" strike="noStrike">
                    <a:solidFill>
                      <a:srgbClr val="000000"/>
                    </a:solidFill>
                    <a:latin typeface="Tahoma"/>
                  </a:defRPr>
                </a:pPr>
                <a:r>
                  <a:rPr sz="1200" b="0" i="0" u="none" strike="noStrike">
                    <a:solidFill>
                      <a:srgbClr val="000000"/>
                    </a:solidFill>
                    <a:latin typeface="Tahoma"/>
                  </a:rPr>
                  <a:t>t (ms)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000000"/>
                </a:solidFill>
                <a:latin typeface="Tahoma"/>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ρa đo</c:v>
                </c:pt>
              </c:strCache>
            </c:strRef>
          </c:tx>
          <c:spPr>
            <a:solidFill>
              <a:srgbClr val="D95F0E"/>
            </a:solidFill>
            <a:ln>
              <a:noFill/>
            </a:ln>
            <a:effectLst/>
          </c:spPr>
          <c:marker>
            <c:symbol val="circle"/>
            <c:size val="8"/>
            <c:spPr>
              <a:solidFill>
                <a:srgbClr val="D95F0E"/>
              </a:solidFill>
              <a:ln w="9525" cap="flat">
                <a:solidFill>
                  <a:srgbClr val="D95F0E"/>
                </a:solidFill>
                <a:prstDash val="solid"/>
                <a:round/>
              </a:ln>
              <a:effectLst/>
            </c:spPr>
          </c:marker>
          <c:xVal>
            <c:numRef>
              <c:f>Sheet1!$A$2:$A$11</c:f>
              <c:numCache>
                <c:formatCode>General</c:formatCode>
                <c:ptCount val="10"/>
                <c:pt idx="0">
                  <c:v>1.5</c:v>
                </c:pt>
                <c:pt idx="1">
                  <c:v>2</c:v>
                </c:pt>
                <c:pt idx="2">
                  <c:v>3</c:v>
                </c:pt>
                <c:pt idx="3">
                  <c:v>5</c:v>
                </c:pt>
                <c:pt idx="4">
                  <c:v>7</c:v>
                </c:pt>
                <c:pt idx="5">
                  <c:v>10</c:v>
                </c:pt>
                <c:pt idx="6">
                  <c:v>15</c:v>
                </c:pt>
                <c:pt idx="7">
                  <c:v>20</c:v>
                </c:pt>
                <c:pt idx="8">
                  <c:v>30</c:v>
                </c:pt>
                <c:pt idx="9">
                  <c:v>50</c:v>
                </c:pt>
              </c:numCache>
            </c:numRef>
          </c:xVal>
          <c:yVal>
            <c:numRef>
              <c:f>Sheet1!$B$2:$B$11</c:f>
              <c:numCache>
                <c:formatCode>General</c:formatCode>
                <c:ptCount val="10"/>
                <c:pt idx="0">
                  <c:v>104.7</c:v>
                </c:pt>
                <c:pt idx="1">
                  <c:v>96.2</c:v>
                </c:pt>
                <c:pt idx="2">
                  <c:v>105.4</c:v>
                </c:pt>
                <c:pt idx="3">
                  <c:v>116</c:v>
                </c:pt>
                <c:pt idx="4">
                  <c:v>136.6</c:v>
                </c:pt>
                <c:pt idx="5">
                  <c:v>175</c:v>
                </c:pt>
                <c:pt idx="6">
                  <c:v>230.8</c:v>
                </c:pt>
                <c:pt idx="7">
                  <c:v>297.9</c:v>
                </c:pt>
                <c:pt idx="8">
                  <c:v>391</c:v>
                </c:pt>
                <c:pt idx="9">
                  <c:v>577.4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logBase val="10"/>
          <c:orientation val="minMax"/>
          <c:max val="100"/>
          <c:min val="1"/>
        </c:scaling>
        <c:delete val="0"/>
        <c:axPos val="b"/>
        <c:title>
          <c:tx>
            <c:rich>
              <a:bodyPr/>
              <a:lstStyle/>
              <a:p>
                <a:pPr>
                  <a:defRPr sz="1200" b="0" i="0" u="none" strike="noStrike">
                    <a:solidFill>
                      <a:srgbClr val="000000"/>
                    </a:solidFill>
                    <a:latin typeface="Tahoma"/>
                  </a:defRPr>
                </a:pPr>
                <a:r>
                  <a:rPr sz="1200" b="0" i="0" u="none" strike="noStrike">
                    <a:solidFill>
                      <a:srgbClr val="000000"/>
                    </a:solidFill>
                    <a:latin typeface="Tahoma"/>
                  </a:rPr>
                  <a:t>AB/2 (m)</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000000"/>
                </a:solidFill>
                <a:latin typeface="Tahoma"/>
              </a:defRPr>
            </a:pPr>
            <a:endParaRPr lang="en-US"/>
          </a:p>
        </c:txPr>
        <c:crossAx val="2094734552"/>
        <c:crosses val="autoZero"/>
        <c:auto val="1"/>
        <c:lblAlgn val="ctr"/>
        <c:noMultiLvlLbl val="1"/>
      </c:valAx>
      <c:valAx>
        <c:axId val="2094734552"/>
        <c:scaling>
          <c:logBase val="10"/>
          <c:orientation val="minMax"/>
          <c:max val="1000"/>
          <c:min val="10"/>
        </c:scaling>
        <c:delete val="0"/>
        <c:axPos val="l"/>
        <c:majorGridlines>
          <c:spPr>
            <a:ln w="6350" cap="flat">
              <a:solidFill>
                <a:srgbClr val="E3E7EB"/>
              </a:solidFill>
              <a:prstDash val="solid"/>
              <a:round/>
            </a:ln>
          </c:spPr>
        </c:majorGridlines>
        <c:title>
          <c:tx>
            <c:rich>
              <a:bodyPr/>
              <a:lstStyle/>
              <a:p>
                <a:pPr>
                  <a:defRPr sz="1200" b="0" i="0" u="none" strike="noStrike">
                    <a:solidFill>
                      <a:srgbClr val="000000"/>
                    </a:solidFill>
                    <a:latin typeface="Tahoma"/>
                  </a:defRPr>
                </a:pPr>
                <a:r>
                  <a:rPr sz="1200" b="0" i="0" u="none" strike="noStrike">
                    <a:solidFill>
                      <a:srgbClr val="000000"/>
                    </a:solidFill>
                    <a:latin typeface="Tahoma"/>
                  </a:rPr>
                  <a:t>ρa (Ω·m)</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000000"/>
                </a:solidFill>
                <a:latin typeface="Tahoma"/>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Phương pháp điện trở suất dựa trên định luật Ohm. Điện trở suất của đất đá thay đổi rất rộng, từ 0,2 ôm mét với nước biển tới hàng triệu với granit, nên phân biệt được các lớp. Định luật Archie cho thấy ρ phụ thuộc độ rỗng và độ bão hòa nước, đây cũng là cơ sở của log điện trở trong dầu khí.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Máy phát dòng I vào đất qua hai cực A, B và đo hiệu điện thế giữa M, N. Điện trở suất biểu kiến bằng K nhân ΔU chia I, với K là hệ số hình học. Khi tăng khoảng cách AB, dòng đi sâu hơn nên ρa phản ánh các lớp sâu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Thiết bị em trình bày là máy đo điện trở suất ABEM Terrameter SAS của Thụy Điển. Hãng ABEM có từ năm 1923, tên gốc nghĩa là công ty thăm dò quặng bằng điện, nay thuộc Guideline Geo. Một máy vừa phát dòng vừa đo điện thế và đo được ba chế độ: điện trở suất, IP và 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phát cho dòng tới 1000 mA, điện áp tới 400 V, công suất 100 W. Bộ thu có độ phân giải 1 microvolt, độ chính xác tốt hơn 1%. Khi phát dòng máy có thể kéo tới 20 A nên ắc quy ngoài phải từ 25 Ah trở lên.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Mặt máy có cổng MULTI, hai cổng cực phát C1 C2 nối với A B, hai cổng cực thu P1 P2 nối với M N, màn hình và bốn núm xoay. Máy không có bàn phím; mọi thao tác làm bằng núm.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bật máy, bấm đồng thời hai núm dưới hướng vào nhau, chờ khoảng 20 giây. Màn hình kết quả hiển thị điện trở, độ lệch chuẩn và số lần cộng. Em luôn kiểm tra cột S.Dev để quyết định có phải đo lại hay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thiết bị đi kèm gồm ắc quy 12 V 28 Ah, điện cực thép và hai cuộn cáp. Khi đo SP phải dùng cực không phân cực đồng sulfat. Nếu đo ảnh điện 2D thì dùng hệ cáp đa cực LUND.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so sánh năm hệ cực dùng được với Terrameter. Đo sâu điện thường dùng Schlumberger vì chỉ cần dời hai cực phát. Bản 4 kênh dùng tốt nhất với hệ gradient đa kênh.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ví dụ em tự tính, số đo giả định. Với Schlumberger AB/2 20 m, MN/2 1 m, K khoảng 627 m; với Wenner a 10 m, K khoảng 63 m. Cả hai cho ρa 100 ôm mét, nhưng K lớn thì ΔU nhỏ nên phải tăng dòng.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đo phải cài các thông số trong bảng. Dòng được đảo chiều theo chu kỳ cộng trừ trừ cộng để khử điện thế tự nhiên; máy cộng nhiều lần và dừng khi độ lệch chuẩn nhỏ hơn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chế độ IP, sau khi ngắt dòng điện thế không về 0 ngay mà giảm dần. Máy đo phần suy giảm trong các cửa sổ thời gian và tính độ nạp M. Đất đá chứa quặng sulfide hoặc sét có M lớn.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Chế độ SP không phát dòng mà chỉ đo điện thế tự nhiên. Bắt buộc dùng cực không phân cực vì điện cực thép tự sinh ra điện thế. SP dùng để tìm dòng thấm qua đê đập hoặc quặng sulfide.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đo sâu điện gồm tám bước. Điểm cần nhớ: máy đặt giữa M và N, cáp dòng đi song song, kiểm tra sai số mỗi lần đo, tăng AB/2 theo cấp logarit và vẽ đường cong ngay ngoài thực địa.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đường cong đo sâu lý thuyết em tự tính cho mô hình hai lớp. Khi khoảng cách cực nhỏ, ρa gần bằng ρ lớp trên; khi khoảng cách lớn, ρa tiến về ρ lớp dưới. Giải ngược là tìm mô hình lớp có đường cong khớp với số liệu đo.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ghép hệ đa cực LUND qua cổng MULTI, máy tự chuyển cực và đo hàng trăm điểm trên tuyến. Với tuyến dài thì dời cáp kiểu cuốn chiếu. Số liệu được giải ngược bằng RES2DINV.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đo, dữ liệu được lọc rồi giải ngược bằng IPI2Win cho VES và RES2DINV cho 2D. Cần lưu ý tính đa nghiệm: nhiều mô hình khác nhau có thể cho cùng một đường cong.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này tổng hợp các lỗi thường gặp khi đo và cách khắc phục. Lỗi hay gặp nhất là điện trở tiếp đất lớn khiến máy không phát đủ dòng; khi đó tưới nước muối quanh cực.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máy phát điện áp tới 400 V nên an toàn điện là bắt buộc: bảo hộ, ngắt cáp trước khi thao tác với cực và không đo khi có giông sét.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Máy dùng rộng rãi để tìm nước ngầm, khảo sát nền công trình, tìm quặng bằng IP và đánh giá ô nhiễm. Trong dầu khí, nguyên lý giống log điện trở giếng khoan.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bài tập của môn liên hệ với máy Terrameter như bảng. Rõ nhất là A04: địa chấn khúc xạ và đo sâu điện đều giải mô hình lớp, nên khi khúc xạ gặp lớp ẩn hay đảo vận tốc thì có thể đo sâu điện để kiểm 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bài tập em tự đặt để thể hiện mối liên hệ: cùng một vị trí có lớp đất phủ trên đá gốc, ta đo bằng địa chấn khúc xạ như bài A04 và bằng máy Terrameter, rồi so sánh chiều dày lớp phủ tìm được. Số liệu là số liệu mô phỏng em tự tạo.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khúc xạ giải như bài A04. Hai điểm đầu là sóng trực tiếp, độ dốc 2 ms/m nên V1 bằng 500 m/s. Các điểm sau là sóng khúc xạ, độ dốc 0,5 ms/m nên V2 bằng 2000 m/s, thời gian chặn 19,4 ms, tính ra h khoảng 5 m. Vận tốc 2000 m/s cho thấy lớp dưới là đá gốc phong hóa hoặc đá chặt.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đo sâu điện: tại mỗi cấp AB/2, máy cho I và ΔU, em tính K theo công thức Schlumberger rồi ra ρa. ρa tăng từ khoảng 100 lên gần 600 Ω·m khi AB/2 tăng, tức là lớp dưới có điện trở suất cao. Giải ngược bằng Python theo mô hình hai lớp được ρ1 khoảng 100, ρ2 khoảng 1200 Ω·m và h khoảng 5,3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hai kết quả: khúc xạ cho h bằng 5,0 m, đo sâu điện cho 5,3 m, lệch khoảng 6%. Mối liên hệ là cả hai đều giải mô hình lớp, nên dùng để kiểm tra chéo nhau; h từ khúc xạ có thể làm ràng buộc khi giải ngược VES để giảm đa nghiệm; và khi khúc xạ gặp đảo vận tốc thì máy Terrameter vẫn phát hiện được ranh giới nếu điện trở suất hai lớp khác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tóm tắt năm ý chính về máy Terrameter như trên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VU_COV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6547104"/>
            <a:ext cx="11338560" cy="0"/>
          </a:xfrm>
          <a:prstGeom prst="line">
            <a:avLst/>
          </a:prstGeom>
          <a:noFill/>
          <a:ln w="22225">
            <a:solidFill>
              <a:srgbClr val="0086CA"/>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VU_CONTENT">
    <p:bg>
      <p:bgPr>
        <a:solidFill>
          <a:srgbClr val="FFFFFF"/>
        </a:solidFill>
      </p:bgPr>
    </p:bg>
    <p:spTree>
      <p:nvGrpSpPr>
        <p:cNvPr id="1" name=""/>
        <p:cNvGrpSpPr/>
        <p:nvPr/>
      </p:nvGrpSpPr>
      <p:grpSpPr>
        <a:xfrm>
          <a:off x="0" y="0"/>
          <a:ext cx="0" cy="0"/>
          <a:chOff x="0" y="0"/>
          <a:chExt cx="0" cy="0"/>
        </a:xfrm>
      </p:grpSpPr>
      <p:pic>
        <p:nvPicPr>
          <p:cNvPr id="2" name="Image 0" descr="/home/claude/ass/pvu-kit/assets/pvu_mark.png">    </p:cNvPr>
          <p:cNvPicPr>
            <a:picLocks noChangeAspect="1"/>
          </p:cNvPicPr>
          <p:nvPr/>
        </p:nvPicPr>
        <p:blipFill>
          <a:blip r:embed="rId1"/>
          <a:stretch>
            <a:fillRect/>
          </a:stretch>
        </p:blipFill>
        <p:spPr>
          <a:xfrm>
            <a:off x="201168" y="91440"/>
            <a:ext cx="877824" cy="576072"/>
          </a:xfrm>
          <a:prstGeom prst="rect">
            <a:avLst/>
          </a:prstGeom>
        </p:spPr>
      </p:pic>
      <p:sp>
        <p:nvSpPr>
          <p:cNvPr id="3" name="Shape 0"/>
          <p:cNvSpPr/>
          <p:nvPr/>
        </p:nvSpPr>
        <p:spPr>
          <a:xfrm>
            <a:off x="1691640" y="658368"/>
            <a:ext cx="9985248" cy="0"/>
          </a:xfrm>
          <a:prstGeom prst="line">
            <a:avLst/>
          </a:prstGeom>
          <a:noFill/>
          <a:ln w="31750">
            <a:solidFill>
              <a:srgbClr val="0086CA"/>
            </a:solidFill>
            <a:prstDash val="solid"/>
          </a:ln>
        </p:spPr>
      </p:sp>
      <p:sp>
        <p:nvSpPr>
          <p:cNvPr id="4" name="Shape 1"/>
          <p:cNvSpPr/>
          <p:nvPr/>
        </p:nvSpPr>
        <p:spPr>
          <a:xfrm>
            <a:off x="548640" y="6547104"/>
            <a:ext cx="11338560" cy="0"/>
          </a:xfrm>
          <a:prstGeom prst="line">
            <a:avLst/>
          </a:prstGeom>
          <a:noFill/>
          <a:ln w="22225">
            <a:solidFill>
              <a:srgbClr val="0086CA"/>
            </a:solidFill>
            <a:prstDash val="solid"/>
          </a:ln>
        </p:spPr>
      </p:sp>
      <p:sp>
        <p:nvSpPr>
          <p:cNvPr id="5" name="Text 2"/>
          <p:cNvSpPr/>
          <p:nvPr/>
        </p:nvSpPr>
        <p:spPr>
          <a:xfrm>
            <a:off x="3355848" y="6574536"/>
            <a:ext cx="5486400" cy="228600"/>
          </a:xfrm>
          <a:prstGeom prst="rect">
            <a:avLst/>
          </a:prstGeom>
          <a:noFill/>
          <a:ln/>
        </p:spPr>
        <p:txBody>
          <a:bodyPr wrap="square" lIns="0" tIns="0" rIns="0" bIns="0" rtlCol="0" anchor="ctr"/>
          <a:lstStyle/>
          <a:p>
            <a:pPr algn="ctr" indent="0" marL="0">
              <a:buNone/>
            </a:pPr>
            <a:r>
              <a:rPr lang="en-US" sz="900" dirty="0">
                <a:solidFill>
                  <a:srgbClr val="52514E"/>
                </a:solidFill>
                <a:latin typeface="Tahoma" pitchFamily="34" charset="0"/>
                <a:ea typeface="Tahoma" pitchFamily="34" charset="-122"/>
                <a:cs typeface="Tahoma" pitchFamily="34" charset="-120"/>
              </a:rPr>
              <a:t>Thuyết trình học phần Địa vật lý ứng dụng (APPGEO)</a:t>
            </a:r>
            <a:endParaRPr lang="en-US" sz="900" dirty="0"/>
          </a:p>
        </p:txBody>
      </p:sp>
      <p:sp>
        <p:nvSpPr>
          <p:cNvPr id="6" name="Text 3"/>
          <p:cNvSpPr/>
          <p:nvPr>
            <p:ph idx="104" type="title" hasCustomPrompt="1"/>
          </p:nvPr>
        </p:nvSpPr>
        <p:spPr>
          <a:xfrm>
            <a:off x="1691640" y="73152"/>
            <a:ext cx="9985248" cy="548640"/>
          </a:xfrm>
          <a:prstGeom prst="rect">
            <a:avLst/>
          </a:prstGeom>
          <a:noFill/>
          <a:ln/>
        </p:spPr>
        <p:txBody>
          <a:bodyPr wrap="square" rtlCol="0"/>
          <a:lstStyle>
            <a:lvl1pPr algn="r" indent="0" marL="0">
              <a:buNone/>
              <a:defRPr lang="en-US" sz="2800" b="1" dirty="0">
                <a:solidFill>
                  <a:srgbClr val="234782"/>
                </a:solidFill>
                <a:latin typeface="Tahoma" pitchFamily="34" charset="0"/>
                <a:ea typeface="Tahoma" pitchFamily="34" charset="-122"/>
                <a:cs typeface="Tahoma" pitchFamily="34" charset="-120"/>
              </a:defRPr>
            </a:lvl1pPr>
          </a:lstStyle>
          <a:p>
            <a:pPr algn="r" indent="0" marL="0">
              <a:buNone/>
            </a:pPr>
            <a:endParaRPr lang="en-US" sz="28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3.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3.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3.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3.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24-1.png"/><Relationship Id="rId3" Type="http://schemas.openxmlformats.org/officeDocument/2006/relationships/slideLayout" Target="../slideLayouts/slideLayout3.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3.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ass/pvu-kit/assets/pvu_logo.png">    </p:cNvPr>
          <p:cNvPicPr>
            <a:picLocks noChangeAspect="1"/>
          </p:cNvPicPr>
          <p:nvPr/>
        </p:nvPicPr>
        <p:blipFill>
          <a:blip r:embed="rId1"/>
          <a:stretch>
            <a:fillRect/>
          </a:stretch>
        </p:blipFill>
        <p:spPr>
          <a:xfrm>
            <a:off x="502920" y="228600"/>
            <a:ext cx="1188720" cy="1188720"/>
          </a:xfrm>
          <a:prstGeom prst="rect">
            <a:avLst/>
          </a:prstGeom>
        </p:spPr>
      </p:pic>
      <p:sp>
        <p:nvSpPr>
          <p:cNvPr id="3" name="Text 0"/>
          <p:cNvSpPr txBox="1"/>
          <p:nvPr/>
        </p:nvSpPr>
        <p:spPr>
          <a:xfrm>
            <a:off x="1737360" y="274320"/>
            <a:ext cx="9144000" cy="868680"/>
          </a:xfrm>
          <a:prstGeom prst="rect">
            <a:avLst/>
          </a:prstGeom>
          <a:noFill/>
          <a:ln/>
        </p:spPr>
        <p:txBody>
          <a:bodyPr wrap="square" lIns="0" tIns="0" rIns="0" bIns="0" rtlCol="0" anchor="ctr"/>
          <a:lstStyle/>
          <a:p>
            <a:pPr algn="ctr" indent="0" marL="0">
              <a:buNone/>
            </a:pPr>
            <a:r>
              <a:rPr lang="en-US" sz="2000" dirty="0">
                <a:solidFill>
                  <a:srgbClr val="0086CA"/>
                </a:solidFill>
                <a:latin typeface="Tahoma" pitchFamily="34" charset="0"/>
                <a:ea typeface="Tahoma" pitchFamily="34" charset="-122"/>
                <a:cs typeface="Tahoma" pitchFamily="34" charset="-120"/>
              </a:rPr>
              <a:t>VIETNAM NATIONAL INDUSTRY - ENERGY GROUP</a:t>
            </a:r>
            <a:endParaRPr lang="en-US" sz="2000" dirty="0"/>
          </a:p>
          <a:p>
            <a:pPr algn="ctr" indent="0" marL="0">
              <a:buNone/>
            </a:pPr>
            <a:r>
              <a:rPr lang="en-US" sz="2000" b="1" dirty="0">
                <a:solidFill>
                  <a:srgbClr val="234782"/>
                </a:solidFill>
                <a:latin typeface="Tahoma" pitchFamily="34" charset="0"/>
                <a:ea typeface="Tahoma" pitchFamily="34" charset="-122"/>
                <a:cs typeface="Tahoma" pitchFamily="34" charset="-120"/>
              </a:rPr>
              <a:t>PETROVIETNAM UNIVERSITY</a:t>
            </a:r>
            <a:endParaRPr lang="en-US" sz="2000" dirty="0"/>
          </a:p>
        </p:txBody>
      </p:sp>
      <p:sp>
        <p:nvSpPr>
          <p:cNvPr id="4" name="Shape 1"/>
          <p:cNvSpPr/>
          <p:nvPr/>
        </p:nvSpPr>
        <p:spPr>
          <a:xfrm>
            <a:off x="4800600" y="1298448"/>
            <a:ext cx="2651760" cy="0"/>
          </a:xfrm>
          <a:prstGeom prst="line">
            <a:avLst/>
          </a:prstGeom>
          <a:noFill/>
          <a:ln w="19050">
            <a:solidFill>
              <a:srgbClr val="0086CA"/>
            </a:solidFill>
            <a:prstDash val="solid"/>
          </a:ln>
        </p:spPr>
      </p:sp>
      <p:sp>
        <p:nvSpPr>
          <p:cNvPr id="5" name="Text 2"/>
          <p:cNvSpPr txBox="1"/>
          <p:nvPr/>
        </p:nvSpPr>
        <p:spPr>
          <a:xfrm>
            <a:off x="731520" y="1828800"/>
            <a:ext cx="10725912" cy="548640"/>
          </a:xfrm>
          <a:prstGeom prst="rect">
            <a:avLst/>
          </a:prstGeom>
          <a:noFill/>
          <a:ln/>
        </p:spPr>
        <p:txBody>
          <a:bodyPr wrap="square" lIns="508" tIns="508" rIns="508" bIns="508" rtlCol="0" anchor="t"/>
          <a:lstStyle/>
          <a:p>
            <a:pPr algn="ctr" indent="0" marL="0">
              <a:buNone/>
            </a:pPr>
            <a:r>
              <a:rPr lang="en-US" sz="2400" b="1" dirty="0">
                <a:solidFill>
                  <a:srgbClr val="0AA624"/>
                </a:solidFill>
                <a:latin typeface="Tahoma" pitchFamily="34" charset="0"/>
                <a:ea typeface="Tahoma" pitchFamily="34" charset="-122"/>
                <a:cs typeface="Tahoma" pitchFamily="34" charset="-120"/>
              </a:rPr>
              <a:t>BÀI THUYẾT TRÌNH HỌC PHẦN ĐỊA VẬT LÝ ỨNG DỤNG</a:t>
            </a:r>
            <a:endParaRPr lang="en-US" sz="2400" dirty="0"/>
          </a:p>
        </p:txBody>
      </p:sp>
      <p:sp>
        <p:nvSpPr>
          <p:cNvPr id="6" name="Text 3"/>
          <p:cNvSpPr txBox="1"/>
          <p:nvPr/>
        </p:nvSpPr>
        <p:spPr>
          <a:xfrm>
            <a:off x="731520" y="2423160"/>
            <a:ext cx="10725912" cy="1417320"/>
          </a:xfrm>
          <a:prstGeom prst="rect">
            <a:avLst/>
          </a:prstGeom>
          <a:noFill/>
          <a:ln/>
        </p:spPr>
        <p:txBody>
          <a:bodyPr wrap="square" lIns="508" tIns="508" rIns="508" bIns="508" rtlCol="0" anchor="ctr"/>
          <a:lstStyle/>
          <a:p>
            <a:pPr algn="ctr" indent="0" marL="0">
              <a:lnSpc>
                <a:spcPct val="120000"/>
              </a:lnSpc>
              <a:buNone/>
            </a:pPr>
            <a:r>
              <a:rPr lang="en-US" sz="3000" b="1" dirty="0">
                <a:solidFill>
                  <a:srgbClr val="0070C0"/>
                </a:solidFill>
                <a:latin typeface="Tahoma" pitchFamily="34" charset="0"/>
                <a:ea typeface="Tahoma" pitchFamily="34" charset="-122"/>
                <a:cs typeface="Tahoma" pitchFamily="34" charset="-120"/>
              </a:rPr>
              <a:t>MÁY ĐO ĐIỆN TRỞ SUẤT ABEM TERRAMETER SAS 1000/4000 TẠI PHÒNG THÍ NGHIỆM PVU</a:t>
            </a:r>
            <a:endParaRPr lang="en-US" sz="3000" dirty="0"/>
          </a:p>
        </p:txBody>
      </p:sp>
      <p:sp>
        <p:nvSpPr>
          <p:cNvPr id="7" name="Text 4"/>
          <p:cNvSpPr txBox="1"/>
          <p:nvPr/>
        </p:nvSpPr>
        <p:spPr>
          <a:xfrm>
            <a:off x="6675120" y="4160520"/>
            <a:ext cx="914400" cy="347472"/>
          </a:xfrm>
          <a:prstGeom prst="rect">
            <a:avLst/>
          </a:prstGeom>
          <a:noFill/>
          <a:ln/>
        </p:spPr>
        <p:txBody>
          <a:bodyPr wrap="square" lIns="0" tIns="0" rIns="0" bIns="0" rtlCol="0" anchor="ctr"/>
          <a:lstStyle/>
          <a:p>
            <a:pPr indent="0" marL="0">
              <a:buNone/>
            </a:pPr>
            <a:r>
              <a:rPr lang="en-US" sz="1600" b="1" dirty="0">
                <a:solidFill>
                  <a:srgbClr val="1F1F1F"/>
                </a:solidFill>
                <a:latin typeface="Tahoma" pitchFamily="34" charset="0"/>
                <a:ea typeface="Tahoma" pitchFamily="34" charset="-122"/>
                <a:cs typeface="Tahoma" pitchFamily="34" charset="-120"/>
              </a:rPr>
              <a:t>GV:</a:t>
            </a:r>
            <a:endParaRPr lang="en-US" sz="1600" dirty="0"/>
          </a:p>
        </p:txBody>
      </p:sp>
      <p:sp>
        <p:nvSpPr>
          <p:cNvPr id="8" name="Text 5"/>
          <p:cNvSpPr txBox="1"/>
          <p:nvPr/>
        </p:nvSpPr>
        <p:spPr>
          <a:xfrm>
            <a:off x="7589520" y="4160520"/>
            <a:ext cx="4206240" cy="347472"/>
          </a:xfrm>
          <a:prstGeom prst="rect">
            <a:avLst/>
          </a:prstGeom>
          <a:noFill/>
          <a:ln/>
        </p:spPr>
        <p:txBody>
          <a:bodyPr wrap="square" lIns="0" tIns="0" rIns="0" bIns="0" rtlCol="0" anchor="ctr"/>
          <a:lstStyle/>
          <a:p>
            <a:pPr indent="0" marL="0">
              <a:buNone/>
            </a:pPr>
            <a:r>
              <a:rPr lang="en-US" sz="1600" b="1" dirty="0">
                <a:solidFill>
                  <a:srgbClr val="1F1F1F"/>
                </a:solidFill>
                <a:latin typeface="Tahoma" pitchFamily="34" charset="0"/>
                <a:ea typeface="Tahoma" pitchFamily="34" charset="-122"/>
                <a:cs typeface="Tahoma" pitchFamily="34" charset="-120"/>
              </a:rPr>
              <a:t>[Tên giảng viên]</a:t>
            </a:r>
            <a:endParaRPr lang="en-US" sz="1600" dirty="0"/>
          </a:p>
        </p:txBody>
      </p:sp>
      <p:sp>
        <p:nvSpPr>
          <p:cNvPr id="9" name="Text 6"/>
          <p:cNvSpPr txBox="1"/>
          <p:nvPr/>
        </p:nvSpPr>
        <p:spPr>
          <a:xfrm>
            <a:off x="6675120" y="4645152"/>
            <a:ext cx="914400" cy="347472"/>
          </a:xfrm>
          <a:prstGeom prst="rect">
            <a:avLst/>
          </a:prstGeom>
          <a:noFill/>
          <a:ln/>
        </p:spPr>
        <p:txBody>
          <a:bodyPr wrap="square" lIns="0" tIns="0" rIns="0" bIns="0" rtlCol="0" anchor="ctr"/>
          <a:lstStyle/>
          <a:p>
            <a:pPr indent="0" marL="0">
              <a:buNone/>
            </a:pPr>
            <a:r>
              <a:rPr lang="en-US" sz="1600" b="1" dirty="0">
                <a:solidFill>
                  <a:srgbClr val="1F1F1F"/>
                </a:solidFill>
                <a:latin typeface="Tahoma" pitchFamily="34" charset="0"/>
                <a:ea typeface="Tahoma" pitchFamily="34" charset="-122"/>
                <a:cs typeface="Tahoma" pitchFamily="34" charset="-120"/>
              </a:rPr>
              <a:t>SVTH:</a:t>
            </a:r>
            <a:endParaRPr lang="en-US" sz="1600" dirty="0"/>
          </a:p>
        </p:txBody>
      </p:sp>
      <p:sp>
        <p:nvSpPr>
          <p:cNvPr id="10" name="Text 7"/>
          <p:cNvSpPr txBox="1"/>
          <p:nvPr/>
        </p:nvSpPr>
        <p:spPr>
          <a:xfrm>
            <a:off x="7589520" y="4645152"/>
            <a:ext cx="4206240" cy="347472"/>
          </a:xfrm>
          <a:prstGeom prst="rect">
            <a:avLst/>
          </a:prstGeom>
          <a:noFill/>
          <a:ln/>
        </p:spPr>
        <p:txBody>
          <a:bodyPr wrap="square" lIns="0" tIns="0" rIns="0" bIns="0" rtlCol="0" anchor="ctr"/>
          <a:lstStyle/>
          <a:p>
            <a:pPr indent="0" marL="0">
              <a:buNone/>
            </a:pPr>
            <a:r>
              <a:rPr lang="en-US" sz="1600" b="1" dirty="0">
                <a:solidFill>
                  <a:srgbClr val="1F1F1F"/>
                </a:solidFill>
                <a:latin typeface="Tahoma" pitchFamily="34" charset="0"/>
                <a:ea typeface="Tahoma" pitchFamily="34" charset="-122"/>
                <a:cs typeface="Tahoma" pitchFamily="34" charset="-120"/>
              </a:rPr>
              <a:t>Nguyễn Duy Tính</a:t>
            </a:r>
            <a:r>
              <a:rPr lang="en-US" sz="1600" dirty="0">
                <a:solidFill>
                  <a:srgbClr val="1F1F1F"/>
                </a:solidFill>
                <a:latin typeface="Tahoma" pitchFamily="34" charset="0"/>
                <a:ea typeface="Tahoma" pitchFamily="34" charset="-122"/>
                <a:cs typeface="Tahoma" pitchFamily="34" charset="-120"/>
              </a:rPr>
              <a:t> (K12GE)</a:t>
            </a:r>
            <a:endParaRPr lang="en-US" sz="1600" dirty="0"/>
          </a:p>
        </p:txBody>
      </p:sp>
      <p:sp>
        <p:nvSpPr>
          <p:cNvPr id="11" name="Text 8"/>
          <p:cNvSpPr txBox="1"/>
          <p:nvPr/>
        </p:nvSpPr>
        <p:spPr>
          <a:xfrm>
            <a:off x="1828800" y="6035040"/>
            <a:ext cx="8531352" cy="365760"/>
          </a:xfrm>
          <a:prstGeom prst="rect">
            <a:avLst/>
          </a:prstGeom>
          <a:noFill/>
          <a:ln/>
        </p:spPr>
        <p:txBody>
          <a:bodyPr wrap="square" lIns="0" tIns="0" rIns="0" bIns="0" rtlCol="0" anchor="ctr"/>
          <a:lstStyle/>
          <a:p>
            <a:pPr algn="ctr" indent="0" marL="0">
              <a:buNone/>
            </a:pPr>
            <a:r>
              <a:rPr lang="en-US" sz="1600" b="1" dirty="0">
                <a:solidFill>
                  <a:srgbClr val="1F1F1F"/>
                </a:solidFill>
                <a:latin typeface="Tahoma" pitchFamily="34" charset="0"/>
                <a:ea typeface="Tahoma" pitchFamily="34" charset="-122"/>
                <a:cs typeface="Tahoma" pitchFamily="34" charset="-120"/>
              </a:rPr>
              <a:t>TP. Hồ Chí Minh, tháng 10/2026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Nội dung trình bày</a:t>
            </a:r>
            <a:endParaRPr lang="en-US" sz="2800" dirty="0"/>
          </a:p>
        </p:txBody>
      </p:sp>
      <p:sp>
        <p:nvSpPr>
          <p:cNvPr id="3" name="Shape 1"/>
          <p:cNvSpPr/>
          <p:nvPr/>
        </p:nvSpPr>
        <p:spPr>
          <a:xfrm>
            <a:off x="3718408" y="960120"/>
            <a:ext cx="4754880" cy="822960"/>
          </a:xfrm>
          <a:prstGeom prst="roundRect">
            <a:avLst>
              <a:gd name="adj" fmla="val 8889"/>
            </a:avLst>
          </a:prstGeom>
          <a:solidFill>
            <a:srgbClr val="ECF3FA"/>
          </a:solidFill>
          <a:ln w="12700">
            <a:solidFill>
              <a:srgbClr val="ECF3FA"/>
            </a:solidFill>
            <a:prstDash val="solid"/>
          </a:ln>
        </p:spPr>
      </p:sp>
      <p:sp>
        <p:nvSpPr>
          <p:cNvPr id="4" name="Shape 2"/>
          <p:cNvSpPr/>
          <p:nvPr/>
        </p:nvSpPr>
        <p:spPr>
          <a:xfrm>
            <a:off x="3901288" y="1143000"/>
            <a:ext cx="457200" cy="457200"/>
          </a:xfrm>
          <a:prstGeom prst="ellipse">
            <a:avLst/>
          </a:prstGeom>
          <a:solidFill>
            <a:srgbClr val="234782"/>
          </a:solidFill>
          <a:ln w="12700">
            <a:solidFill>
              <a:srgbClr val="234782"/>
            </a:solidFill>
            <a:prstDash val="solid"/>
          </a:ln>
        </p:spPr>
      </p:sp>
      <p:sp>
        <p:nvSpPr>
          <p:cNvPr id="5" name="Text 3"/>
          <p:cNvSpPr/>
          <p:nvPr/>
        </p:nvSpPr>
        <p:spPr>
          <a:xfrm>
            <a:off x="3901288" y="11430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ahoma" pitchFamily="34" charset="0"/>
                <a:ea typeface="Tahoma" pitchFamily="34" charset="-122"/>
                <a:cs typeface="Tahoma" pitchFamily="34" charset="-120"/>
              </a:rPr>
              <a:t>1</a:t>
            </a:r>
            <a:endParaRPr lang="en-US" sz="1400" dirty="0"/>
          </a:p>
        </p:txBody>
      </p:sp>
      <p:sp>
        <p:nvSpPr>
          <p:cNvPr id="6" name="Text 4"/>
          <p:cNvSpPr txBox="1"/>
          <p:nvPr/>
        </p:nvSpPr>
        <p:spPr>
          <a:xfrm>
            <a:off x="4495648" y="1005840"/>
            <a:ext cx="3291840" cy="731520"/>
          </a:xfrm>
          <a:prstGeom prst="rect">
            <a:avLst/>
          </a:prstGeom>
          <a:noFill/>
          <a:ln/>
        </p:spPr>
        <p:txBody>
          <a:bodyPr wrap="square" lIns="508" tIns="508" rIns="508" bIns="508" rtlCol="0" anchor="ctr"/>
          <a:lstStyle/>
          <a:p>
            <a:pPr indent="0" marL="0">
              <a:buNone/>
            </a:pPr>
            <a:r>
              <a:rPr lang="en-US" sz="1600" b="1" dirty="0">
                <a:solidFill>
                  <a:srgbClr val="234782"/>
                </a:solidFill>
                <a:latin typeface="Tahoma" pitchFamily="34" charset="0"/>
                <a:ea typeface="Tahoma" pitchFamily="34" charset="-122"/>
                <a:cs typeface="Tahoma" pitchFamily="34" charset="-120"/>
              </a:rPr>
              <a:t>Cơ sở phương pháp điện trở suất</a:t>
            </a:r>
            <a:endParaRPr lang="en-US" sz="1600" dirty="0"/>
          </a:p>
        </p:txBody>
      </p:sp>
      <p:pic>
        <p:nvPicPr>
          <p:cNvPr id="7" name="Image 0" descr="preencoded.png">    </p:cNvPr>
          <p:cNvPicPr>
            <a:picLocks noChangeAspect="1"/>
          </p:cNvPicPr>
          <p:nvPr/>
        </p:nvPicPr>
        <p:blipFill>
          <a:blip r:embed="rId1"/>
          <a:stretch>
            <a:fillRect/>
          </a:stretch>
        </p:blipFill>
        <p:spPr>
          <a:xfrm>
            <a:off x="7906360" y="1188720"/>
            <a:ext cx="365760" cy="365760"/>
          </a:xfrm>
          <a:prstGeom prst="rect">
            <a:avLst/>
          </a:prstGeom>
        </p:spPr>
      </p:pic>
      <p:sp>
        <p:nvSpPr>
          <p:cNvPr id="8" name="Shape 5"/>
          <p:cNvSpPr/>
          <p:nvPr/>
        </p:nvSpPr>
        <p:spPr>
          <a:xfrm>
            <a:off x="1143000" y="2029968"/>
            <a:ext cx="4754880" cy="822960"/>
          </a:xfrm>
          <a:prstGeom prst="roundRect">
            <a:avLst>
              <a:gd name="adj" fmla="val 8889"/>
            </a:avLst>
          </a:prstGeom>
          <a:solidFill>
            <a:srgbClr val="ECF3FA"/>
          </a:solidFill>
          <a:ln w="12700">
            <a:solidFill>
              <a:srgbClr val="ECF3FA"/>
            </a:solidFill>
            <a:prstDash val="solid"/>
          </a:ln>
        </p:spPr>
      </p:sp>
      <p:sp>
        <p:nvSpPr>
          <p:cNvPr id="9" name="Shape 6"/>
          <p:cNvSpPr/>
          <p:nvPr/>
        </p:nvSpPr>
        <p:spPr>
          <a:xfrm>
            <a:off x="1325880" y="2212848"/>
            <a:ext cx="457200" cy="457200"/>
          </a:xfrm>
          <a:prstGeom prst="ellipse">
            <a:avLst/>
          </a:prstGeom>
          <a:solidFill>
            <a:srgbClr val="234782"/>
          </a:solidFill>
          <a:ln w="12700">
            <a:solidFill>
              <a:srgbClr val="234782"/>
            </a:solidFill>
            <a:prstDash val="solid"/>
          </a:ln>
        </p:spPr>
      </p:sp>
      <p:sp>
        <p:nvSpPr>
          <p:cNvPr id="10" name="Text 7"/>
          <p:cNvSpPr/>
          <p:nvPr/>
        </p:nvSpPr>
        <p:spPr>
          <a:xfrm>
            <a:off x="1325880" y="2212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ahoma" pitchFamily="34" charset="0"/>
                <a:ea typeface="Tahoma" pitchFamily="34" charset="-122"/>
                <a:cs typeface="Tahoma" pitchFamily="34" charset="-120"/>
              </a:rPr>
              <a:t>2</a:t>
            </a:r>
            <a:endParaRPr lang="en-US" sz="1400" dirty="0"/>
          </a:p>
        </p:txBody>
      </p:sp>
      <p:sp>
        <p:nvSpPr>
          <p:cNvPr id="11" name="Text 8"/>
          <p:cNvSpPr txBox="1"/>
          <p:nvPr/>
        </p:nvSpPr>
        <p:spPr>
          <a:xfrm>
            <a:off x="1920240" y="2075688"/>
            <a:ext cx="3291840" cy="731520"/>
          </a:xfrm>
          <a:prstGeom prst="rect">
            <a:avLst/>
          </a:prstGeom>
          <a:noFill/>
          <a:ln/>
        </p:spPr>
        <p:txBody>
          <a:bodyPr wrap="square" lIns="508" tIns="508" rIns="508" bIns="508" rtlCol="0" anchor="ctr"/>
          <a:lstStyle/>
          <a:p>
            <a:pPr indent="0" marL="0">
              <a:buNone/>
            </a:pPr>
            <a:r>
              <a:rPr lang="en-US" sz="1600" b="1" dirty="0">
                <a:solidFill>
                  <a:srgbClr val="234782"/>
                </a:solidFill>
                <a:latin typeface="Tahoma" pitchFamily="34" charset="0"/>
                <a:ea typeface="Tahoma" pitchFamily="34" charset="-122"/>
                <a:cs typeface="Tahoma" pitchFamily="34" charset="-120"/>
              </a:rPr>
              <a:t>Giới thiệu và thông số máy</a:t>
            </a:r>
            <a:endParaRPr lang="en-US" sz="1600" dirty="0"/>
          </a:p>
        </p:txBody>
      </p:sp>
      <p:pic>
        <p:nvPicPr>
          <p:cNvPr id="12" name="Image 1" descr="preencoded.png">    </p:cNvPr>
          <p:cNvPicPr>
            <a:picLocks noChangeAspect="1"/>
          </p:cNvPicPr>
          <p:nvPr/>
        </p:nvPicPr>
        <p:blipFill>
          <a:blip r:embed="rId2"/>
          <a:stretch>
            <a:fillRect/>
          </a:stretch>
        </p:blipFill>
        <p:spPr>
          <a:xfrm>
            <a:off x="5330952" y="2258568"/>
            <a:ext cx="365760" cy="365760"/>
          </a:xfrm>
          <a:prstGeom prst="rect">
            <a:avLst/>
          </a:prstGeom>
        </p:spPr>
      </p:pic>
      <p:sp>
        <p:nvSpPr>
          <p:cNvPr id="13" name="Shape 9"/>
          <p:cNvSpPr/>
          <p:nvPr/>
        </p:nvSpPr>
        <p:spPr>
          <a:xfrm>
            <a:off x="1143000" y="3099816"/>
            <a:ext cx="4754880" cy="822960"/>
          </a:xfrm>
          <a:prstGeom prst="roundRect">
            <a:avLst>
              <a:gd name="adj" fmla="val 8889"/>
            </a:avLst>
          </a:prstGeom>
          <a:solidFill>
            <a:srgbClr val="ECF3FA"/>
          </a:solidFill>
          <a:ln w="12700">
            <a:solidFill>
              <a:srgbClr val="ECF3FA"/>
            </a:solidFill>
            <a:prstDash val="solid"/>
          </a:ln>
        </p:spPr>
      </p:sp>
      <p:sp>
        <p:nvSpPr>
          <p:cNvPr id="14" name="Shape 10"/>
          <p:cNvSpPr/>
          <p:nvPr/>
        </p:nvSpPr>
        <p:spPr>
          <a:xfrm>
            <a:off x="1325880" y="3282696"/>
            <a:ext cx="457200" cy="457200"/>
          </a:xfrm>
          <a:prstGeom prst="ellipse">
            <a:avLst/>
          </a:prstGeom>
          <a:solidFill>
            <a:srgbClr val="234782"/>
          </a:solidFill>
          <a:ln w="12700">
            <a:solidFill>
              <a:srgbClr val="234782"/>
            </a:solidFill>
            <a:prstDash val="solid"/>
          </a:ln>
        </p:spPr>
      </p:sp>
      <p:sp>
        <p:nvSpPr>
          <p:cNvPr id="15" name="Text 11"/>
          <p:cNvSpPr/>
          <p:nvPr/>
        </p:nvSpPr>
        <p:spPr>
          <a:xfrm>
            <a:off x="1325880" y="328269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ahoma" pitchFamily="34" charset="0"/>
                <a:ea typeface="Tahoma" pitchFamily="34" charset="-122"/>
                <a:cs typeface="Tahoma" pitchFamily="34" charset="-120"/>
              </a:rPr>
              <a:t>3</a:t>
            </a:r>
            <a:endParaRPr lang="en-US" sz="1400" dirty="0"/>
          </a:p>
        </p:txBody>
      </p:sp>
      <p:sp>
        <p:nvSpPr>
          <p:cNvPr id="16" name="Text 12"/>
          <p:cNvSpPr txBox="1"/>
          <p:nvPr/>
        </p:nvSpPr>
        <p:spPr>
          <a:xfrm>
            <a:off x="1920240" y="3145536"/>
            <a:ext cx="3291840" cy="731520"/>
          </a:xfrm>
          <a:prstGeom prst="rect">
            <a:avLst/>
          </a:prstGeom>
          <a:noFill/>
          <a:ln/>
        </p:spPr>
        <p:txBody>
          <a:bodyPr wrap="square" lIns="508" tIns="508" rIns="508" bIns="508" rtlCol="0" anchor="ctr"/>
          <a:lstStyle/>
          <a:p>
            <a:pPr indent="0" marL="0">
              <a:buNone/>
            </a:pPr>
            <a:r>
              <a:rPr lang="en-US" sz="1600" b="1" dirty="0">
                <a:solidFill>
                  <a:srgbClr val="234782"/>
                </a:solidFill>
                <a:latin typeface="Tahoma" pitchFamily="34" charset="0"/>
                <a:ea typeface="Tahoma" pitchFamily="34" charset="-122"/>
                <a:cs typeface="Tahoma" pitchFamily="34" charset="-120"/>
              </a:rPr>
              <a:t>Bộ phận, thao tác và phụ kiện</a:t>
            </a:r>
            <a:endParaRPr lang="en-US" sz="1600" dirty="0"/>
          </a:p>
        </p:txBody>
      </p:sp>
      <p:pic>
        <p:nvPicPr>
          <p:cNvPr id="17" name="Image 2" descr="preencoded.png">    </p:cNvPr>
          <p:cNvPicPr>
            <a:picLocks noChangeAspect="1"/>
          </p:cNvPicPr>
          <p:nvPr/>
        </p:nvPicPr>
        <p:blipFill>
          <a:blip r:embed="rId3"/>
          <a:stretch>
            <a:fillRect/>
          </a:stretch>
        </p:blipFill>
        <p:spPr>
          <a:xfrm>
            <a:off x="5330952" y="3328416"/>
            <a:ext cx="365760" cy="365760"/>
          </a:xfrm>
          <a:prstGeom prst="rect">
            <a:avLst/>
          </a:prstGeom>
        </p:spPr>
      </p:pic>
      <p:sp>
        <p:nvSpPr>
          <p:cNvPr id="18" name="Shape 13"/>
          <p:cNvSpPr/>
          <p:nvPr/>
        </p:nvSpPr>
        <p:spPr>
          <a:xfrm>
            <a:off x="1143000" y="4169664"/>
            <a:ext cx="4754880" cy="822960"/>
          </a:xfrm>
          <a:prstGeom prst="roundRect">
            <a:avLst>
              <a:gd name="adj" fmla="val 8889"/>
            </a:avLst>
          </a:prstGeom>
          <a:solidFill>
            <a:srgbClr val="ECF3FA"/>
          </a:solidFill>
          <a:ln w="12700">
            <a:solidFill>
              <a:srgbClr val="ECF3FA"/>
            </a:solidFill>
            <a:prstDash val="solid"/>
          </a:ln>
        </p:spPr>
      </p:sp>
      <p:sp>
        <p:nvSpPr>
          <p:cNvPr id="19" name="Shape 14"/>
          <p:cNvSpPr/>
          <p:nvPr/>
        </p:nvSpPr>
        <p:spPr>
          <a:xfrm>
            <a:off x="1325880" y="4352544"/>
            <a:ext cx="457200" cy="457200"/>
          </a:xfrm>
          <a:prstGeom prst="ellipse">
            <a:avLst/>
          </a:prstGeom>
          <a:solidFill>
            <a:srgbClr val="234782"/>
          </a:solidFill>
          <a:ln w="12700">
            <a:solidFill>
              <a:srgbClr val="234782"/>
            </a:solidFill>
            <a:prstDash val="solid"/>
          </a:ln>
        </p:spPr>
      </p:sp>
      <p:sp>
        <p:nvSpPr>
          <p:cNvPr id="20" name="Text 15"/>
          <p:cNvSpPr/>
          <p:nvPr/>
        </p:nvSpPr>
        <p:spPr>
          <a:xfrm>
            <a:off x="1325880" y="43525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ahoma" pitchFamily="34" charset="0"/>
                <a:ea typeface="Tahoma" pitchFamily="34" charset="-122"/>
                <a:cs typeface="Tahoma" pitchFamily="34" charset="-120"/>
              </a:rPr>
              <a:t>4</a:t>
            </a:r>
            <a:endParaRPr lang="en-US" sz="1400" dirty="0"/>
          </a:p>
        </p:txBody>
      </p:sp>
      <p:sp>
        <p:nvSpPr>
          <p:cNvPr id="21" name="Text 16"/>
          <p:cNvSpPr txBox="1"/>
          <p:nvPr/>
        </p:nvSpPr>
        <p:spPr>
          <a:xfrm>
            <a:off x="1920240" y="4215384"/>
            <a:ext cx="3291840" cy="731520"/>
          </a:xfrm>
          <a:prstGeom prst="rect">
            <a:avLst/>
          </a:prstGeom>
          <a:noFill/>
          <a:ln/>
        </p:spPr>
        <p:txBody>
          <a:bodyPr wrap="square" lIns="508" tIns="508" rIns="508" bIns="508" rtlCol="0" anchor="ctr"/>
          <a:lstStyle/>
          <a:p>
            <a:pPr indent="0" marL="0">
              <a:buNone/>
            </a:pPr>
            <a:r>
              <a:rPr lang="en-US" sz="1600" b="1" dirty="0">
                <a:solidFill>
                  <a:srgbClr val="234782"/>
                </a:solidFill>
                <a:latin typeface="Tahoma" pitchFamily="34" charset="0"/>
                <a:ea typeface="Tahoma" pitchFamily="34" charset="-122"/>
                <a:cs typeface="Tahoma" pitchFamily="34" charset="-120"/>
              </a:rPr>
              <a:t>Hệ cực đo và hệ số K</a:t>
            </a:r>
            <a:endParaRPr lang="en-US" sz="1600" dirty="0"/>
          </a:p>
        </p:txBody>
      </p:sp>
      <p:pic>
        <p:nvPicPr>
          <p:cNvPr id="22" name="Image 3" descr="preencoded.png">    </p:cNvPr>
          <p:cNvPicPr>
            <a:picLocks noChangeAspect="1"/>
          </p:cNvPicPr>
          <p:nvPr/>
        </p:nvPicPr>
        <p:blipFill>
          <a:blip r:embed="rId4"/>
          <a:stretch>
            <a:fillRect/>
          </a:stretch>
        </p:blipFill>
        <p:spPr>
          <a:xfrm>
            <a:off x="5330952" y="4398264"/>
            <a:ext cx="365760" cy="365760"/>
          </a:xfrm>
          <a:prstGeom prst="rect">
            <a:avLst/>
          </a:prstGeom>
        </p:spPr>
      </p:pic>
      <p:sp>
        <p:nvSpPr>
          <p:cNvPr id="23" name="Shape 17"/>
          <p:cNvSpPr/>
          <p:nvPr/>
        </p:nvSpPr>
        <p:spPr>
          <a:xfrm>
            <a:off x="1143000" y="5239512"/>
            <a:ext cx="4754880" cy="822960"/>
          </a:xfrm>
          <a:prstGeom prst="roundRect">
            <a:avLst>
              <a:gd name="adj" fmla="val 8889"/>
            </a:avLst>
          </a:prstGeom>
          <a:solidFill>
            <a:srgbClr val="ECF3FA"/>
          </a:solidFill>
          <a:ln w="12700">
            <a:solidFill>
              <a:srgbClr val="ECF3FA"/>
            </a:solidFill>
            <a:prstDash val="solid"/>
          </a:ln>
        </p:spPr>
      </p:sp>
      <p:sp>
        <p:nvSpPr>
          <p:cNvPr id="24" name="Shape 18"/>
          <p:cNvSpPr/>
          <p:nvPr/>
        </p:nvSpPr>
        <p:spPr>
          <a:xfrm>
            <a:off x="1325880" y="5422392"/>
            <a:ext cx="457200" cy="457200"/>
          </a:xfrm>
          <a:prstGeom prst="ellipse">
            <a:avLst/>
          </a:prstGeom>
          <a:solidFill>
            <a:srgbClr val="234782"/>
          </a:solidFill>
          <a:ln w="12700">
            <a:solidFill>
              <a:srgbClr val="234782"/>
            </a:solidFill>
            <a:prstDash val="solid"/>
          </a:ln>
        </p:spPr>
      </p:sp>
      <p:sp>
        <p:nvSpPr>
          <p:cNvPr id="25" name="Text 19"/>
          <p:cNvSpPr/>
          <p:nvPr/>
        </p:nvSpPr>
        <p:spPr>
          <a:xfrm>
            <a:off x="1325880" y="542239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ahoma" pitchFamily="34" charset="0"/>
                <a:ea typeface="Tahoma" pitchFamily="34" charset="-122"/>
                <a:cs typeface="Tahoma" pitchFamily="34" charset="-120"/>
              </a:rPr>
              <a:t>5</a:t>
            </a:r>
            <a:endParaRPr lang="en-US" sz="1400" dirty="0"/>
          </a:p>
        </p:txBody>
      </p:sp>
      <p:sp>
        <p:nvSpPr>
          <p:cNvPr id="26" name="Text 20"/>
          <p:cNvSpPr txBox="1"/>
          <p:nvPr/>
        </p:nvSpPr>
        <p:spPr>
          <a:xfrm>
            <a:off x="1920240" y="5285232"/>
            <a:ext cx="3291840" cy="731520"/>
          </a:xfrm>
          <a:prstGeom prst="rect">
            <a:avLst/>
          </a:prstGeom>
          <a:noFill/>
          <a:ln/>
        </p:spPr>
        <p:txBody>
          <a:bodyPr wrap="square" lIns="508" tIns="508" rIns="508" bIns="508" rtlCol="0" anchor="ctr"/>
          <a:lstStyle/>
          <a:p>
            <a:pPr indent="0" marL="0">
              <a:buNone/>
            </a:pPr>
            <a:r>
              <a:rPr lang="en-US" sz="1600" b="1" dirty="0">
                <a:solidFill>
                  <a:srgbClr val="234782"/>
                </a:solidFill>
                <a:latin typeface="Tahoma" pitchFamily="34" charset="0"/>
                <a:ea typeface="Tahoma" pitchFamily="34" charset="-122"/>
                <a:cs typeface="Tahoma" pitchFamily="34" charset="-120"/>
              </a:rPr>
              <a:t>Chế độ đo: RES, IP, SP</a:t>
            </a:r>
            <a:endParaRPr lang="en-US" sz="1600" dirty="0"/>
          </a:p>
        </p:txBody>
      </p:sp>
      <p:pic>
        <p:nvPicPr>
          <p:cNvPr id="27" name="Image 4" descr="preencoded.png">    </p:cNvPr>
          <p:cNvPicPr>
            <a:picLocks noChangeAspect="1"/>
          </p:cNvPicPr>
          <p:nvPr/>
        </p:nvPicPr>
        <p:blipFill>
          <a:blip r:embed="rId5"/>
          <a:stretch>
            <a:fillRect/>
          </a:stretch>
        </p:blipFill>
        <p:spPr>
          <a:xfrm>
            <a:off x="5330952" y="5468112"/>
            <a:ext cx="365760" cy="365760"/>
          </a:xfrm>
          <a:prstGeom prst="rect">
            <a:avLst/>
          </a:prstGeom>
        </p:spPr>
      </p:pic>
      <p:sp>
        <p:nvSpPr>
          <p:cNvPr id="28" name="Shape 21"/>
          <p:cNvSpPr/>
          <p:nvPr/>
        </p:nvSpPr>
        <p:spPr>
          <a:xfrm>
            <a:off x="6263640" y="2029968"/>
            <a:ext cx="4754880" cy="822960"/>
          </a:xfrm>
          <a:prstGeom prst="roundRect">
            <a:avLst>
              <a:gd name="adj" fmla="val 8889"/>
            </a:avLst>
          </a:prstGeom>
          <a:solidFill>
            <a:srgbClr val="ECF3FA"/>
          </a:solidFill>
          <a:ln w="12700">
            <a:solidFill>
              <a:srgbClr val="ECF3FA"/>
            </a:solidFill>
            <a:prstDash val="solid"/>
          </a:ln>
        </p:spPr>
      </p:sp>
      <p:sp>
        <p:nvSpPr>
          <p:cNvPr id="29" name="Shape 22"/>
          <p:cNvSpPr/>
          <p:nvPr/>
        </p:nvSpPr>
        <p:spPr>
          <a:xfrm>
            <a:off x="6446520" y="2212848"/>
            <a:ext cx="457200" cy="457200"/>
          </a:xfrm>
          <a:prstGeom prst="ellipse">
            <a:avLst/>
          </a:prstGeom>
          <a:solidFill>
            <a:srgbClr val="234782"/>
          </a:solidFill>
          <a:ln w="12700">
            <a:solidFill>
              <a:srgbClr val="234782"/>
            </a:solidFill>
            <a:prstDash val="solid"/>
          </a:ln>
        </p:spPr>
      </p:sp>
      <p:sp>
        <p:nvSpPr>
          <p:cNvPr id="30" name="Text 23"/>
          <p:cNvSpPr/>
          <p:nvPr/>
        </p:nvSpPr>
        <p:spPr>
          <a:xfrm>
            <a:off x="6446520" y="2212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ahoma" pitchFamily="34" charset="0"/>
                <a:ea typeface="Tahoma" pitchFamily="34" charset="-122"/>
                <a:cs typeface="Tahoma" pitchFamily="34" charset="-120"/>
              </a:rPr>
              <a:t>6</a:t>
            </a:r>
            <a:endParaRPr lang="en-US" sz="1400" dirty="0"/>
          </a:p>
        </p:txBody>
      </p:sp>
      <p:sp>
        <p:nvSpPr>
          <p:cNvPr id="31" name="Text 24"/>
          <p:cNvSpPr txBox="1"/>
          <p:nvPr/>
        </p:nvSpPr>
        <p:spPr>
          <a:xfrm>
            <a:off x="7040880" y="2075688"/>
            <a:ext cx="3291840" cy="731520"/>
          </a:xfrm>
          <a:prstGeom prst="rect">
            <a:avLst/>
          </a:prstGeom>
          <a:noFill/>
          <a:ln/>
        </p:spPr>
        <p:txBody>
          <a:bodyPr wrap="square" lIns="508" tIns="508" rIns="508" bIns="508" rtlCol="0" anchor="ctr"/>
          <a:lstStyle/>
          <a:p>
            <a:pPr indent="0" marL="0">
              <a:buNone/>
            </a:pPr>
            <a:r>
              <a:rPr lang="en-US" sz="1600" b="1" dirty="0">
                <a:solidFill>
                  <a:srgbClr val="234782"/>
                </a:solidFill>
                <a:latin typeface="Tahoma" pitchFamily="34" charset="0"/>
                <a:ea typeface="Tahoma" pitchFamily="34" charset="-122"/>
                <a:cs typeface="Tahoma" pitchFamily="34" charset="-120"/>
              </a:rPr>
              <a:t>Quy trình đo VES và ảnh điện 2D</a:t>
            </a:r>
            <a:endParaRPr lang="en-US" sz="1600" dirty="0"/>
          </a:p>
        </p:txBody>
      </p:sp>
      <p:pic>
        <p:nvPicPr>
          <p:cNvPr id="32" name="Image 5" descr="preencoded.png">    </p:cNvPr>
          <p:cNvPicPr>
            <a:picLocks noChangeAspect="1"/>
          </p:cNvPicPr>
          <p:nvPr/>
        </p:nvPicPr>
        <p:blipFill>
          <a:blip r:embed="rId6"/>
          <a:stretch>
            <a:fillRect/>
          </a:stretch>
        </p:blipFill>
        <p:spPr>
          <a:xfrm>
            <a:off x="10451592" y="2258568"/>
            <a:ext cx="365760" cy="365760"/>
          </a:xfrm>
          <a:prstGeom prst="rect">
            <a:avLst/>
          </a:prstGeom>
        </p:spPr>
      </p:pic>
      <p:sp>
        <p:nvSpPr>
          <p:cNvPr id="33" name="Shape 25"/>
          <p:cNvSpPr/>
          <p:nvPr/>
        </p:nvSpPr>
        <p:spPr>
          <a:xfrm>
            <a:off x="6263640" y="3099816"/>
            <a:ext cx="4754880" cy="822960"/>
          </a:xfrm>
          <a:prstGeom prst="roundRect">
            <a:avLst>
              <a:gd name="adj" fmla="val 8889"/>
            </a:avLst>
          </a:prstGeom>
          <a:solidFill>
            <a:srgbClr val="ECF3FA"/>
          </a:solidFill>
          <a:ln w="12700">
            <a:solidFill>
              <a:srgbClr val="ECF3FA"/>
            </a:solidFill>
            <a:prstDash val="solid"/>
          </a:ln>
        </p:spPr>
      </p:sp>
      <p:sp>
        <p:nvSpPr>
          <p:cNvPr id="34" name="Shape 26"/>
          <p:cNvSpPr/>
          <p:nvPr/>
        </p:nvSpPr>
        <p:spPr>
          <a:xfrm>
            <a:off x="6446520" y="3282696"/>
            <a:ext cx="457200" cy="457200"/>
          </a:xfrm>
          <a:prstGeom prst="ellipse">
            <a:avLst/>
          </a:prstGeom>
          <a:solidFill>
            <a:srgbClr val="234782"/>
          </a:solidFill>
          <a:ln w="12700">
            <a:solidFill>
              <a:srgbClr val="234782"/>
            </a:solidFill>
            <a:prstDash val="solid"/>
          </a:ln>
        </p:spPr>
      </p:sp>
      <p:sp>
        <p:nvSpPr>
          <p:cNvPr id="35" name="Text 27"/>
          <p:cNvSpPr/>
          <p:nvPr/>
        </p:nvSpPr>
        <p:spPr>
          <a:xfrm>
            <a:off x="6446520" y="328269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ahoma" pitchFamily="34" charset="0"/>
                <a:ea typeface="Tahoma" pitchFamily="34" charset="-122"/>
                <a:cs typeface="Tahoma" pitchFamily="34" charset="-120"/>
              </a:rPr>
              <a:t>7</a:t>
            </a:r>
            <a:endParaRPr lang="en-US" sz="1400" dirty="0"/>
          </a:p>
        </p:txBody>
      </p:sp>
      <p:sp>
        <p:nvSpPr>
          <p:cNvPr id="36" name="Text 28"/>
          <p:cNvSpPr txBox="1"/>
          <p:nvPr/>
        </p:nvSpPr>
        <p:spPr>
          <a:xfrm>
            <a:off x="7040880" y="3145536"/>
            <a:ext cx="3291840" cy="731520"/>
          </a:xfrm>
          <a:prstGeom prst="rect">
            <a:avLst/>
          </a:prstGeom>
          <a:noFill/>
          <a:ln/>
        </p:spPr>
        <p:txBody>
          <a:bodyPr wrap="square" lIns="508" tIns="508" rIns="508" bIns="508" rtlCol="0" anchor="ctr"/>
          <a:lstStyle/>
          <a:p>
            <a:pPr indent="0" marL="0">
              <a:buNone/>
            </a:pPr>
            <a:r>
              <a:rPr lang="en-US" sz="1600" b="1" dirty="0">
                <a:solidFill>
                  <a:srgbClr val="234782"/>
                </a:solidFill>
                <a:latin typeface="Tahoma" pitchFamily="34" charset="0"/>
                <a:ea typeface="Tahoma" pitchFamily="34" charset="-122"/>
                <a:cs typeface="Tahoma" pitchFamily="34" charset="-120"/>
              </a:rPr>
              <a:t>Xử lý số liệu, sai số, an toàn</a:t>
            </a:r>
            <a:endParaRPr lang="en-US" sz="1600" dirty="0"/>
          </a:p>
        </p:txBody>
      </p:sp>
      <p:pic>
        <p:nvPicPr>
          <p:cNvPr id="37" name="Image 6" descr="preencoded.png">    </p:cNvPr>
          <p:cNvPicPr>
            <a:picLocks noChangeAspect="1"/>
          </p:cNvPicPr>
          <p:nvPr/>
        </p:nvPicPr>
        <p:blipFill>
          <a:blip r:embed="rId7"/>
          <a:stretch>
            <a:fillRect/>
          </a:stretch>
        </p:blipFill>
        <p:spPr>
          <a:xfrm>
            <a:off x="10451592" y="3328416"/>
            <a:ext cx="365760" cy="365760"/>
          </a:xfrm>
          <a:prstGeom prst="rect">
            <a:avLst/>
          </a:prstGeom>
        </p:spPr>
      </p:pic>
      <p:sp>
        <p:nvSpPr>
          <p:cNvPr id="38" name="Shape 29"/>
          <p:cNvSpPr/>
          <p:nvPr/>
        </p:nvSpPr>
        <p:spPr>
          <a:xfrm>
            <a:off x="6263640" y="4169664"/>
            <a:ext cx="4754880" cy="822960"/>
          </a:xfrm>
          <a:prstGeom prst="roundRect">
            <a:avLst>
              <a:gd name="adj" fmla="val 8889"/>
            </a:avLst>
          </a:prstGeom>
          <a:solidFill>
            <a:srgbClr val="ECF3FA"/>
          </a:solidFill>
          <a:ln w="12700">
            <a:solidFill>
              <a:srgbClr val="ECF3FA"/>
            </a:solidFill>
            <a:prstDash val="solid"/>
          </a:ln>
        </p:spPr>
      </p:sp>
      <p:sp>
        <p:nvSpPr>
          <p:cNvPr id="39" name="Shape 30"/>
          <p:cNvSpPr/>
          <p:nvPr/>
        </p:nvSpPr>
        <p:spPr>
          <a:xfrm>
            <a:off x="6446520" y="4352544"/>
            <a:ext cx="457200" cy="457200"/>
          </a:xfrm>
          <a:prstGeom prst="ellipse">
            <a:avLst/>
          </a:prstGeom>
          <a:solidFill>
            <a:srgbClr val="234782"/>
          </a:solidFill>
          <a:ln w="12700">
            <a:solidFill>
              <a:srgbClr val="234782"/>
            </a:solidFill>
            <a:prstDash val="solid"/>
          </a:ln>
        </p:spPr>
      </p:sp>
      <p:sp>
        <p:nvSpPr>
          <p:cNvPr id="40" name="Text 31"/>
          <p:cNvSpPr/>
          <p:nvPr/>
        </p:nvSpPr>
        <p:spPr>
          <a:xfrm>
            <a:off x="6446520" y="43525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ahoma" pitchFamily="34" charset="0"/>
                <a:ea typeface="Tahoma" pitchFamily="34" charset="-122"/>
                <a:cs typeface="Tahoma" pitchFamily="34" charset="-120"/>
              </a:rPr>
              <a:t>8</a:t>
            </a:r>
            <a:endParaRPr lang="en-US" sz="1400" dirty="0"/>
          </a:p>
        </p:txBody>
      </p:sp>
      <p:sp>
        <p:nvSpPr>
          <p:cNvPr id="41" name="Text 32"/>
          <p:cNvSpPr txBox="1"/>
          <p:nvPr/>
        </p:nvSpPr>
        <p:spPr>
          <a:xfrm>
            <a:off x="7040880" y="4215384"/>
            <a:ext cx="3291840" cy="731520"/>
          </a:xfrm>
          <a:prstGeom prst="rect">
            <a:avLst/>
          </a:prstGeom>
          <a:noFill/>
          <a:ln/>
        </p:spPr>
        <p:txBody>
          <a:bodyPr wrap="square" lIns="508" tIns="508" rIns="508" bIns="508" rtlCol="0" anchor="ctr"/>
          <a:lstStyle/>
          <a:p>
            <a:pPr indent="0" marL="0">
              <a:buNone/>
            </a:pPr>
            <a:r>
              <a:rPr lang="en-US" sz="1600" b="1" dirty="0">
                <a:solidFill>
                  <a:srgbClr val="234782"/>
                </a:solidFill>
                <a:latin typeface="Tahoma" pitchFamily="34" charset="0"/>
                <a:ea typeface="Tahoma" pitchFamily="34" charset="-122"/>
                <a:cs typeface="Tahoma" pitchFamily="34" charset="-120"/>
              </a:rPr>
              <a:t>Ứng dụng, liên hệ bài tập</a:t>
            </a:r>
            <a:endParaRPr lang="en-US" sz="1600" dirty="0"/>
          </a:p>
        </p:txBody>
      </p:sp>
      <p:pic>
        <p:nvPicPr>
          <p:cNvPr id="42" name="Image 7" descr="preencoded.png">    </p:cNvPr>
          <p:cNvPicPr>
            <a:picLocks noChangeAspect="1"/>
          </p:cNvPicPr>
          <p:nvPr/>
        </p:nvPicPr>
        <p:blipFill>
          <a:blip r:embed="rId8"/>
          <a:stretch>
            <a:fillRect/>
          </a:stretch>
        </p:blipFill>
        <p:spPr>
          <a:xfrm>
            <a:off x="10451592" y="4398264"/>
            <a:ext cx="365760" cy="365760"/>
          </a:xfrm>
          <a:prstGeom prst="rect">
            <a:avLst/>
          </a:prstGeom>
        </p:spPr>
      </p:pic>
      <p:sp>
        <p:nvSpPr>
          <p:cNvPr id="43" name="Shape 33"/>
          <p:cNvSpPr/>
          <p:nvPr/>
        </p:nvSpPr>
        <p:spPr>
          <a:xfrm>
            <a:off x="6263640" y="5239512"/>
            <a:ext cx="4754880" cy="822960"/>
          </a:xfrm>
          <a:prstGeom prst="roundRect">
            <a:avLst>
              <a:gd name="adj" fmla="val 8889"/>
            </a:avLst>
          </a:prstGeom>
          <a:solidFill>
            <a:srgbClr val="ECF3FA"/>
          </a:solidFill>
          <a:ln w="12700">
            <a:solidFill>
              <a:srgbClr val="ECF3FA"/>
            </a:solidFill>
            <a:prstDash val="solid"/>
          </a:ln>
        </p:spPr>
      </p:sp>
      <p:sp>
        <p:nvSpPr>
          <p:cNvPr id="44" name="Shape 34"/>
          <p:cNvSpPr/>
          <p:nvPr/>
        </p:nvSpPr>
        <p:spPr>
          <a:xfrm>
            <a:off x="6446520" y="5422392"/>
            <a:ext cx="457200" cy="457200"/>
          </a:xfrm>
          <a:prstGeom prst="ellipse">
            <a:avLst/>
          </a:prstGeom>
          <a:solidFill>
            <a:srgbClr val="234782"/>
          </a:solidFill>
          <a:ln w="12700">
            <a:solidFill>
              <a:srgbClr val="234782"/>
            </a:solidFill>
            <a:prstDash val="solid"/>
          </a:ln>
        </p:spPr>
      </p:sp>
      <p:sp>
        <p:nvSpPr>
          <p:cNvPr id="45" name="Text 35"/>
          <p:cNvSpPr/>
          <p:nvPr/>
        </p:nvSpPr>
        <p:spPr>
          <a:xfrm>
            <a:off x="6446520" y="542239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ahoma" pitchFamily="34" charset="0"/>
                <a:ea typeface="Tahoma" pitchFamily="34" charset="-122"/>
                <a:cs typeface="Tahoma" pitchFamily="34" charset="-120"/>
              </a:rPr>
              <a:t>9</a:t>
            </a:r>
            <a:endParaRPr lang="en-US" sz="1400" dirty="0"/>
          </a:p>
        </p:txBody>
      </p:sp>
      <p:sp>
        <p:nvSpPr>
          <p:cNvPr id="46" name="Text 36"/>
          <p:cNvSpPr txBox="1"/>
          <p:nvPr/>
        </p:nvSpPr>
        <p:spPr>
          <a:xfrm>
            <a:off x="7040880" y="5285232"/>
            <a:ext cx="3291840" cy="731520"/>
          </a:xfrm>
          <a:prstGeom prst="rect">
            <a:avLst/>
          </a:prstGeom>
          <a:noFill/>
          <a:ln/>
        </p:spPr>
        <p:txBody>
          <a:bodyPr wrap="square" lIns="508" tIns="508" rIns="508" bIns="508" rtlCol="0" anchor="ctr"/>
          <a:lstStyle/>
          <a:p>
            <a:pPr indent="0" marL="0">
              <a:buNone/>
            </a:pPr>
            <a:r>
              <a:rPr lang="en-US" sz="1600" b="1" dirty="0">
                <a:solidFill>
                  <a:srgbClr val="234782"/>
                </a:solidFill>
                <a:latin typeface="Tahoma" pitchFamily="34" charset="0"/>
                <a:ea typeface="Tahoma" pitchFamily="34" charset="-122"/>
                <a:cs typeface="Tahoma" pitchFamily="34" charset="-120"/>
              </a:rPr>
              <a:t>Bài tập: khúc xạ và đo sâu điện</a:t>
            </a:r>
            <a:endParaRPr lang="en-US" sz="1600" dirty="0"/>
          </a:p>
        </p:txBody>
      </p:sp>
      <p:pic>
        <p:nvPicPr>
          <p:cNvPr id="47" name="Image 8" descr="preencoded.png">    </p:cNvPr>
          <p:cNvPicPr>
            <a:picLocks noChangeAspect="1"/>
          </p:cNvPicPr>
          <p:nvPr/>
        </p:nvPicPr>
        <p:blipFill>
          <a:blip r:embed="rId9"/>
          <a:stretch>
            <a:fillRect/>
          </a:stretch>
        </p:blipFill>
        <p:spPr>
          <a:xfrm>
            <a:off x="10451592" y="5468112"/>
            <a:ext cx="365760" cy="365760"/>
          </a:xfrm>
          <a:prstGeom prst="rect">
            <a:avLst/>
          </a:prstGeom>
        </p:spPr>
      </p:pic>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1. Cơ sở phương pháp điện trở suất</a:t>
            </a:r>
            <a:endParaRPr lang="en-US" sz="2800" dirty="0"/>
          </a:p>
        </p:txBody>
      </p:sp>
      <p:sp>
        <p:nvSpPr>
          <p:cNvPr id="3" name="Shape 1"/>
          <p:cNvSpPr/>
          <p:nvPr/>
        </p:nvSpPr>
        <p:spPr>
          <a:xfrm>
            <a:off x="640080" y="960120"/>
            <a:ext cx="6126480" cy="731520"/>
          </a:xfrm>
          <a:prstGeom prst="roundRect">
            <a:avLst>
              <a:gd name="adj" fmla="val 10000"/>
            </a:avLst>
          </a:prstGeom>
          <a:solidFill>
            <a:srgbClr val="FFFFFF"/>
          </a:solidFill>
          <a:ln w="15875">
            <a:solidFill>
              <a:srgbClr val="0086CA"/>
            </a:solidFill>
            <a:prstDash val="solid"/>
          </a:ln>
        </p:spPr>
      </p:sp>
      <p:sp>
        <p:nvSpPr>
          <p:cNvPr id="4" name="Text 2"/>
          <p:cNvSpPr txBox="1"/>
          <p:nvPr/>
        </p:nvSpPr>
        <p:spPr>
          <a:xfrm>
            <a:off x="731520" y="1005840"/>
            <a:ext cx="5943600" cy="640080"/>
          </a:xfrm>
          <a:prstGeom prst="rect">
            <a:avLst/>
          </a:prstGeom>
          <a:noFill/>
          <a:ln/>
        </p:spPr>
        <p:txBody>
          <a:bodyPr wrap="square" lIns="508" tIns="508" rIns="508" bIns="508" rtlCol="0" anchor="ctr"/>
          <a:lstStyle/>
          <a:p>
            <a:pPr algn="ctr" indent="0" marL="0">
              <a:buNone/>
            </a:pPr>
            <a:r>
              <a:rPr lang="en-US" sz="1900" b="1" dirty="0">
                <a:solidFill>
                  <a:srgbClr val="234782"/>
                </a:solidFill>
                <a:latin typeface="Tahoma" pitchFamily="34" charset="0"/>
                <a:ea typeface="Tahoma" pitchFamily="34" charset="-122"/>
                <a:cs typeface="Tahoma" pitchFamily="34" charset="-120"/>
              </a:rPr>
              <a:t>R = ΔU / I      ρ = R·S / L  (Ω·m)      σ = 1/ρ</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6126480" cy="914400"/>
        </p:xfrm>
        <a:graphic>
          <a:graphicData uri="http://schemas.openxmlformats.org/drawingml/2006/table">
            <a:tbl>
              <a:tblPr/>
              <a:tblGrid>
                <a:gridCol w="3931920"/>
                <a:gridCol w="2194560"/>
              </a:tblGrid>
              <a:tr h="0">
                <a:tc>
                  <a:txBody>
                    <a:bodyPr/>
                    <a:lstStyle/>
                    <a:p>
                      <a:pPr indent="0" marL="0">
                        <a:buNone/>
                      </a:pPr>
                      <a:r>
                        <a:rPr lang="en-US" sz="1400" b="1" dirty="0">
                          <a:solidFill>
                            <a:srgbClr val="FFFFFF"/>
                          </a:solidFill>
                          <a:latin typeface="Tahoma" pitchFamily="34" charset="0"/>
                          <a:ea typeface="Tahoma" pitchFamily="34" charset="-122"/>
                          <a:cs typeface="Tahoma" pitchFamily="34" charset="-120"/>
                        </a:rPr>
                        <a:t>Đất đá / môi trường</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c>
                  <a:txBody>
                    <a:bodyPr/>
                    <a:lstStyle/>
                    <a:p>
                      <a:pPr indent="0" marL="0">
                        <a:buNone/>
                      </a:pPr>
                      <a:r>
                        <a:rPr lang="en-US" sz="1400" b="1" dirty="0">
                          <a:solidFill>
                            <a:srgbClr val="FFFFFF"/>
                          </a:solidFill>
                          <a:latin typeface="Tahoma" pitchFamily="34" charset="0"/>
                          <a:ea typeface="Tahoma" pitchFamily="34" charset="-122"/>
                          <a:cs typeface="Tahoma" pitchFamily="34" charset="-120"/>
                        </a:rPr>
                        <a:t>ρ (Ω·m) [1]</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Nước biển</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 0,2</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Sét</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1 – 100</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Cát, sỏi chứa nước ngọt</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50 – 1.000</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Đá vôi đặc sít</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10² – 10⁴</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Granit, đá kết tinh</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10³ – 10⁶</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Quặng sulfide, graphit</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10⁻⁴ – 1</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bl>
          </a:graphicData>
        </a:graphic>
      </p:graphicFrame>
      <p:sp>
        <p:nvSpPr>
          <p:cNvPr id="6" name="Shape 3"/>
          <p:cNvSpPr/>
          <p:nvPr/>
        </p:nvSpPr>
        <p:spPr>
          <a:xfrm>
            <a:off x="7040880" y="960120"/>
            <a:ext cx="4507992" cy="2926080"/>
          </a:xfrm>
          <a:prstGeom prst="roundRect">
            <a:avLst>
              <a:gd name="adj" fmla="val 3750"/>
            </a:avLst>
          </a:prstGeom>
          <a:solidFill>
            <a:srgbClr val="ECF3FA"/>
          </a:solidFill>
          <a:ln w="12700">
            <a:solidFill>
              <a:srgbClr val="ECF3FA"/>
            </a:solidFill>
            <a:prstDash val="solid"/>
          </a:ln>
        </p:spPr>
      </p:sp>
      <p:sp>
        <p:nvSpPr>
          <p:cNvPr id="7" name="Shape 4"/>
          <p:cNvSpPr/>
          <p:nvPr/>
        </p:nvSpPr>
        <p:spPr>
          <a:xfrm>
            <a:off x="7269480" y="1124712"/>
            <a:ext cx="457200" cy="457200"/>
          </a:xfrm>
          <a:prstGeom prst="ellipse">
            <a:avLst/>
          </a:prstGeom>
          <a:solidFill>
            <a:srgbClr val="234782"/>
          </a:solidFill>
          <a:ln w="19050">
            <a:solidFill>
              <a:srgbClr val="234782"/>
            </a:solidFill>
            <a:prstDash val="solid"/>
          </a:ln>
        </p:spPr>
      </p:sp>
      <p:pic>
        <p:nvPicPr>
          <p:cNvPr id="8" name="Image 0" descr="preencoded.png">    </p:cNvPr>
          <p:cNvPicPr>
            <a:picLocks noChangeAspect="1"/>
          </p:cNvPicPr>
          <p:nvPr/>
        </p:nvPicPr>
        <p:blipFill>
          <a:blip r:embed="rId1"/>
          <a:stretch>
            <a:fillRect/>
          </a:stretch>
        </p:blipFill>
        <p:spPr>
          <a:xfrm>
            <a:off x="7379208" y="1234440"/>
            <a:ext cx="237744" cy="237744"/>
          </a:xfrm>
          <a:prstGeom prst="rect">
            <a:avLst/>
          </a:prstGeom>
        </p:spPr>
      </p:pic>
      <p:sp>
        <p:nvSpPr>
          <p:cNvPr id="9" name="Text 5"/>
          <p:cNvSpPr txBox="1"/>
          <p:nvPr/>
        </p:nvSpPr>
        <p:spPr>
          <a:xfrm>
            <a:off x="7863840" y="1143000"/>
            <a:ext cx="3502152" cy="411480"/>
          </a:xfrm>
          <a:prstGeom prst="rect">
            <a:avLst/>
          </a:prstGeom>
          <a:noFill/>
          <a:ln/>
        </p:spPr>
        <p:txBody>
          <a:bodyPr wrap="square" lIns="508" tIns="508" rIns="508" bIns="508" rtlCol="0" anchor="ctr"/>
          <a:lstStyle/>
          <a:p>
            <a:pPr indent="0" marL="0">
              <a:buNone/>
            </a:pPr>
            <a:r>
              <a:rPr lang="en-US" sz="1700" b="1" dirty="0">
                <a:solidFill>
                  <a:srgbClr val="234782"/>
                </a:solidFill>
                <a:latin typeface="Tahoma" pitchFamily="34" charset="0"/>
                <a:ea typeface="Tahoma" pitchFamily="34" charset="-122"/>
                <a:cs typeface="Tahoma" pitchFamily="34" charset="-120"/>
              </a:rPr>
              <a:t>Liên hệ dầu khí: định luật Archie</a:t>
            </a:r>
            <a:endParaRPr lang="en-US" sz="1700" dirty="0"/>
          </a:p>
        </p:txBody>
      </p:sp>
      <p:sp>
        <p:nvSpPr>
          <p:cNvPr id="10" name="Text 6"/>
          <p:cNvSpPr txBox="1"/>
          <p:nvPr/>
        </p:nvSpPr>
        <p:spPr>
          <a:xfrm>
            <a:off x="7315200" y="1737360"/>
            <a:ext cx="4005072" cy="2011680"/>
          </a:xfrm>
          <a:prstGeom prst="rect">
            <a:avLst/>
          </a:prstGeom>
          <a:noFill/>
          <a:ln/>
        </p:spPr>
        <p:txBody>
          <a:bodyPr wrap="square" lIns="254" tIns="254" rIns="254" bIns="254" rtlCol="0" anchor="t"/>
          <a:lstStyle/>
          <a:p>
            <a:pPr marL="177800" indent="-177800">
              <a:spcAft>
                <a:spcPts val="800"/>
              </a:spcAft>
              <a:buSzPct val="100000"/>
              <a:buChar char="•"/>
            </a:pPr>
            <a:r>
              <a:rPr lang="en-US" sz="1400" b="1" dirty="0">
                <a:solidFill>
                  <a:srgbClr val="1F1F1F"/>
                </a:solidFill>
                <a:latin typeface="Tahoma" pitchFamily="34" charset="0"/>
                <a:ea typeface="Tahoma" pitchFamily="34" charset="-122"/>
                <a:cs typeface="Tahoma" pitchFamily="34" charset="-120"/>
              </a:rPr>
              <a:t>ρt = a·ρw / (φᵐ·Swⁿ)</a:t>
            </a:r>
            <a:r>
              <a:rPr lang="en-US" sz="1400" dirty="0">
                <a:solidFill>
                  <a:srgbClr val="1F1F1F"/>
                </a:solidFill>
                <a:latin typeface="Tahoma" pitchFamily="34" charset="0"/>
                <a:ea typeface="Tahoma" pitchFamily="34" charset="-122"/>
                <a:cs typeface="Tahoma" pitchFamily="34" charset="-120"/>
              </a:rPr>
              <a:t> [2]</a:t>
            </a:r>
            <a:endParaRPr lang="en-US" sz="1400" dirty="0"/>
          </a:p>
          <a:p>
            <a:pPr marL="177800" indent="-177800">
              <a:spcAft>
                <a:spcPts val="800"/>
              </a:spcAft>
              <a:buSzPct val="100000"/>
              <a:buChar char="•"/>
            </a:pPr>
            <a:r>
              <a:rPr lang="en-US" sz="1400" dirty="0">
                <a:solidFill>
                  <a:srgbClr val="1F1F1F"/>
                </a:solidFill>
                <a:latin typeface="Tahoma" pitchFamily="34" charset="0"/>
                <a:ea typeface="Tahoma" pitchFamily="34" charset="-122"/>
                <a:cs typeface="Tahoma" pitchFamily="34" charset="-120"/>
              </a:rPr>
              <a:t>Đá chứa dầu khí (Sw nhỏ) có ρ cao hơn đá chứa nước</a:t>
            </a:r>
            <a:endParaRPr lang="en-US" sz="1400" dirty="0"/>
          </a:p>
          <a:p>
            <a:pPr marL="177800" indent="-177800">
              <a:spcAft>
                <a:spcPts val="800"/>
              </a:spcAft>
              <a:buSzPct val="100000"/>
              <a:buChar char="•"/>
            </a:pPr>
            <a:r>
              <a:rPr lang="en-US" sz="1400" dirty="0">
                <a:solidFill>
                  <a:srgbClr val="1F1F1F"/>
                </a:solidFill>
                <a:latin typeface="Tahoma" pitchFamily="34" charset="0"/>
                <a:ea typeface="Tahoma" pitchFamily="34" charset="-122"/>
                <a:cs typeface="Tahoma" pitchFamily="34" charset="-120"/>
              </a:rPr>
              <a:t>Cùng nguyên lý với log điện trở giếng khoan</a:t>
            </a:r>
            <a:endParaRPr lang="en-US" sz="1400" dirty="0"/>
          </a:p>
        </p:txBody>
      </p:sp>
      <p:sp>
        <p:nvSpPr>
          <p:cNvPr id="11" name="Text 7"/>
          <p:cNvSpPr txBox="1"/>
          <p:nvPr/>
        </p:nvSpPr>
        <p:spPr>
          <a:xfrm>
            <a:off x="7040880" y="4114800"/>
            <a:ext cx="4507992" cy="1371600"/>
          </a:xfrm>
          <a:prstGeom prst="rect">
            <a:avLst/>
          </a:prstGeom>
          <a:noFill/>
          <a:ln/>
        </p:spPr>
        <p:txBody>
          <a:bodyPr wrap="square" lIns="508" tIns="508" rIns="508" bIns="508" rtlCol="0" anchor="ctr"/>
          <a:lstStyle/>
          <a:p>
            <a:pPr indent="0" marL="0">
              <a:buNone/>
            </a:pPr>
            <a:r>
              <a:rPr lang="en-US" sz="1500" b="1" dirty="0">
                <a:solidFill>
                  <a:srgbClr val="0086CA"/>
                </a:solidFill>
                <a:latin typeface="Tahoma" pitchFamily="34" charset="0"/>
                <a:ea typeface="Tahoma" pitchFamily="34" charset="-122"/>
                <a:cs typeface="Tahoma" pitchFamily="34" charset="-120"/>
              </a:rPr>
              <a:t>→ ρ của đất đá dao động hơn 10 bậc, phụ thuộc chủ yếu vào nước trong lỗ rỗng và độ khoáng hóa</a:t>
            </a:r>
            <a:endParaRPr lang="en-US" sz="15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1. Nguyên lý đo bốn cực</a:t>
            </a:r>
            <a:endParaRPr lang="en-US" sz="2800" dirty="0"/>
          </a:p>
        </p:txBody>
      </p:sp>
      <p:sp>
        <p:nvSpPr>
          <p:cNvPr id="3" name="Shape 1"/>
          <p:cNvSpPr/>
          <p:nvPr/>
        </p:nvSpPr>
        <p:spPr>
          <a:xfrm>
            <a:off x="640080" y="2743200"/>
            <a:ext cx="6400800" cy="2377440"/>
          </a:xfrm>
          <a:prstGeom prst="rect">
            <a:avLst/>
          </a:prstGeom>
          <a:solidFill>
            <a:srgbClr val="F3E9DC"/>
          </a:solidFill>
          <a:ln w="12700">
            <a:solidFill>
              <a:srgbClr val="F3E9DC"/>
            </a:solidFill>
            <a:prstDash val="solid"/>
          </a:ln>
        </p:spPr>
      </p:sp>
      <p:sp>
        <p:nvSpPr>
          <p:cNvPr id="4" name="Shape 2"/>
          <p:cNvSpPr/>
          <p:nvPr/>
        </p:nvSpPr>
        <p:spPr>
          <a:xfrm>
            <a:off x="640080" y="2743200"/>
            <a:ext cx="6400800" cy="914"/>
          </a:xfrm>
          <a:prstGeom prst="line">
            <a:avLst/>
          </a:prstGeom>
          <a:noFill/>
          <a:ln w="31750">
            <a:solidFill>
              <a:srgbClr val="8B6B3D"/>
            </a:solidFill>
            <a:prstDash val="solid"/>
          </a:ln>
        </p:spPr>
      </p:sp>
      <p:sp>
        <p:nvSpPr>
          <p:cNvPr id="5" name="Shape 3"/>
          <p:cNvSpPr/>
          <p:nvPr/>
        </p:nvSpPr>
        <p:spPr>
          <a:xfrm>
            <a:off x="2926080" y="1097280"/>
            <a:ext cx="1828800" cy="548640"/>
          </a:xfrm>
          <a:prstGeom prst="roundRect">
            <a:avLst>
              <a:gd name="adj" fmla="val 16667"/>
            </a:avLst>
          </a:prstGeom>
          <a:solidFill>
            <a:srgbClr val="234782"/>
          </a:solidFill>
          <a:ln w="12700">
            <a:solidFill>
              <a:srgbClr val="234782"/>
            </a:solidFill>
            <a:prstDash val="solid"/>
          </a:ln>
        </p:spPr>
      </p:sp>
      <p:sp>
        <p:nvSpPr>
          <p:cNvPr id="6" name="Text 4"/>
          <p:cNvSpPr txBox="1"/>
          <p:nvPr/>
        </p:nvSpPr>
        <p:spPr>
          <a:xfrm>
            <a:off x="2926080" y="1097280"/>
            <a:ext cx="1828800" cy="548640"/>
          </a:xfrm>
          <a:prstGeom prst="rect">
            <a:avLst/>
          </a:prstGeom>
          <a:noFill/>
          <a:ln/>
        </p:spPr>
        <p:txBody>
          <a:bodyPr wrap="square" lIns="508" tIns="508" rIns="508" bIns="508" rtlCol="0" anchor="ctr"/>
          <a:lstStyle/>
          <a:p>
            <a:pPr algn="ctr" indent="0" marL="0">
              <a:buNone/>
            </a:pPr>
            <a:r>
              <a:rPr lang="en-US" sz="1500" b="1" dirty="0">
                <a:solidFill>
                  <a:srgbClr val="FFFFFF"/>
                </a:solidFill>
                <a:latin typeface="Tahoma" pitchFamily="34" charset="0"/>
                <a:ea typeface="Tahoma" pitchFamily="34" charset="-122"/>
                <a:cs typeface="Tahoma" pitchFamily="34" charset="-120"/>
              </a:rPr>
              <a:t>Terrameter</a:t>
            </a:r>
            <a:endParaRPr lang="en-US" sz="1500" dirty="0"/>
          </a:p>
        </p:txBody>
      </p:sp>
      <p:sp>
        <p:nvSpPr>
          <p:cNvPr id="7" name="Shape 5"/>
          <p:cNvSpPr/>
          <p:nvPr/>
        </p:nvSpPr>
        <p:spPr>
          <a:xfrm>
            <a:off x="1225296" y="2606040"/>
            <a:ext cx="109728" cy="548640"/>
          </a:xfrm>
          <a:prstGeom prst="rect">
            <a:avLst/>
          </a:prstGeom>
          <a:solidFill>
            <a:srgbClr val="D95F0E"/>
          </a:solidFill>
          <a:ln w="12700">
            <a:solidFill>
              <a:srgbClr val="D95F0E"/>
            </a:solidFill>
            <a:prstDash val="solid"/>
          </a:ln>
        </p:spPr>
      </p:sp>
      <p:sp>
        <p:nvSpPr>
          <p:cNvPr id="8" name="Text 6"/>
          <p:cNvSpPr txBox="1"/>
          <p:nvPr/>
        </p:nvSpPr>
        <p:spPr>
          <a:xfrm>
            <a:off x="1051560" y="2240280"/>
            <a:ext cx="457200" cy="320040"/>
          </a:xfrm>
          <a:prstGeom prst="rect">
            <a:avLst/>
          </a:prstGeom>
          <a:noFill/>
          <a:ln/>
        </p:spPr>
        <p:txBody>
          <a:bodyPr wrap="square" lIns="508" tIns="508" rIns="508" bIns="508" rtlCol="0" anchor="t"/>
          <a:lstStyle/>
          <a:p>
            <a:pPr algn="ctr" indent="0" marL="0">
              <a:buNone/>
            </a:pPr>
            <a:r>
              <a:rPr lang="en-US" sz="1600" b="1" dirty="0">
                <a:solidFill>
                  <a:srgbClr val="D95F0E"/>
                </a:solidFill>
                <a:latin typeface="Tahoma" pitchFamily="34" charset="0"/>
                <a:ea typeface="Tahoma" pitchFamily="34" charset="-122"/>
                <a:cs typeface="Tahoma" pitchFamily="34" charset="-120"/>
              </a:rPr>
              <a:t>A</a:t>
            </a:r>
            <a:endParaRPr lang="en-US" sz="1600" dirty="0"/>
          </a:p>
        </p:txBody>
      </p:sp>
      <p:sp>
        <p:nvSpPr>
          <p:cNvPr id="9" name="Shape 7"/>
          <p:cNvSpPr/>
          <p:nvPr/>
        </p:nvSpPr>
        <p:spPr>
          <a:xfrm>
            <a:off x="2962656" y="2606040"/>
            <a:ext cx="109728" cy="548640"/>
          </a:xfrm>
          <a:prstGeom prst="rect">
            <a:avLst/>
          </a:prstGeom>
          <a:solidFill>
            <a:srgbClr val="0086CA"/>
          </a:solidFill>
          <a:ln w="12700">
            <a:solidFill>
              <a:srgbClr val="0086CA"/>
            </a:solidFill>
            <a:prstDash val="solid"/>
          </a:ln>
        </p:spPr>
      </p:sp>
      <p:sp>
        <p:nvSpPr>
          <p:cNvPr id="10" name="Text 8"/>
          <p:cNvSpPr txBox="1"/>
          <p:nvPr/>
        </p:nvSpPr>
        <p:spPr>
          <a:xfrm>
            <a:off x="2788920" y="2240280"/>
            <a:ext cx="457200" cy="320040"/>
          </a:xfrm>
          <a:prstGeom prst="rect">
            <a:avLst/>
          </a:prstGeom>
          <a:noFill/>
          <a:ln/>
        </p:spPr>
        <p:txBody>
          <a:bodyPr wrap="square" lIns="508" tIns="508" rIns="508" bIns="508" rtlCol="0" anchor="t"/>
          <a:lstStyle/>
          <a:p>
            <a:pPr algn="ctr" indent="0" marL="0">
              <a:buNone/>
            </a:pPr>
            <a:r>
              <a:rPr lang="en-US" sz="1600" b="1" dirty="0">
                <a:solidFill>
                  <a:srgbClr val="0086CA"/>
                </a:solidFill>
                <a:latin typeface="Tahoma" pitchFamily="34" charset="0"/>
                <a:ea typeface="Tahoma" pitchFamily="34" charset="-122"/>
                <a:cs typeface="Tahoma" pitchFamily="34" charset="-120"/>
              </a:rPr>
              <a:t>M</a:t>
            </a:r>
            <a:endParaRPr lang="en-US" sz="1600" dirty="0"/>
          </a:p>
        </p:txBody>
      </p:sp>
      <p:sp>
        <p:nvSpPr>
          <p:cNvPr id="11" name="Shape 9"/>
          <p:cNvSpPr/>
          <p:nvPr/>
        </p:nvSpPr>
        <p:spPr>
          <a:xfrm>
            <a:off x="4608576" y="2606040"/>
            <a:ext cx="109728" cy="548640"/>
          </a:xfrm>
          <a:prstGeom prst="rect">
            <a:avLst/>
          </a:prstGeom>
          <a:solidFill>
            <a:srgbClr val="0086CA"/>
          </a:solidFill>
          <a:ln w="12700">
            <a:solidFill>
              <a:srgbClr val="0086CA"/>
            </a:solidFill>
            <a:prstDash val="solid"/>
          </a:ln>
        </p:spPr>
      </p:sp>
      <p:sp>
        <p:nvSpPr>
          <p:cNvPr id="12" name="Text 10"/>
          <p:cNvSpPr txBox="1"/>
          <p:nvPr/>
        </p:nvSpPr>
        <p:spPr>
          <a:xfrm>
            <a:off x="4434840" y="2240280"/>
            <a:ext cx="457200" cy="320040"/>
          </a:xfrm>
          <a:prstGeom prst="rect">
            <a:avLst/>
          </a:prstGeom>
          <a:noFill/>
          <a:ln/>
        </p:spPr>
        <p:txBody>
          <a:bodyPr wrap="square" lIns="508" tIns="508" rIns="508" bIns="508" rtlCol="0" anchor="t"/>
          <a:lstStyle/>
          <a:p>
            <a:pPr algn="ctr" indent="0" marL="0">
              <a:buNone/>
            </a:pPr>
            <a:r>
              <a:rPr lang="en-US" sz="1600" b="1" dirty="0">
                <a:solidFill>
                  <a:srgbClr val="0086CA"/>
                </a:solidFill>
                <a:latin typeface="Tahoma" pitchFamily="34" charset="0"/>
                <a:ea typeface="Tahoma" pitchFamily="34" charset="-122"/>
                <a:cs typeface="Tahoma" pitchFamily="34" charset="-120"/>
              </a:rPr>
              <a:t>N</a:t>
            </a:r>
            <a:endParaRPr lang="en-US" sz="1600" dirty="0"/>
          </a:p>
        </p:txBody>
      </p:sp>
      <p:sp>
        <p:nvSpPr>
          <p:cNvPr id="13" name="Shape 11"/>
          <p:cNvSpPr/>
          <p:nvPr/>
        </p:nvSpPr>
        <p:spPr>
          <a:xfrm>
            <a:off x="6345936" y="2606040"/>
            <a:ext cx="109728" cy="548640"/>
          </a:xfrm>
          <a:prstGeom prst="rect">
            <a:avLst/>
          </a:prstGeom>
          <a:solidFill>
            <a:srgbClr val="D95F0E"/>
          </a:solidFill>
          <a:ln w="12700">
            <a:solidFill>
              <a:srgbClr val="D95F0E"/>
            </a:solidFill>
            <a:prstDash val="solid"/>
          </a:ln>
        </p:spPr>
      </p:sp>
      <p:sp>
        <p:nvSpPr>
          <p:cNvPr id="14" name="Text 12"/>
          <p:cNvSpPr txBox="1"/>
          <p:nvPr/>
        </p:nvSpPr>
        <p:spPr>
          <a:xfrm>
            <a:off x="6172200" y="2240280"/>
            <a:ext cx="457200" cy="320040"/>
          </a:xfrm>
          <a:prstGeom prst="rect">
            <a:avLst/>
          </a:prstGeom>
          <a:noFill/>
          <a:ln/>
        </p:spPr>
        <p:txBody>
          <a:bodyPr wrap="square" lIns="508" tIns="508" rIns="508" bIns="508" rtlCol="0" anchor="t"/>
          <a:lstStyle/>
          <a:p>
            <a:pPr algn="ctr" indent="0" marL="0">
              <a:buNone/>
            </a:pPr>
            <a:r>
              <a:rPr lang="en-US" sz="1600" b="1" dirty="0">
                <a:solidFill>
                  <a:srgbClr val="D95F0E"/>
                </a:solidFill>
                <a:latin typeface="Tahoma" pitchFamily="34" charset="0"/>
                <a:ea typeface="Tahoma" pitchFamily="34" charset="-122"/>
                <a:cs typeface="Tahoma" pitchFamily="34" charset="-120"/>
              </a:rPr>
              <a:t>B</a:t>
            </a:r>
            <a:endParaRPr lang="en-US" sz="1600" dirty="0"/>
          </a:p>
        </p:txBody>
      </p:sp>
      <p:sp>
        <p:nvSpPr>
          <p:cNvPr id="15" name="Shape 13"/>
          <p:cNvSpPr/>
          <p:nvPr/>
        </p:nvSpPr>
        <p:spPr>
          <a:xfrm>
            <a:off x="1280160" y="1371600"/>
            <a:ext cx="914" cy="868680"/>
          </a:xfrm>
          <a:prstGeom prst="line">
            <a:avLst/>
          </a:prstGeom>
          <a:noFill/>
          <a:ln w="25400">
            <a:solidFill>
              <a:srgbClr val="D95F0E"/>
            </a:solidFill>
            <a:prstDash val="solid"/>
          </a:ln>
        </p:spPr>
      </p:sp>
      <p:sp>
        <p:nvSpPr>
          <p:cNvPr id="16" name="Shape 14"/>
          <p:cNvSpPr/>
          <p:nvPr/>
        </p:nvSpPr>
        <p:spPr>
          <a:xfrm>
            <a:off x="1280160" y="1371600"/>
            <a:ext cx="1645920" cy="914"/>
          </a:xfrm>
          <a:prstGeom prst="line">
            <a:avLst/>
          </a:prstGeom>
          <a:noFill/>
          <a:ln w="25400">
            <a:solidFill>
              <a:srgbClr val="D95F0E"/>
            </a:solidFill>
            <a:prstDash val="solid"/>
          </a:ln>
        </p:spPr>
      </p:sp>
      <p:sp>
        <p:nvSpPr>
          <p:cNvPr id="17" name="Shape 15"/>
          <p:cNvSpPr/>
          <p:nvPr/>
        </p:nvSpPr>
        <p:spPr>
          <a:xfrm>
            <a:off x="6400800" y="1371600"/>
            <a:ext cx="914" cy="868680"/>
          </a:xfrm>
          <a:prstGeom prst="line">
            <a:avLst/>
          </a:prstGeom>
          <a:noFill/>
          <a:ln w="25400">
            <a:solidFill>
              <a:srgbClr val="D95F0E"/>
            </a:solidFill>
            <a:prstDash val="solid"/>
          </a:ln>
        </p:spPr>
      </p:sp>
      <p:sp>
        <p:nvSpPr>
          <p:cNvPr id="18" name="Shape 16"/>
          <p:cNvSpPr/>
          <p:nvPr/>
        </p:nvSpPr>
        <p:spPr>
          <a:xfrm>
            <a:off x="4754880" y="1371600"/>
            <a:ext cx="1645920" cy="914"/>
          </a:xfrm>
          <a:prstGeom prst="line">
            <a:avLst/>
          </a:prstGeom>
          <a:noFill/>
          <a:ln w="25400">
            <a:solidFill>
              <a:srgbClr val="D95F0E"/>
            </a:solidFill>
            <a:prstDash val="solid"/>
          </a:ln>
        </p:spPr>
      </p:sp>
      <p:sp>
        <p:nvSpPr>
          <p:cNvPr id="19" name="Shape 17"/>
          <p:cNvSpPr/>
          <p:nvPr/>
        </p:nvSpPr>
        <p:spPr>
          <a:xfrm>
            <a:off x="3017520" y="1645920"/>
            <a:ext cx="914" cy="594360"/>
          </a:xfrm>
          <a:prstGeom prst="line">
            <a:avLst/>
          </a:prstGeom>
          <a:noFill/>
          <a:ln w="25400">
            <a:solidFill>
              <a:srgbClr val="0086CA"/>
            </a:solidFill>
            <a:prstDash val="solid"/>
          </a:ln>
        </p:spPr>
      </p:sp>
      <p:sp>
        <p:nvSpPr>
          <p:cNvPr id="20" name="Shape 18"/>
          <p:cNvSpPr/>
          <p:nvPr/>
        </p:nvSpPr>
        <p:spPr>
          <a:xfrm>
            <a:off x="4663440" y="1645920"/>
            <a:ext cx="914" cy="594360"/>
          </a:xfrm>
          <a:prstGeom prst="line">
            <a:avLst/>
          </a:prstGeom>
          <a:noFill/>
          <a:ln w="25400">
            <a:solidFill>
              <a:srgbClr val="0086CA"/>
            </a:solidFill>
            <a:prstDash val="solid"/>
          </a:ln>
        </p:spPr>
      </p:sp>
      <p:sp>
        <p:nvSpPr>
          <p:cNvPr id="21" name="Shape 19"/>
          <p:cNvSpPr/>
          <p:nvPr/>
        </p:nvSpPr>
        <p:spPr>
          <a:xfrm flipV="1">
            <a:off x="6378896" y="2743200"/>
            <a:ext cx="21904" cy="95483"/>
          </a:xfrm>
          <a:prstGeom prst="line">
            <a:avLst/>
          </a:prstGeom>
          <a:noFill/>
          <a:ln w="15875">
            <a:solidFill>
              <a:srgbClr val="D95F0E"/>
            </a:solidFill>
            <a:prstDash val="solid"/>
          </a:ln>
        </p:spPr>
      </p:sp>
      <p:sp>
        <p:nvSpPr>
          <p:cNvPr id="22" name="Shape 20"/>
          <p:cNvSpPr/>
          <p:nvPr/>
        </p:nvSpPr>
        <p:spPr>
          <a:xfrm flipV="1">
            <a:off x="6313559" y="2838683"/>
            <a:ext cx="65337" cy="93849"/>
          </a:xfrm>
          <a:prstGeom prst="line">
            <a:avLst/>
          </a:prstGeom>
          <a:noFill/>
          <a:ln w="15875">
            <a:solidFill>
              <a:srgbClr val="D95F0E"/>
            </a:solidFill>
            <a:prstDash val="solid"/>
          </a:ln>
        </p:spPr>
      </p:sp>
      <p:sp>
        <p:nvSpPr>
          <p:cNvPr id="23" name="Shape 21"/>
          <p:cNvSpPr/>
          <p:nvPr/>
        </p:nvSpPr>
        <p:spPr>
          <a:xfrm flipV="1">
            <a:off x="6205907" y="2932531"/>
            <a:ext cx="107652" cy="90609"/>
          </a:xfrm>
          <a:prstGeom prst="line">
            <a:avLst/>
          </a:prstGeom>
          <a:noFill/>
          <a:ln w="15875">
            <a:solidFill>
              <a:srgbClr val="D95F0E"/>
            </a:solidFill>
            <a:prstDash val="solid"/>
          </a:ln>
        </p:spPr>
      </p:sp>
      <p:sp>
        <p:nvSpPr>
          <p:cNvPr id="24" name="Shape 22"/>
          <p:cNvSpPr/>
          <p:nvPr/>
        </p:nvSpPr>
        <p:spPr>
          <a:xfrm flipV="1">
            <a:off x="6057782" y="3023141"/>
            <a:ext cx="148125" cy="85819"/>
          </a:xfrm>
          <a:prstGeom prst="line">
            <a:avLst/>
          </a:prstGeom>
          <a:noFill/>
          <a:ln w="15875">
            <a:solidFill>
              <a:srgbClr val="D95F0E"/>
            </a:solidFill>
            <a:prstDash val="solid"/>
          </a:ln>
        </p:spPr>
      </p:sp>
      <p:sp>
        <p:nvSpPr>
          <p:cNvPr id="25" name="Shape 23"/>
          <p:cNvSpPr/>
          <p:nvPr/>
        </p:nvSpPr>
        <p:spPr>
          <a:xfrm flipV="1">
            <a:off x="5871718" y="3108960"/>
            <a:ext cx="186064" cy="79561"/>
          </a:xfrm>
          <a:prstGeom prst="line">
            <a:avLst/>
          </a:prstGeom>
          <a:noFill/>
          <a:ln w="15875">
            <a:solidFill>
              <a:srgbClr val="D95F0E"/>
            </a:solidFill>
            <a:prstDash val="solid"/>
          </a:ln>
        </p:spPr>
      </p:sp>
      <p:sp>
        <p:nvSpPr>
          <p:cNvPr id="26" name="Shape 24"/>
          <p:cNvSpPr/>
          <p:nvPr/>
        </p:nvSpPr>
        <p:spPr>
          <a:xfrm flipV="1">
            <a:off x="5650900" y="3188521"/>
            <a:ext cx="220819" cy="71942"/>
          </a:xfrm>
          <a:prstGeom prst="line">
            <a:avLst/>
          </a:prstGeom>
          <a:noFill/>
          <a:ln w="15875">
            <a:solidFill>
              <a:srgbClr val="D95F0E"/>
            </a:solidFill>
            <a:prstDash val="solid"/>
          </a:ln>
        </p:spPr>
      </p:sp>
      <p:sp>
        <p:nvSpPr>
          <p:cNvPr id="27" name="Shape 25"/>
          <p:cNvSpPr/>
          <p:nvPr/>
        </p:nvSpPr>
        <p:spPr>
          <a:xfrm flipV="1">
            <a:off x="5399104" y="3260463"/>
            <a:ext cx="251796" cy="63091"/>
          </a:xfrm>
          <a:prstGeom prst="line">
            <a:avLst/>
          </a:prstGeom>
          <a:noFill/>
          <a:ln w="15875">
            <a:solidFill>
              <a:srgbClr val="D95F0E"/>
            </a:solidFill>
            <a:prstDash val="solid"/>
          </a:ln>
        </p:spPr>
      </p:sp>
      <p:sp>
        <p:nvSpPr>
          <p:cNvPr id="28" name="Shape 26"/>
          <p:cNvSpPr/>
          <p:nvPr/>
        </p:nvSpPr>
        <p:spPr>
          <a:xfrm flipV="1">
            <a:off x="5120640" y="3323554"/>
            <a:ext cx="278464" cy="53161"/>
          </a:xfrm>
          <a:prstGeom prst="line">
            <a:avLst/>
          </a:prstGeom>
          <a:noFill/>
          <a:ln w="15875">
            <a:solidFill>
              <a:srgbClr val="D95F0E"/>
            </a:solidFill>
            <a:prstDash val="solid"/>
          </a:ln>
        </p:spPr>
      </p:sp>
      <p:sp>
        <p:nvSpPr>
          <p:cNvPr id="29" name="Shape 27"/>
          <p:cNvSpPr/>
          <p:nvPr/>
        </p:nvSpPr>
        <p:spPr>
          <a:xfrm flipV="1">
            <a:off x="4820272" y="3376715"/>
            <a:ext cx="300368" cy="42321"/>
          </a:xfrm>
          <a:prstGeom prst="line">
            <a:avLst/>
          </a:prstGeom>
          <a:noFill/>
          <a:ln w="15875">
            <a:solidFill>
              <a:srgbClr val="D95F0E"/>
            </a:solidFill>
            <a:prstDash val="solid"/>
          </a:ln>
        </p:spPr>
      </p:sp>
      <p:sp>
        <p:nvSpPr>
          <p:cNvPr id="30" name="Shape 28"/>
          <p:cNvSpPr/>
          <p:nvPr/>
        </p:nvSpPr>
        <p:spPr>
          <a:xfrm flipV="1">
            <a:off x="4503140" y="3419036"/>
            <a:ext cx="317132" cy="30758"/>
          </a:xfrm>
          <a:prstGeom prst="line">
            <a:avLst/>
          </a:prstGeom>
          <a:noFill/>
          <a:ln w="15875">
            <a:solidFill>
              <a:srgbClr val="D95F0E"/>
            </a:solidFill>
            <a:prstDash val="solid"/>
          </a:ln>
        </p:spPr>
      </p:sp>
      <p:sp>
        <p:nvSpPr>
          <p:cNvPr id="31" name="Shape 29"/>
          <p:cNvSpPr/>
          <p:nvPr/>
        </p:nvSpPr>
        <p:spPr>
          <a:xfrm flipV="1">
            <a:off x="4174669" y="3449794"/>
            <a:ext cx="328471" cy="18668"/>
          </a:xfrm>
          <a:prstGeom prst="line">
            <a:avLst/>
          </a:prstGeom>
          <a:noFill/>
          <a:ln w="15875">
            <a:solidFill>
              <a:srgbClr val="D95F0E"/>
            </a:solidFill>
            <a:prstDash val="solid"/>
          </a:ln>
        </p:spPr>
      </p:sp>
      <p:sp>
        <p:nvSpPr>
          <p:cNvPr id="32" name="Shape 30"/>
          <p:cNvSpPr/>
          <p:nvPr/>
        </p:nvSpPr>
        <p:spPr>
          <a:xfrm flipV="1">
            <a:off x="3840480" y="3468462"/>
            <a:ext cx="334189" cy="6258"/>
          </a:xfrm>
          <a:prstGeom prst="line">
            <a:avLst/>
          </a:prstGeom>
          <a:noFill/>
          <a:ln w="15875">
            <a:solidFill>
              <a:srgbClr val="D95F0E"/>
            </a:solidFill>
            <a:prstDash val="solid"/>
          </a:ln>
        </p:spPr>
      </p:sp>
      <p:sp>
        <p:nvSpPr>
          <p:cNvPr id="33" name="Shape 31"/>
          <p:cNvSpPr/>
          <p:nvPr/>
        </p:nvSpPr>
        <p:spPr>
          <a:xfrm>
            <a:off x="3506291" y="3468462"/>
            <a:ext cx="334189" cy="6258"/>
          </a:xfrm>
          <a:prstGeom prst="line">
            <a:avLst/>
          </a:prstGeom>
          <a:noFill/>
          <a:ln w="15875">
            <a:solidFill>
              <a:srgbClr val="D95F0E"/>
            </a:solidFill>
            <a:prstDash val="solid"/>
          </a:ln>
        </p:spPr>
      </p:sp>
      <p:sp>
        <p:nvSpPr>
          <p:cNvPr id="34" name="Shape 32"/>
          <p:cNvSpPr/>
          <p:nvPr/>
        </p:nvSpPr>
        <p:spPr>
          <a:xfrm>
            <a:off x="3177820" y="3449794"/>
            <a:ext cx="328471" cy="18668"/>
          </a:xfrm>
          <a:prstGeom prst="line">
            <a:avLst/>
          </a:prstGeom>
          <a:noFill/>
          <a:ln w="15875">
            <a:solidFill>
              <a:srgbClr val="D95F0E"/>
            </a:solidFill>
            <a:prstDash val="solid"/>
          </a:ln>
        </p:spPr>
      </p:sp>
      <p:sp>
        <p:nvSpPr>
          <p:cNvPr id="35" name="Shape 33"/>
          <p:cNvSpPr/>
          <p:nvPr/>
        </p:nvSpPr>
        <p:spPr>
          <a:xfrm>
            <a:off x="2860688" y="3419036"/>
            <a:ext cx="317132" cy="30758"/>
          </a:xfrm>
          <a:prstGeom prst="line">
            <a:avLst/>
          </a:prstGeom>
          <a:noFill/>
          <a:ln w="15875">
            <a:solidFill>
              <a:srgbClr val="D95F0E"/>
            </a:solidFill>
            <a:prstDash val="solid"/>
          </a:ln>
        </p:spPr>
      </p:sp>
      <p:sp>
        <p:nvSpPr>
          <p:cNvPr id="36" name="Shape 34"/>
          <p:cNvSpPr/>
          <p:nvPr/>
        </p:nvSpPr>
        <p:spPr>
          <a:xfrm>
            <a:off x="2560320" y="3376715"/>
            <a:ext cx="300368" cy="42321"/>
          </a:xfrm>
          <a:prstGeom prst="line">
            <a:avLst/>
          </a:prstGeom>
          <a:noFill/>
          <a:ln w="15875">
            <a:solidFill>
              <a:srgbClr val="D95F0E"/>
            </a:solidFill>
            <a:prstDash val="solid"/>
          </a:ln>
        </p:spPr>
      </p:sp>
      <p:sp>
        <p:nvSpPr>
          <p:cNvPr id="37" name="Shape 35"/>
          <p:cNvSpPr/>
          <p:nvPr/>
        </p:nvSpPr>
        <p:spPr>
          <a:xfrm>
            <a:off x="2281856" y="3323554"/>
            <a:ext cx="278464" cy="53161"/>
          </a:xfrm>
          <a:prstGeom prst="line">
            <a:avLst/>
          </a:prstGeom>
          <a:noFill/>
          <a:ln w="15875">
            <a:solidFill>
              <a:srgbClr val="D95F0E"/>
            </a:solidFill>
            <a:prstDash val="solid"/>
          </a:ln>
        </p:spPr>
      </p:sp>
      <p:sp>
        <p:nvSpPr>
          <p:cNvPr id="38" name="Shape 36"/>
          <p:cNvSpPr/>
          <p:nvPr/>
        </p:nvSpPr>
        <p:spPr>
          <a:xfrm>
            <a:off x="2030060" y="3260463"/>
            <a:ext cx="251796" cy="63091"/>
          </a:xfrm>
          <a:prstGeom prst="line">
            <a:avLst/>
          </a:prstGeom>
          <a:noFill/>
          <a:ln w="15875">
            <a:solidFill>
              <a:srgbClr val="D95F0E"/>
            </a:solidFill>
            <a:prstDash val="solid"/>
          </a:ln>
        </p:spPr>
      </p:sp>
      <p:sp>
        <p:nvSpPr>
          <p:cNvPr id="39" name="Shape 37"/>
          <p:cNvSpPr/>
          <p:nvPr/>
        </p:nvSpPr>
        <p:spPr>
          <a:xfrm>
            <a:off x="1809242" y="3188521"/>
            <a:ext cx="220819" cy="71942"/>
          </a:xfrm>
          <a:prstGeom prst="line">
            <a:avLst/>
          </a:prstGeom>
          <a:noFill/>
          <a:ln w="15875">
            <a:solidFill>
              <a:srgbClr val="D95F0E"/>
            </a:solidFill>
            <a:prstDash val="solid"/>
          </a:ln>
        </p:spPr>
      </p:sp>
      <p:sp>
        <p:nvSpPr>
          <p:cNvPr id="40" name="Shape 38"/>
          <p:cNvSpPr/>
          <p:nvPr/>
        </p:nvSpPr>
        <p:spPr>
          <a:xfrm>
            <a:off x="1623178" y="3108960"/>
            <a:ext cx="186064" cy="79561"/>
          </a:xfrm>
          <a:prstGeom prst="line">
            <a:avLst/>
          </a:prstGeom>
          <a:noFill/>
          <a:ln w="15875">
            <a:solidFill>
              <a:srgbClr val="D95F0E"/>
            </a:solidFill>
            <a:prstDash val="solid"/>
          </a:ln>
        </p:spPr>
      </p:sp>
      <p:sp>
        <p:nvSpPr>
          <p:cNvPr id="41" name="Shape 39"/>
          <p:cNvSpPr/>
          <p:nvPr/>
        </p:nvSpPr>
        <p:spPr>
          <a:xfrm>
            <a:off x="1475053" y="3023141"/>
            <a:ext cx="148125" cy="85819"/>
          </a:xfrm>
          <a:prstGeom prst="line">
            <a:avLst/>
          </a:prstGeom>
          <a:noFill/>
          <a:ln w="15875">
            <a:solidFill>
              <a:srgbClr val="D95F0E"/>
            </a:solidFill>
            <a:prstDash val="solid"/>
          </a:ln>
        </p:spPr>
      </p:sp>
      <p:sp>
        <p:nvSpPr>
          <p:cNvPr id="42" name="Shape 40"/>
          <p:cNvSpPr/>
          <p:nvPr/>
        </p:nvSpPr>
        <p:spPr>
          <a:xfrm>
            <a:off x="1367401" y="2932531"/>
            <a:ext cx="107652" cy="90609"/>
          </a:xfrm>
          <a:prstGeom prst="line">
            <a:avLst/>
          </a:prstGeom>
          <a:noFill/>
          <a:ln w="15875">
            <a:solidFill>
              <a:srgbClr val="D95F0E"/>
            </a:solidFill>
            <a:prstDash val="solid"/>
          </a:ln>
        </p:spPr>
      </p:sp>
      <p:sp>
        <p:nvSpPr>
          <p:cNvPr id="43" name="Shape 41"/>
          <p:cNvSpPr/>
          <p:nvPr/>
        </p:nvSpPr>
        <p:spPr>
          <a:xfrm>
            <a:off x="1302064" y="2838683"/>
            <a:ext cx="65337" cy="93849"/>
          </a:xfrm>
          <a:prstGeom prst="line">
            <a:avLst/>
          </a:prstGeom>
          <a:noFill/>
          <a:ln w="15875">
            <a:solidFill>
              <a:srgbClr val="D95F0E"/>
            </a:solidFill>
            <a:prstDash val="solid"/>
          </a:ln>
        </p:spPr>
      </p:sp>
      <p:sp>
        <p:nvSpPr>
          <p:cNvPr id="44" name="Shape 42"/>
          <p:cNvSpPr/>
          <p:nvPr/>
        </p:nvSpPr>
        <p:spPr>
          <a:xfrm>
            <a:off x="1280160" y="2743200"/>
            <a:ext cx="21904" cy="95483"/>
          </a:xfrm>
          <a:prstGeom prst="line">
            <a:avLst/>
          </a:prstGeom>
          <a:noFill/>
          <a:ln w="15875">
            <a:solidFill>
              <a:srgbClr val="D95F0E"/>
            </a:solidFill>
            <a:prstDash val="solid"/>
          </a:ln>
        </p:spPr>
      </p:sp>
      <p:sp>
        <p:nvSpPr>
          <p:cNvPr id="45" name="Shape 43"/>
          <p:cNvSpPr/>
          <p:nvPr/>
        </p:nvSpPr>
        <p:spPr>
          <a:xfrm flipV="1">
            <a:off x="6378896" y="2743200"/>
            <a:ext cx="21904" cy="179030"/>
          </a:xfrm>
          <a:prstGeom prst="line">
            <a:avLst/>
          </a:prstGeom>
          <a:noFill/>
          <a:ln w="15875">
            <a:solidFill>
              <a:srgbClr val="D95F0E"/>
            </a:solidFill>
            <a:prstDash val="dash"/>
          </a:ln>
        </p:spPr>
      </p:sp>
      <p:sp>
        <p:nvSpPr>
          <p:cNvPr id="46" name="Shape 44"/>
          <p:cNvSpPr/>
          <p:nvPr/>
        </p:nvSpPr>
        <p:spPr>
          <a:xfrm flipV="1">
            <a:off x="6313559" y="2922230"/>
            <a:ext cx="65337" cy="175966"/>
          </a:xfrm>
          <a:prstGeom prst="line">
            <a:avLst/>
          </a:prstGeom>
          <a:noFill/>
          <a:ln w="15875">
            <a:solidFill>
              <a:srgbClr val="D95F0E"/>
            </a:solidFill>
            <a:prstDash val="dash"/>
          </a:ln>
        </p:spPr>
      </p:sp>
      <p:sp>
        <p:nvSpPr>
          <p:cNvPr id="47" name="Shape 45"/>
          <p:cNvSpPr/>
          <p:nvPr/>
        </p:nvSpPr>
        <p:spPr>
          <a:xfrm flipV="1">
            <a:off x="6205907" y="3098196"/>
            <a:ext cx="107652" cy="169892"/>
          </a:xfrm>
          <a:prstGeom prst="line">
            <a:avLst/>
          </a:prstGeom>
          <a:noFill/>
          <a:ln w="15875">
            <a:solidFill>
              <a:srgbClr val="D95F0E"/>
            </a:solidFill>
            <a:prstDash val="dash"/>
          </a:ln>
        </p:spPr>
      </p:sp>
      <p:sp>
        <p:nvSpPr>
          <p:cNvPr id="48" name="Shape 46"/>
          <p:cNvSpPr/>
          <p:nvPr/>
        </p:nvSpPr>
        <p:spPr>
          <a:xfrm flipV="1">
            <a:off x="6057782" y="3268089"/>
            <a:ext cx="148125" cy="160911"/>
          </a:xfrm>
          <a:prstGeom prst="line">
            <a:avLst/>
          </a:prstGeom>
          <a:noFill/>
          <a:ln w="15875">
            <a:solidFill>
              <a:srgbClr val="D95F0E"/>
            </a:solidFill>
            <a:prstDash val="dash"/>
          </a:ln>
        </p:spPr>
      </p:sp>
      <p:sp>
        <p:nvSpPr>
          <p:cNvPr id="49" name="Shape 47"/>
          <p:cNvSpPr/>
          <p:nvPr/>
        </p:nvSpPr>
        <p:spPr>
          <a:xfrm flipV="1">
            <a:off x="5871718" y="3429000"/>
            <a:ext cx="186064" cy="149177"/>
          </a:xfrm>
          <a:prstGeom prst="line">
            <a:avLst/>
          </a:prstGeom>
          <a:noFill/>
          <a:ln w="15875">
            <a:solidFill>
              <a:srgbClr val="D95F0E"/>
            </a:solidFill>
            <a:prstDash val="dash"/>
          </a:ln>
        </p:spPr>
      </p:sp>
      <p:sp>
        <p:nvSpPr>
          <p:cNvPr id="50" name="Shape 48"/>
          <p:cNvSpPr/>
          <p:nvPr/>
        </p:nvSpPr>
        <p:spPr>
          <a:xfrm flipV="1">
            <a:off x="5650900" y="3578177"/>
            <a:ext cx="220819" cy="134890"/>
          </a:xfrm>
          <a:prstGeom prst="line">
            <a:avLst/>
          </a:prstGeom>
          <a:noFill/>
          <a:ln w="15875">
            <a:solidFill>
              <a:srgbClr val="D95F0E"/>
            </a:solidFill>
            <a:prstDash val="dash"/>
          </a:ln>
        </p:spPr>
      </p:sp>
      <p:sp>
        <p:nvSpPr>
          <p:cNvPr id="51" name="Shape 49"/>
          <p:cNvSpPr/>
          <p:nvPr/>
        </p:nvSpPr>
        <p:spPr>
          <a:xfrm flipV="1">
            <a:off x="5399104" y="3713068"/>
            <a:ext cx="251796" cy="118296"/>
          </a:xfrm>
          <a:prstGeom prst="line">
            <a:avLst/>
          </a:prstGeom>
          <a:noFill/>
          <a:ln w="15875">
            <a:solidFill>
              <a:srgbClr val="D95F0E"/>
            </a:solidFill>
            <a:prstDash val="dash"/>
          </a:ln>
        </p:spPr>
      </p:sp>
      <p:sp>
        <p:nvSpPr>
          <p:cNvPr id="52" name="Shape 50"/>
          <p:cNvSpPr/>
          <p:nvPr/>
        </p:nvSpPr>
        <p:spPr>
          <a:xfrm flipV="1">
            <a:off x="5120640" y="3831363"/>
            <a:ext cx="278464" cy="99677"/>
          </a:xfrm>
          <a:prstGeom prst="line">
            <a:avLst/>
          </a:prstGeom>
          <a:noFill/>
          <a:ln w="15875">
            <a:solidFill>
              <a:srgbClr val="D95F0E"/>
            </a:solidFill>
            <a:prstDash val="dash"/>
          </a:ln>
        </p:spPr>
      </p:sp>
      <p:sp>
        <p:nvSpPr>
          <p:cNvPr id="53" name="Shape 51"/>
          <p:cNvSpPr/>
          <p:nvPr/>
        </p:nvSpPr>
        <p:spPr>
          <a:xfrm flipV="1">
            <a:off x="4820272" y="3931040"/>
            <a:ext cx="300368" cy="79353"/>
          </a:xfrm>
          <a:prstGeom prst="line">
            <a:avLst/>
          </a:prstGeom>
          <a:noFill/>
          <a:ln w="15875">
            <a:solidFill>
              <a:srgbClr val="D95F0E"/>
            </a:solidFill>
            <a:prstDash val="dash"/>
          </a:ln>
        </p:spPr>
      </p:sp>
      <p:sp>
        <p:nvSpPr>
          <p:cNvPr id="54" name="Shape 52"/>
          <p:cNvSpPr/>
          <p:nvPr/>
        </p:nvSpPr>
        <p:spPr>
          <a:xfrm flipV="1">
            <a:off x="4503140" y="4010393"/>
            <a:ext cx="317132" cy="57671"/>
          </a:xfrm>
          <a:prstGeom prst="line">
            <a:avLst/>
          </a:prstGeom>
          <a:noFill/>
          <a:ln w="15875">
            <a:solidFill>
              <a:srgbClr val="D95F0E"/>
            </a:solidFill>
            <a:prstDash val="dash"/>
          </a:ln>
        </p:spPr>
      </p:sp>
      <p:sp>
        <p:nvSpPr>
          <p:cNvPr id="55" name="Shape 53"/>
          <p:cNvSpPr/>
          <p:nvPr/>
        </p:nvSpPr>
        <p:spPr>
          <a:xfrm flipV="1">
            <a:off x="4174669" y="4068064"/>
            <a:ext cx="328471" cy="35002"/>
          </a:xfrm>
          <a:prstGeom prst="line">
            <a:avLst/>
          </a:prstGeom>
          <a:noFill/>
          <a:ln w="15875">
            <a:solidFill>
              <a:srgbClr val="D95F0E"/>
            </a:solidFill>
            <a:prstDash val="dash"/>
          </a:ln>
        </p:spPr>
      </p:sp>
      <p:sp>
        <p:nvSpPr>
          <p:cNvPr id="56" name="Shape 54"/>
          <p:cNvSpPr/>
          <p:nvPr/>
        </p:nvSpPr>
        <p:spPr>
          <a:xfrm flipV="1">
            <a:off x="3840480" y="4103066"/>
            <a:ext cx="334189" cy="11734"/>
          </a:xfrm>
          <a:prstGeom prst="line">
            <a:avLst/>
          </a:prstGeom>
          <a:noFill/>
          <a:ln w="15875">
            <a:solidFill>
              <a:srgbClr val="D95F0E"/>
            </a:solidFill>
            <a:prstDash val="dash"/>
          </a:ln>
        </p:spPr>
      </p:sp>
      <p:sp>
        <p:nvSpPr>
          <p:cNvPr id="57" name="Shape 55"/>
          <p:cNvSpPr/>
          <p:nvPr/>
        </p:nvSpPr>
        <p:spPr>
          <a:xfrm>
            <a:off x="3506291" y="4103066"/>
            <a:ext cx="334189" cy="11734"/>
          </a:xfrm>
          <a:prstGeom prst="line">
            <a:avLst/>
          </a:prstGeom>
          <a:noFill/>
          <a:ln w="15875">
            <a:solidFill>
              <a:srgbClr val="D95F0E"/>
            </a:solidFill>
            <a:prstDash val="dash"/>
          </a:ln>
        </p:spPr>
      </p:sp>
      <p:sp>
        <p:nvSpPr>
          <p:cNvPr id="58" name="Shape 56"/>
          <p:cNvSpPr/>
          <p:nvPr/>
        </p:nvSpPr>
        <p:spPr>
          <a:xfrm>
            <a:off x="3177820" y="4068064"/>
            <a:ext cx="328471" cy="35002"/>
          </a:xfrm>
          <a:prstGeom prst="line">
            <a:avLst/>
          </a:prstGeom>
          <a:noFill/>
          <a:ln w="15875">
            <a:solidFill>
              <a:srgbClr val="D95F0E"/>
            </a:solidFill>
            <a:prstDash val="dash"/>
          </a:ln>
        </p:spPr>
      </p:sp>
      <p:sp>
        <p:nvSpPr>
          <p:cNvPr id="59" name="Shape 57"/>
          <p:cNvSpPr/>
          <p:nvPr/>
        </p:nvSpPr>
        <p:spPr>
          <a:xfrm>
            <a:off x="2860688" y="4010393"/>
            <a:ext cx="317132" cy="57671"/>
          </a:xfrm>
          <a:prstGeom prst="line">
            <a:avLst/>
          </a:prstGeom>
          <a:noFill/>
          <a:ln w="15875">
            <a:solidFill>
              <a:srgbClr val="D95F0E"/>
            </a:solidFill>
            <a:prstDash val="dash"/>
          </a:ln>
        </p:spPr>
      </p:sp>
      <p:sp>
        <p:nvSpPr>
          <p:cNvPr id="60" name="Shape 58"/>
          <p:cNvSpPr/>
          <p:nvPr/>
        </p:nvSpPr>
        <p:spPr>
          <a:xfrm>
            <a:off x="2560320" y="3931040"/>
            <a:ext cx="300368" cy="79353"/>
          </a:xfrm>
          <a:prstGeom prst="line">
            <a:avLst/>
          </a:prstGeom>
          <a:noFill/>
          <a:ln w="15875">
            <a:solidFill>
              <a:srgbClr val="D95F0E"/>
            </a:solidFill>
            <a:prstDash val="dash"/>
          </a:ln>
        </p:spPr>
      </p:sp>
      <p:sp>
        <p:nvSpPr>
          <p:cNvPr id="61" name="Shape 59"/>
          <p:cNvSpPr/>
          <p:nvPr/>
        </p:nvSpPr>
        <p:spPr>
          <a:xfrm>
            <a:off x="2281856" y="3831363"/>
            <a:ext cx="278464" cy="99677"/>
          </a:xfrm>
          <a:prstGeom prst="line">
            <a:avLst/>
          </a:prstGeom>
          <a:noFill/>
          <a:ln w="15875">
            <a:solidFill>
              <a:srgbClr val="D95F0E"/>
            </a:solidFill>
            <a:prstDash val="dash"/>
          </a:ln>
        </p:spPr>
      </p:sp>
      <p:sp>
        <p:nvSpPr>
          <p:cNvPr id="62" name="Shape 60"/>
          <p:cNvSpPr/>
          <p:nvPr/>
        </p:nvSpPr>
        <p:spPr>
          <a:xfrm>
            <a:off x="2030060" y="3713068"/>
            <a:ext cx="251796" cy="118296"/>
          </a:xfrm>
          <a:prstGeom prst="line">
            <a:avLst/>
          </a:prstGeom>
          <a:noFill/>
          <a:ln w="15875">
            <a:solidFill>
              <a:srgbClr val="D95F0E"/>
            </a:solidFill>
            <a:prstDash val="dash"/>
          </a:ln>
        </p:spPr>
      </p:sp>
      <p:sp>
        <p:nvSpPr>
          <p:cNvPr id="63" name="Shape 61"/>
          <p:cNvSpPr/>
          <p:nvPr/>
        </p:nvSpPr>
        <p:spPr>
          <a:xfrm>
            <a:off x="1809242" y="3578177"/>
            <a:ext cx="220819" cy="134890"/>
          </a:xfrm>
          <a:prstGeom prst="line">
            <a:avLst/>
          </a:prstGeom>
          <a:noFill/>
          <a:ln w="15875">
            <a:solidFill>
              <a:srgbClr val="D95F0E"/>
            </a:solidFill>
            <a:prstDash val="dash"/>
          </a:ln>
        </p:spPr>
      </p:sp>
      <p:sp>
        <p:nvSpPr>
          <p:cNvPr id="64" name="Shape 62"/>
          <p:cNvSpPr/>
          <p:nvPr/>
        </p:nvSpPr>
        <p:spPr>
          <a:xfrm>
            <a:off x="1623178" y="3429000"/>
            <a:ext cx="186064" cy="149177"/>
          </a:xfrm>
          <a:prstGeom prst="line">
            <a:avLst/>
          </a:prstGeom>
          <a:noFill/>
          <a:ln w="15875">
            <a:solidFill>
              <a:srgbClr val="D95F0E"/>
            </a:solidFill>
            <a:prstDash val="dash"/>
          </a:ln>
        </p:spPr>
      </p:sp>
      <p:sp>
        <p:nvSpPr>
          <p:cNvPr id="65" name="Shape 63"/>
          <p:cNvSpPr/>
          <p:nvPr/>
        </p:nvSpPr>
        <p:spPr>
          <a:xfrm>
            <a:off x="1475053" y="3268089"/>
            <a:ext cx="148125" cy="160911"/>
          </a:xfrm>
          <a:prstGeom prst="line">
            <a:avLst/>
          </a:prstGeom>
          <a:noFill/>
          <a:ln w="15875">
            <a:solidFill>
              <a:srgbClr val="D95F0E"/>
            </a:solidFill>
            <a:prstDash val="dash"/>
          </a:ln>
        </p:spPr>
      </p:sp>
      <p:sp>
        <p:nvSpPr>
          <p:cNvPr id="66" name="Shape 64"/>
          <p:cNvSpPr/>
          <p:nvPr/>
        </p:nvSpPr>
        <p:spPr>
          <a:xfrm>
            <a:off x="1367401" y="3098196"/>
            <a:ext cx="107652" cy="169892"/>
          </a:xfrm>
          <a:prstGeom prst="line">
            <a:avLst/>
          </a:prstGeom>
          <a:noFill/>
          <a:ln w="15875">
            <a:solidFill>
              <a:srgbClr val="D95F0E"/>
            </a:solidFill>
            <a:prstDash val="dash"/>
          </a:ln>
        </p:spPr>
      </p:sp>
      <p:sp>
        <p:nvSpPr>
          <p:cNvPr id="67" name="Shape 65"/>
          <p:cNvSpPr/>
          <p:nvPr/>
        </p:nvSpPr>
        <p:spPr>
          <a:xfrm>
            <a:off x="1302064" y="2922230"/>
            <a:ext cx="65337" cy="175966"/>
          </a:xfrm>
          <a:prstGeom prst="line">
            <a:avLst/>
          </a:prstGeom>
          <a:noFill/>
          <a:ln w="15875">
            <a:solidFill>
              <a:srgbClr val="D95F0E"/>
            </a:solidFill>
            <a:prstDash val="dash"/>
          </a:ln>
        </p:spPr>
      </p:sp>
      <p:sp>
        <p:nvSpPr>
          <p:cNvPr id="68" name="Shape 66"/>
          <p:cNvSpPr/>
          <p:nvPr/>
        </p:nvSpPr>
        <p:spPr>
          <a:xfrm>
            <a:off x="1280160" y="2743200"/>
            <a:ext cx="21904" cy="179030"/>
          </a:xfrm>
          <a:prstGeom prst="line">
            <a:avLst/>
          </a:prstGeom>
          <a:noFill/>
          <a:ln w="15875">
            <a:solidFill>
              <a:srgbClr val="D95F0E"/>
            </a:solidFill>
            <a:prstDash val="dash"/>
          </a:ln>
        </p:spPr>
      </p:sp>
      <p:sp>
        <p:nvSpPr>
          <p:cNvPr id="69" name="Shape 67"/>
          <p:cNvSpPr/>
          <p:nvPr/>
        </p:nvSpPr>
        <p:spPr>
          <a:xfrm flipV="1">
            <a:off x="6378896" y="2743200"/>
            <a:ext cx="21904" cy="262577"/>
          </a:xfrm>
          <a:prstGeom prst="line">
            <a:avLst/>
          </a:prstGeom>
          <a:noFill/>
          <a:ln w="15875">
            <a:solidFill>
              <a:srgbClr val="D95F0E"/>
            </a:solidFill>
            <a:prstDash val="dash"/>
          </a:ln>
        </p:spPr>
      </p:sp>
      <p:sp>
        <p:nvSpPr>
          <p:cNvPr id="70" name="Shape 68"/>
          <p:cNvSpPr/>
          <p:nvPr/>
        </p:nvSpPr>
        <p:spPr>
          <a:xfrm flipV="1">
            <a:off x="6313559" y="3005777"/>
            <a:ext cx="65337" cy="258084"/>
          </a:xfrm>
          <a:prstGeom prst="line">
            <a:avLst/>
          </a:prstGeom>
          <a:noFill/>
          <a:ln w="15875">
            <a:solidFill>
              <a:srgbClr val="D95F0E"/>
            </a:solidFill>
            <a:prstDash val="dash"/>
          </a:ln>
        </p:spPr>
      </p:sp>
      <p:sp>
        <p:nvSpPr>
          <p:cNvPr id="71" name="Shape 69"/>
          <p:cNvSpPr/>
          <p:nvPr/>
        </p:nvSpPr>
        <p:spPr>
          <a:xfrm flipV="1">
            <a:off x="6205907" y="3263861"/>
            <a:ext cx="107652" cy="249176"/>
          </a:xfrm>
          <a:prstGeom prst="line">
            <a:avLst/>
          </a:prstGeom>
          <a:noFill/>
          <a:ln w="15875">
            <a:solidFill>
              <a:srgbClr val="D95F0E"/>
            </a:solidFill>
            <a:prstDash val="dash"/>
          </a:ln>
        </p:spPr>
      </p:sp>
      <p:sp>
        <p:nvSpPr>
          <p:cNvPr id="72" name="Shape 70"/>
          <p:cNvSpPr/>
          <p:nvPr/>
        </p:nvSpPr>
        <p:spPr>
          <a:xfrm flipV="1">
            <a:off x="6057782" y="3513037"/>
            <a:ext cx="148125" cy="236003"/>
          </a:xfrm>
          <a:prstGeom prst="line">
            <a:avLst/>
          </a:prstGeom>
          <a:noFill/>
          <a:ln w="15875">
            <a:solidFill>
              <a:srgbClr val="D95F0E"/>
            </a:solidFill>
            <a:prstDash val="dash"/>
          </a:ln>
        </p:spPr>
      </p:sp>
      <p:sp>
        <p:nvSpPr>
          <p:cNvPr id="73" name="Shape 71"/>
          <p:cNvSpPr/>
          <p:nvPr/>
        </p:nvSpPr>
        <p:spPr>
          <a:xfrm flipV="1">
            <a:off x="5871718" y="3749040"/>
            <a:ext cx="186064" cy="218793"/>
          </a:xfrm>
          <a:prstGeom prst="line">
            <a:avLst/>
          </a:prstGeom>
          <a:noFill/>
          <a:ln w="15875">
            <a:solidFill>
              <a:srgbClr val="D95F0E"/>
            </a:solidFill>
            <a:prstDash val="dash"/>
          </a:ln>
        </p:spPr>
      </p:sp>
      <p:sp>
        <p:nvSpPr>
          <p:cNvPr id="74" name="Shape 72"/>
          <p:cNvSpPr/>
          <p:nvPr/>
        </p:nvSpPr>
        <p:spPr>
          <a:xfrm flipV="1">
            <a:off x="5650900" y="3967833"/>
            <a:ext cx="220819" cy="197839"/>
          </a:xfrm>
          <a:prstGeom prst="line">
            <a:avLst/>
          </a:prstGeom>
          <a:noFill/>
          <a:ln w="15875">
            <a:solidFill>
              <a:srgbClr val="D95F0E"/>
            </a:solidFill>
            <a:prstDash val="dash"/>
          </a:ln>
        </p:spPr>
      </p:sp>
      <p:sp>
        <p:nvSpPr>
          <p:cNvPr id="75" name="Shape 73"/>
          <p:cNvSpPr/>
          <p:nvPr/>
        </p:nvSpPr>
        <p:spPr>
          <a:xfrm flipV="1">
            <a:off x="5399104" y="4165673"/>
            <a:ext cx="251796" cy="173500"/>
          </a:xfrm>
          <a:prstGeom prst="line">
            <a:avLst/>
          </a:prstGeom>
          <a:noFill/>
          <a:ln w="15875">
            <a:solidFill>
              <a:srgbClr val="D95F0E"/>
            </a:solidFill>
            <a:prstDash val="dash"/>
          </a:ln>
        </p:spPr>
      </p:sp>
      <p:sp>
        <p:nvSpPr>
          <p:cNvPr id="76" name="Shape 74"/>
          <p:cNvSpPr/>
          <p:nvPr/>
        </p:nvSpPr>
        <p:spPr>
          <a:xfrm flipV="1">
            <a:off x="5120640" y="4339173"/>
            <a:ext cx="278464" cy="146193"/>
          </a:xfrm>
          <a:prstGeom prst="line">
            <a:avLst/>
          </a:prstGeom>
          <a:noFill/>
          <a:ln w="15875">
            <a:solidFill>
              <a:srgbClr val="D95F0E"/>
            </a:solidFill>
            <a:prstDash val="dash"/>
          </a:ln>
        </p:spPr>
      </p:sp>
      <p:sp>
        <p:nvSpPr>
          <p:cNvPr id="77" name="Shape 75"/>
          <p:cNvSpPr/>
          <p:nvPr/>
        </p:nvSpPr>
        <p:spPr>
          <a:xfrm flipV="1">
            <a:off x="4820272" y="4485366"/>
            <a:ext cx="300368" cy="116384"/>
          </a:xfrm>
          <a:prstGeom prst="line">
            <a:avLst/>
          </a:prstGeom>
          <a:noFill/>
          <a:ln w="15875">
            <a:solidFill>
              <a:srgbClr val="D95F0E"/>
            </a:solidFill>
            <a:prstDash val="dash"/>
          </a:ln>
        </p:spPr>
      </p:sp>
      <p:sp>
        <p:nvSpPr>
          <p:cNvPr id="78" name="Shape 76"/>
          <p:cNvSpPr/>
          <p:nvPr/>
        </p:nvSpPr>
        <p:spPr>
          <a:xfrm flipV="1">
            <a:off x="4503140" y="4601750"/>
            <a:ext cx="317132" cy="84584"/>
          </a:xfrm>
          <a:prstGeom prst="line">
            <a:avLst/>
          </a:prstGeom>
          <a:noFill/>
          <a:ln w="15875">
            <a:solidFill>
              <a:srgbClr val="D95F0E"/>
            </a:solidFill>
            <a:prstDash val="dash"/>
          </a:ln>
        </p:spPr>
      </p:sp>
      <p:sp>
        <p:nvSpPr>
          <p:cNvPr id="79" name="Shape 77"/>
          <p:cNvSpPr/>
          <p:nvPr/>
        </p:nvSpPr>
        <p:spPr>
          <a:xfrm flipV="1">
            <a:off x="4174669" y="4686334"/>
            <a:ext cx="328471" cy="51336"/>
          </a:xfrm>
          <a:prstGeom prst="line">
            <a:avLst/>
          </a:prstGeom>
          <a:noFill/>
          <a:ln w="15875">
            <a:solidFill>
              <a:srgbClr val="D95F0E"/>
            </a:solidFill>
            <a:prstDash val="dash"/>
          </a:ln>
        </p:spPr>
      </p:sp>
      <p:sp>
        <p:nvSpPr>
          <p:cNvPr id="80" name="Shape 78"/>
          <p:cNvSpPr/>
          <p:nvPr/>
        </p:nvSpPr>
        <p:spPr>
          <a:xfrm flipV="1">
            <a:off x="3840480" y="4737670"/>
            <a:ext cx="334189" cy="17210"/>
          </a:xfrm>
          <a:prstGeom prst="line">
            <a:avLst/>
          </a:prstGeom>
          <a:noFill/>
          <a:ln w="15875">
            <a:solidFill>
              <a:srgbClr val="D95F0E"/>
            </a:solidFill>
            <a:prstDash val="dash"/>
          </a:ln>
        </p:spPr>
      </p:sp>
      <p:sp>
        <p:nvSpPr>
          <p:cNvPr id="81" name="Shape 79"/>
          <p:cNvSpPr/>
          <p:nvPr/>
        </p:nvSpPr>
        <p:spPr>
          <a:xfrm>
            <a:off x="3506291" y="4737670"/>
            <a:ext cx="334189" cy="17210"/>
          </a:xfrm>
          <a:prstGeom prst="line">
            <a:avLst/>
          </a:prstGeom>
          <a:noFill/>
          <a:ln w="15875">
            <a:solidFill>
              <a:srgbClr val="D95F0E"/>
            </a:solidFill>
            <a:prstDash val="dash"/>
          </a:ln>
        </p:spPr>
      </p:sp>
      <p:sp>
        <p:nvSpPr>
          <p:cNvPr id="82" name="Shape 80"/>
          <p:cNvSpPr/>
          <p:nvPr/>
        </p:nvSpPr>
        <p:spPr>
          <a:xfrm>
            <a:off x="3177820" y="4686334"/>
            <a:ext cx="328471" cy="51336"/>
          </a:xfrm>
          <a:prstGeom prst="line">
            <a:avLst/>
          </a:prstGeom>
          <a:noFill/>
          <a:ln w="15875">
            <a:solidFill>
              <a:srgbClr val="D95F0E"/>
            </a:solidFill>
            <a:prstDash val="dash"/>
          </a:ln>
        </p:spPr>
      </p:sp>
      <p:sp>
        <p:nvSpPr>
          <p:cNvPr id="83" name="Shape 81"/>
          <p:cNvSpPr/>
          <p:nvPr/>
        </p:nvSpPr>
        <p:spPr>
          <a:xfrm>
            <a:off x="2860688" y="4601750"/>
            <a:ext cx="317132" cy="84584"/>
          </a:xfrm>
          <a:prstGeom prst="line">
            <a:avLst/>
          </a:prstGeom>
          <a:noFill/>
          <a:ln w="15875">
            <a:solidFill>
              <a:srgbClr val="D95F0E"/>
            </a:solidFill>
            <a:prstDash val="dash"/>
          </a:ln>
        </p:spPr>
      </p:sp>
      <p:sp>
        <p:nvSpPr>
          <p:cNvPr id="84" name="Shape 82"/>
          <p:cNvSpPr/>
          <p:nvPr/>
        </p:nvSpPr>
        <p:spPr>
          <a:xfrm>
            <a:off x="2560320" y="4485366"/>
            <a:ext cx="300368" cy="116384"/>
          </a:xfrm>
          <a:prstGeom prst="line">
            <a:avLst/>
          </a:prstGeom>
          <a:noFill/>
          <a:ln w="15875">
            <a:solidFill>
              <a:srgbClr val="D95F0E"/>
            </a:solidFill>
            <a:prstDash val="dash"/>
          </a:ln>
        </p:spPr>
      </p:sp>
      <p:sp>
        <p:nvSpPr>
          <p:cNvPr id="85" name="Shape 83"/>
          <p:cNvSpPr/>
          <p:nvPr/>
        </p:nvSpPr>
        <p:spPr>
          <a:xfrm>
            <a:off x="2281856" y="4339173"/>
            <a:ext cx="278464" cy="146193"/>
          </a:xfrm>
          <a:prstGeom prst="line">
            <a:avLst/>
          </a:prstGeom>
          <a:noFill/>
          <a:ln w="15875">
            <a:solidFill>
              <a:srgbClr val="D95F0E"/>
            </a:solidFill>
            <a:prstDash val="dash"/>
          </a:ln>
        </p:spPr>
      </p:sp>
      <p:sp>
        <p:nvSpPr>
          <p:cNvPr id="86" name="Shape 84"/>
          <p:cNvSpPr/>
          <p:nvPr/>
        </p:nvSpPr>
        <p:spPr>
          <a:xfrm>
            <a:off x="2030060" y="4165673"/>
            <a:ext cx="251796" cy="173500"/>
          </a:xfrm>
          <a:prstGeom prst="line">
            <a:avLst/>
          </a:prstGeom>
          <a:noFill/>
          <a:ln w="15875">
            <a:solidFill>
              <a:srgbClr val="D95F0E"/>
            </a:solidFill>
            <a:prstDash val="dash"/>
          </a:ln>
        </p:spPr>
      </p:sp>
      <p:sp>
        <p:nvSpPr>
          <p:cNvPr id="87" name="Shape 85"/>
          <p:cNvSpPr/>
          <p:nvPr/>
        </p:nvSpPr>
        <p:spPr>
          <a:xfrm>
            <a:off x="1809242" y="3967833"/>
            <a:ext cx="220819" cy="197839"/>
          </a:xfrm>
          <a:prstGeom prst="line">
            <a:avLst/>
          </a:prstGeom>
          <a:noFill/>
          <a:ln w="15875">
            <a:solidFill>
              <a:srgbClr val="D95F0E"/>
            </a:solidFill>
            <a:prstDash val="dash"/>
          </a:ln>
        </p:spPr>
      </p:sp>
      <p:sp>
        <p:nvSpPr>
          <p:cNvPr id="88" name="Shape 86"/>
          <p:cNvSpPr/>
          <p:nvPr/>
        </p:nvSpPr>
        <p:spPr>
          <a:xfrm>
            <a:off x="1623178" y="3749040"/>
            <a:ext cx="186064" cy="218793"/>
          </a:xfrm>
          <a:prstGeom prst="line">
            <a:avLst/>
          </a:prstGeom>
          <a:noFill/>
          <a:ln w="15875">
            <a:solidFill>
              <a:srgbClr val="D95F0E"/>
            </a:solidFill>
            <a:prstDash val="dash"/>
          </a:ln>
        </p:spPr>
      </p:sp>
      <p:sp>
        <p:nvSpPr>
          <p:cNvPr id="89" name="Shape 87"/>
          <p:cNvSpPr/>
          <p:nvPr/>
        </p:nvSpPr>
        <p:spPr>
          <a:xfrm>
            <a:off x="1475053" y="3513037"/>
            <a:ext cx="148125" cy="236003"/>
          </a:xfrm>
          <a:prstGeom prst="line">
            <a:avLst/>
          </a:prstGeom>
          <a:noFill/>
          <a:ln w="15875">
            <a:solidFill>
              <a:srgbClr val="D95F0E"/>
            </a:solidFill>
            <a:prstDash val="dash"/>
          </a:ln>
        </p:spPr>
      </p:sp>
      <p:sp>
        <p:nvSpPr>
          <p:cNvPr id="90" name="Shape 88"/>
          <p:cNvSpPr/>
          <p:nvPr/>
        </p:nvSpPr>
        <p:spPr>
          <a:xfrm>
            <a:off x="1367401" y="3263861"/>
            <a:ext cx="107652" cy="249176"/>
          </a:xfrm>
          <a:prstGeom prst="line">
            <a:avLst/>
          </a:prstGeom>
          <a:noFill/>
          <a:ln w="15875">
            <a:solidFill>
              <a:srgbClr val="D95F0E"/>
            </a:solidFill>
            <a:prstDash val="dash"/>
          </a:ln>
        </p:spPr>
      </p:sp>
      <p:sp>
        <p:nvSpPr>
          <p:cNvPr id="91" name="Shape 89"/>
          <p:cNvSpPr/>
          <p:nvPr/>
        </p:nvSpPr>
        <p:spPr>
          <a:xfrm>
            <a:off x="1302064" y="3005777"/>
            <a:ext cx="65337" cy="258084"/>
          </a:xfrm>
          <a:prstGeom prst="line">
            <a:avLst/>
          </a:prstGeom>
          <a:noFill/>
          <a:ln w="15875">
            <a:solidFill>
              <a:srgbClr val="D95F0E"/>
            </a:solidFill>
            <a:prstDash val="dash"/>
          </a:ln>
        </p:spPr>
      </p:sp>
      <p:sp>
        <p:nvSpPr>
          <p:cNvPr id="92" name="Shape 90"/>
          <p:cNvSpPr/>
          <p:nvPr/>
        </p:nvSpPr>
        <p:spPr>
          <a:xfrm>
            <a:off x="1280160" y="2743200"/>
            <a:ext cx="21904" cy="262577"/>
          </a:xfrm>
          <a:prstGeom prst="line">
            <a:avLst/>
          </a:prstGeom>
          <a:noFill/>
          <a:ln w="15875">
            <a:solidFill>
              <a:srgbClr val="D95F0E"/>
            </a:solidFill>
            <a:prstDash val="dash"/>
          </a:ln>
        </p:spPr>
      </p:sp>
      <p:sp>
        <p:nvSpPr>
          <p:cNvPr id="93" name="Text 91"/>
          <p:cNvSpPr txBox="1"/>
          <p:nvPr/>
        </p:nvSpPr>
        <p:spPr>
          <a:xfrm>
            <a:off x="3200400" y="4800600"/>
            <a:ext cx="1463040" cy="274320"/>
          </a:xfrm>
          <a:prstGeom prst="rect">
            <a:avLst/>
          </a:prstGeom>
          <a:noFill/>
          <a:ln/>
        </p:spPr>
        <p:txBody>
          <a:bodyPr wrap="square" lIns="508" tIns="508" rIns="508" bIns="508" rtlCol="0" anchor="t"/>
          <a:lstStyle/>
          <a:p>
            <a:pPr algn="ctr" indent="0" marL="0">
              <a:buNone/>
            </a:pPr>
            <a:r>
              <a:rPr lang="en-US" sz="1200" dirty="0">
                <a:solidFill>
                  <a:srgbClr val="D95F0E"/>
                </a:solidFill>
                <a:latin typeface="Tahoma" pitchFamily="34" charset="0"/>
                <a:ea typeface="Tahoma" pitchFamily="34" charset="-122"/>
                <a:cs typeface="Tahoma" pitchFamily="34" charset="-120"/>
              </a:rPr>
              <a:t>đường dòng I</a:t>
            </a:r>
            <a:endParaRPr lang="en-US" sz="1200" dirty="0"/>
          </a:p>
        </p:txBody>
      </p:sp>
      <p:sp>
        <p:nvSpPr>
          <p:cNvPr id="94" name="Text 92"/>
          <p:cNvSpPr txBox="1"/>
          <p:nvPr/>
        </p:nvSpPr>
        <p:spPr>
          <a:xfrm>
            <a:off x="3611880" y="1737360"/>
            <a:ext cx="548640" cy="320040"/>
          </a:xfrm>
          <a:prstGeom prst="rect">
            <a:avLst/>
          </a:prstGeom>
          <a:noFill/>
          <a:ln/>
        </p:spPr>
        <p:txBody>
          <a:bodyPr wrap="square" lIns="508" tIns="508" rIns="508" bIns="508" rtlCol="0" anchor="t"/>
          <a:lstStyle/>
          <a:p>
            <a:pPr algn="ctr" indent="0" marL="0">
              <a:buNone/>
            </a:pPr>
            <a:r>
              <a:rPr lang="en-US" sz="1500" b="1" dirty="0">
                <a:solidFill>
                  <a:srgbClr val="0086CA"/>
                </a:solidFill>
                <a:latin typeface="Tahoma" pitchFamily="34" charset="0"/>
                <a:ea typeface="Tahoma" pitchFamily="34" charset="-122"/>
                <a:cs typeface="Tahoma" pitchFamily="34" charset="-120"/>
              </a:rPr>
              <a:t>ΔU</a:t>
            </a:r>
            <a:endParaRPr lang="en-US" sz="1500" dirty="0"/>
          </a:p>
        </p:txBody>
      </p:sp>
      <p:sp>
        <p:nvSpPr>
          <p:cNvPr id="95" name="Text 93"/>
          <p:cNvSpPr txBox="1"/>
          <p:nvPr/>
        </p:nvSpPr>
        <p:spPr>
          <a:xfrm>
            <a:off x="640080" y="5257800"/>
            <a:ext cx="6400800" cy="292608"/>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Hình 1. Phát dòng qua A, B (cam); đo hiệu điện thế giữa M, N (xanh)</a:t>
            </a:r>
            <a:endParaRPr lang="en-US" sz="1200" dirty="0"/>
          </a:p>
        </p:txBody>
      </p:sp>
      <p:sp>
        <p:nvSpPr>
          <p:cNvPr id="96" name="Shape 94"/>
          <p:cNvSpPr/>
          <p:nvPr/>
        </p:nvSpPr>
        <p:spPr>
          <a:xfrm>
            <a:off x="7315200" y="960120"/>
            <a:ext cx="4233672" cy="777240"/>
          </a:xfrm>
          <a:prstGeom prst="roundRect">
            <a:avLst>
              <a:gd name="adj" fmla="val 9412"/>
            </a:avLst>
          </a:prstGeom>
          <a:solidFill>
            <a:srgbClr val="FFFFFF"/>
          </a:solidFill>
          <a:ln w="15875">
            <a:solidFill>
              <a:srgbClr val="0086CA"/>
            </a:solidFill>
            <a:prstDash val="solid"/>
          </a:ln>
        </p:spPr>
      </p:sp>
      <p:sp>
        <p:nvSpPr>
          <p:cNvPr id="97" name="Text 95"/>
          <p:cNvSpPr txBox="1"/>
          <p:nvPr/>
        </p:nvSpPr>
        <p:spPr>
          <a:xfrm>
            <a:off x="7406640" y="1005840"/>
            <a:ext cx="4050792" cy="685800"/>
          </a:xfrm>
          <a:prstGeom prst="rect">
            <a:avLst/>
          </a:prstGeom>
          <a:noFill/>
          <a:ln/>
        </p:spPr>
        <p:txBody>
          <a:bodyPr wrap="square" lIns="508" tIns="508" rIns="508" bIns="508" rtlCol="0" anchor="ctr"/>
          <a:lstStyle/>
          <a:p>
            <a:pPr algn="ctr" indent="0" marL="0">
              <a:buNone/>
            </a:pPr>
            <a:r>
              <a:rPr lang="en-US" sz="2400" b="1" dirty="0">
                <a:solidFill>
                  <a:srgbClr val="234782"/>
                </a:solidFill>
                <a:latin typeface="Tahoma" pitchFamily="34" charset="0"/>
                <a:ea typeface="Tahoma" pitchFamily="34" charset="-122"/>
                <a:cs typeface="Tahoma" pitchFamily="34" charset="-120"/>
              </a:rPr>
              <a:t>ρa = K · ΔU / I</a:t>
            </a:r>
            <a:endParaRPr lang="en-US" sz="2400" dirty="0"/>
          </a:p>
        </p:txBody>
      </p:sp>
      <p:sp>
        <p:nvSpPr>
          <p:cNvPr id="98" name="Shape 96"/>
          <p:cNvSpPr/>
          <p:nvPr/>
        </p:nvSpPr>
        <p:spPr>
          <a:xfrm>
            <a:off x="7315200" y="1920240"/>
            <a:ext cx="4233672" cy="4389120"/>
          </a:xfrm>
          <a:prstGeom prst="roundRect">
            <a:avLst>
              <a:gd name="adj" fmla="val 2592"/>
            </a:avLst>
          </a:prstGeom>
          <a:solidFill>
            <a:srgbClr val="ECF3FA"/>
          </a:solidFill>
          <a:ln w="12700">
            <a:solidFill>
              <a:srgbClr val="ECF3FA"/>
            </a:solidFill>
            <a:prstDash val="solid"/>
          </a:ln>
        </p:spPr>
      </p:sp>
      <p:sp>
        <p:nvSpPr>
          <p:cNvPr id="99" name="Text 97"/>
          <p:cNvSpPr txBox="1"/>
          <p:nvPr/>
        </p:nvSpPr>
        <p:spPr>
          <a:xfrm>
            <a:off x="7589520" y="2103120"/>
            <a:ext cx="3776472" cy="411480"/>
          </a:xfrm>
          <a:prstGeom prst="rect">
            <a:avLst/>
          </a:prstGeom>
          <a:noFill/>
          <a:ln/>
        </p:spPr>
        <p:txBody>
          <a:bodyPr wrap="square" lIns="508" tIns="508" rIns="508" bIns="508" rtlCol="0" anchor="ctr"/>
          <a:lstStyle/>
          <a:p>
            <a:pPr indent="0" marL="0">
              <a:buNone/>
            </a:pPr>
            <a:r>
              <a:rPr lang="en-US" sz="1700" b="1" dirty="0">
                <a:solidFill>
                  <a:srgbClr val="234782"/>
                </a:solidFill>
                <a:latin typeface="Tahoma" pitchFamily="34" charset="0"/>
                <a:ea typeface="Tahoma" pitchFamily="34" charset="-122"/>
                <a:cs typeface="Tahoma" pitchFamily="34" charset="-120"/>
              </a:rPr>
              <a:t>Ý nghĩa</a:t>
            </a:r>
            <a:endParaRPr lang="en-US" sz="1700" dirty="0"/>
          </a:p>
        </p:txBody>
      </p:sp>
      <p:sp>
        <p:nvSpPr>
          <p:cNvPr id="100" name="Text 98"/>
          <p:cNvSpPr txBox="1"/>
          <p:nvPr/>
        </p:nvSpPr>
        <p:spPr>
          <a:xfrm>
            <a:off x="7589520" y="2697480"/>
            <a:ext cx="3730752" cy="3474720"/>
          </a:xfrm>
          <a:prstGeom prst="rect">
            <a:avLst/>
          </a:prstGeom>
          <a:noFill/>
          <a:ln/>
        </p:spPr>
        <p:txBody>
          <a:bodyPr wrap="square" lIns="254" tIns="254" rIns="254" bIns="254" rtlCol="0" anchor="t"/>
          <a:lstStyle/>
          <a:p>
            <a:pPr marL="177800" indent="-177800">
              <a:spcAft>
                <a:spcPts val="800"/>
              </a:spcAft>
              <a:buSzPct val="100000"/>
              <a:buChar char="•"/>
            </a:pPr>
            <a:r>
              <a:rPr lang="en-US" sz="1400" b="1" dirty="0">
                <a:solidFill>
                  <a:srgbClr val="1F1F1F"/>
                </a:solidFill>
                <a:latin typeface="Tahoma" pitchFamily="34" charset="0"/>
                <a:ea typeface="Tahoma" pitchFamily="34" charset="-122"/>
                <a:cs typeface="Tahoma" pitchFamily="34" charset="-120"/>
              </a:rPr>
              <a:t>K</a:t>
            </a:r>
            <a:r>
              <a:rPr lang="en-US" sz="1400" dirty="0">
                <a:solidFill>
                  <a:srgbClr val="1F1F1F"/>
                </a:solidFill>
                <a:latin typeface="Tahoma" pitchFamily="34" charset="0"/>
                <a:ea typeface="Tahoma" pitchFamily="34" charset="-122"/>
                <a:cs typeface="Tahoma" pitchFamily="34" charset="-120"/>
              </a:rPr>
              <a:t> (m): hệ số hình học, chỉ phụ thuộc vị trí 4 cực</a:t>
            </a:r>
            <a:endParaRPr lang="en-US" sz="1400" dirty="0"/>
          </a:p>
          <a:p>
            <a:pPr marL="177800" indent="-177800">
              <a:spcAft>
                <a:spcPts val="800"/>
              </a:spcAft>
              <a:buSzPct val="100000"/>
              <a:buChar char="•"/>
            </a:pPr>
            <a:r>
              <a:rPr lang="en-US" sz="1400" dirty="0">
                <a:solidFill>
                  <a:srgbClr val="1F1F1F"/>
                </a:solidFill>
                <a:latin typeface="Tahoma" pitchFamily="34" charset="0"/>
                <a:ea typeface="Tahoma" pitchFamily="34" charset="-122"/>
                <a:cs typeface="Tahoma" pitchFamily="34" charset="-120"/>
              </a:rPr>
              <a:t>Môi trường đồng nhất: ρa = ρ thật</a:t>
            </a:r>
            <a:endParaRPr lang="en-US" sz="1400" dirty="0"/>
          </a:p>
          <a:p>
            <a:pPr marL="177800" indent="-177800">
              <a:spcAft>
                <a:spcPts val="800"/>
              </a:spcAft>
              <a:buSzPct val="100000"/>
              <a:buChar char="•"/>
            </a:pPr>
            <a:r>
              <a:rPr lang="en-US" sz="1400" dirty="0">
                <a:solidFill>
                  <a:srgbClr val="1F1F1F"/>
                </a:solidFill>
                <a:latin typeface="Tahoma" pitchFamily="34" charset="0"/>
                <a:ea typeface="Tahoma" pitchFamily="34" charset="-122"/>
                <a:cs typeface="Tahoma" pitchFamily="34" charset="-120"/>
              </a:rPr>
              <a:t>Môi trường phân lớp: ρa là giá trị tổng hợp của các lớp dòng đi qua</a:t>
            </a:r>
            <a:endParaRPr lang="en-US" sz="1400" dirty="0"/>
          </a:p>
          <a:p>
            <a:pPr marL="177800" indent="-177800">
              <a:spcAft>
                <a:spcPts val="800"/>
              </a:spcAft>
              <a:buSzPct val="100000"/>
              <a:buChar char="•"/>
            </a:pPr>
            <a:r>
              <a:rPr lang="en-US" sz="1400" dirty="0">
                <a:solidFill>
                  <a:srgbClr val="1F1F1F"/>
                </a:solidFill>
                <a:latin typeface="Tahoma" pitchFamily="34" charset="0"/>
                <a:ea typeface="Tahoma" pitchFamily="34" charset="-122"/>
                <a:cs typeface="Tahoma" pitchFamily="34" charset="-120"/>
              </a:rPr>
              <a:t>Tăng khoảng cách AB → dòng đi sâu hơn [3]</a:t>
            </a:r>
            <a:endParaRPr lang="en-US" sz="1400" dirty="0"/>
          </a:p>
          <a:p>
            <a:pPr marL="177800" indent="-177800">
              <a:spcAft>
                <a:spcPts val="800"/>
              </a:spcAft>
              <a:buSzPct val="100000"/>
              <a:buChar char="•"/>
            </a:pPr>
            <a:r>
              <a:rPr lang="en-US" sz="1400" dirty="0">
                <a:solidFill>
                  <a:srgbClr val="1F1F1F"/>
                </a:solidFill>
                <a:latin typeface="Tahoma" pitchFamily="34" charset="0"/>
                <a:ea typeface="Tahoma" pitchFamily="34" charset="-122"/>
                <a:cs typeface="Tahoma" pitchFamily="34" charset="-120"/>
              </a:rPr>
              <a:t>Máy đo trực tiếp R = ΔU/I rồi nhân K</a:t>
            </a:r>
            <a:endParaRPr lang="en-US" sz="14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2. Thẻ thiết bị ABEM Terrameter SAS</a:t>
            </a:r>
            <a:endParaRPr lang="en-US" sz="2800" dirty="0"/>
          </a:p>
        </p:txBody>
      </p:sp>
      <p:pic>
        <p:nvPicPr>
          <p:cNvPr id="3" name="Image 0" descr="/home/claude/ass/fig/abem_v.jpg">    </p:cNvPr>
          <p:cNvPicPr>
            <a:picLocks noChangeAspect="1"/>
          </p:cNvPicPr>
          <p:nvPr/>
        </p:nvPicPr>
        <p:blipFill>
          <a:blip r:embed="rId1"/>
          <a:stretch>
            <a:fillRect/>
          </a:stretch>
        </p:blipFill>
        <p:spPr>
          <a:xfrm>
            <a:off x="640080" y="1280160"/>
            <a:ext cx="3291840" cy="4389120"/>
          </a:xfrm>
          <a:prstGeom prst="rect">
            <a:avLst/>
          </a:prstGeom>
        </p:spPr>
      </p:pic>
      <p:sp>
        <p:nvSpPr>
          <p:cNvPr id="4" name="Shape 1"/>
          <p:cNvSpPr/>
          <p:nvPr/>
        </p:nvSpPr>
        <p:spPr>
          <a:xfrm>
            <a:off x="640080" y="1280160"/>
            <a:ext cx="3291840" cy="4389120"/>
          </a:xfrm>
          <a:prstGeom prst="rect">
            <a:avLst/>
          </a:prstGeom>
          <a:ln w="9525">
            <a:solidFill>
              <a:srgbClr val="C9D8EA"/>
            </a:solidFill>
            <a:prstDash val="solid"/>
          </a:ln>
        </p:spPr>
      </p:sp>
      <p:sp>
        <p:nvSpPr>
          <p:cNvPr id="5" name="Text 2"/>
          <p:cNvSpPr txBox="1"/>
          <p:nvPr/>
        </p:nvSpPr>
        <p:spPr>
          <a:xfrm>
            <a:off x="640080" y="5724144"/>
            <a:ext cx="3291840" cy="292608"/>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Hình 2. Terrameter tại phòng thí nghiệm PVU</a:t>
            </a:r>
            <a:endParaRPr lang="en-US" sz="1200" dirty="0"/>
          </a:p>
        </p:txBody>
      </p:sp>
      <p:sp>
        <p:nvSpPr>
          <p:cNvPr id="6" name="Shape 3"/>
          <p:cNvSpPr/>
          <p:nvPr/>
        </p:nvSpPr>
        <p:spPr>
          <a:xfrm>
            <a:off x="4206240" y="914400"/>
            <a:ext cx="3566160" cy="5394960"/>
          </a:xfrm>
          <a:prstGeom prst="roundRect">
            <a:avLst>
              <a:gd name="adj" fmla="val 3077"/>
            </a:avLst>
          </a:prstGeom>
          <a:solidFill>
            <a:srgbClr val="ECF3FA"/>
          </a:solidFill>
          <a:ln w="12700">
            <a:solidFill>
              <a:srgbClr val="ECF3FA"/>
            </a:solidFill>
            <a:prstDash val="solid"/>
          </a:ln>
        </p:spPr>
      </p:sp>
      <p:sp>
        <p:nvSpPr>
          <p:cNvPr id="7" name="Text 4"/>
          <p:cNvSpPr txBox="1"/>
          <p:nvPr/>
        </p:nvSpPr>
        <p:spPr>
          <a:xfrm>
            <a:off x="4480560" y="1097280"/>
            <a:ext cx="3108960" cy="411480"/>
          </a:xfrm>
          <a:prstGeom prst="rect">
            <a:avLst/>
          </a:prstGeom>
          <a:noFill/>
          <a:ln/>
        </p:spPr>
        <p:txBody>
          <a:bodyPr wrap="square" lIns="508" tIns="508" rIns="508" bIns="508" rtlCol="0" anchor="ctr"/>
          <a:lstStyle/>
          <a:p>
            <a:pPr indent="0" marL="0">
              <a:buNone/>
            </a:pPr>
            <a:r>
              <a:rPr lang="en-US" sz="1700" b="1" dirty="0">
                <a:solidFill>
                  <a:srgbClr val="234782"/>
                </a:solidFill>
                <a:latin typeface="Tahoma" pitchFamily="34" charset="0"/>
                <a:ea typeface="Tahoma" pitchFamily="34" charset="-122"/>
                <a:cs typeface="Tahoma" pitchFamily="34" charset="-120"/>
              </a:rPr>
              <a:t>Nhà sản xuất</a:t>
            </a:r>
            <a:endParaRPr lang="en-US" sz="1700" dirty="0"/>
          </a:p>
        </p:txBody>
      </p:sp>
      <p:sp>
        <p:nvSpPr>
          <p:cNvPr id="8" name="Shape 5"/>
          <p:cNvSpPr/>
          <p:nvPr/>
        </p:nvSpPr>
        <p:spPr>
          <a:xfrm>
            <a:off x="4389120" y="1691640"/>
            <a:ext cx="3200400" cy="1405128"/>
          </a:xfrm>
          <a:prstGeom prst="roundRect">
            <a:avLst>
              <a:gd name="adj" fmla="val 3905"/>
            </a:avLst>
          </a:prstGeom>
          <a:solidFill>
            <a:srgbClr val="FFFFFF"/>
          </a:solidFill>
          <a:ln w="9525">
            <a:solidFill>
              <a:srgbClr val="C9D8EA"/>
            </a:solidFill>
            <a:prstDash val="solid"/>
          </a:ln>
        </p:spPr>
      </p:sp>
      <p:sp>
        <p:nvSpPr>
          <p:cNvPr id="9" name="Text 6"/>
          <p:cNvSpPr txBox="1"/>
          <p:nvPr/>
        </p:nvSpPr>
        <p:spPr>
          <a:xfrm>
            <a:off x="4526280" y="1746504"/>
            <a:ext cx="2926080" cy="292608"/>
          </a:xfrm>
          <a:prstGeom prst="rect">
            <a:avLst/>
          </a:prstGeom>
          <a:noFill/>
          <a:ln/>
        </p:spPr>
        <p:txBody>
          <a:bodyPr wrap="square" lIns="508" tIns="508" rIns="508" bIns="508" rtlCol="0" anchor="t"/>
          <a:lstStyle/>
          <a:p>
            <a:pPr indent="0" marL="0">
              <a:buNone/>
            </a:pPr>
            <a:r>
              <a:rPr lang="en-US" sz="1300" b="1" dirty="0">
                <a:solidFill>
                  <a:srgbClr val="0086CA"/>
                </a:solidFill>
                <a:latin typeface="Tahoma" pitchFamily="34" charset="0"/>
                <a:ea typeface="Tahoma" pitchFamily="34" charset="-122"/>
                <a:cs typeface="Tahoma" pitchFamily="34" charset="-120"/>
              </a:rPr>
              <a:t>Hãng</a:t>
            </a:r>
            <a:endParaRPr lang="en-US" sz="1300" dirty="0"/>
          </a:p>
        </p:txBody>
      </p:sp>
      <p:sp>
        <p:nvSpPr>
          <p:cNvPr id="10" name="Text 7"/>
          <p:cNvSpPr txBox="1"/>
          <p:nvPr/>
        </p:nvSpPr>
        <p:spPr>
          <a:xfrm>
            <a:off x="4526280" y="2039112"/>
            <a:ext cx="2926080" cy="1002792"/>
          </a:xfrm>
          <a:prstGeom prst="rect">
            <a:avLst/>
          </a:prstGeom>
          <a:noFill/>
          <a:ln/>
        </p:spPr>
        <p:txBody>
          <a:bodyPr wrap="square" lIns="508" tIns="508" rIns="508" bIns="508" rtlCol="0" anchor="t"/>
          <a:lstStyle/>
          <a:p>
            <a:pPr indent="0" marL="0">
              <a:buNone/>
            </a:pPr>
            <a:r>
              <a:rPr lang="en-US" sz="1400" dirty="0">
                <a:solidFill>
                  <a:srgbClr val="1F1F1F"/>
                </a:solidFill>
                <a:latin typeface="Tahoma" pitchFamily="34" charset="0"/>
                <a:ea typeface="Tahoma" pitchFamily="34" charset="-122"/>
                <a:cs typeface="Tahoma" pitchFamily="34" charset="-120"/>
              </a:rPr>
              <a:t>ABEM Instrument AB, Thụy Điển, thành lập 1923</a:t>
            </a:r>
            <a:endParaRPr lang="en-US" sz="1400" dirty="0"/>
          </a:p>
        </p:txBody>
      </p:sp>
      <p:sp>
        <p:nvSpPr>
          <p:cNvPr id="11" name="Shape 8"/>
          <p:cNvSpPr/>
          <p:nvPr/>
        </p:nvSpPr>
        <p:spPr>
          <a:xfrm>
            <a:off x="4389120" y="3206496"/>
            <a:ext cx="3200400" cy="1405128"/>
          </a:xfrm>
          <a:prstGeom prst="roundRect">
            <a:avLst>
              <a:gd name="adj" fmla="val 3905"/>
            </a:avLst>
          </a:prstGeom>
          <a:solidFill>
            <a:srgbClr val="FFFFFF"/>
          </a:solidFill>
          <a:ln w="9525">
            <a:solidFill>
              <a:srgbClr val="C9D8EA"/>
            </a:solidFill>
            <a:prstDash val="solid"/>
          </a:ln>
        </p:spPr>
      </p:sp>
      <p:sp>
        <p:nvSpPr>
          <p:cNvPr id="12" name="Text 9"/>
          <p:cNvSpPr txBox="1"/>
          <p:nvPr/>
        </p:nvSpPr>
        <p:spPr>
          <a:xfrm>
            <a:off x="4526280" y="3261360"/>
            <a:ext cx="2926080" cy="292608"/>
          </a:xfrm>
          <a:prstGeom prst="rect">
            <a:avLst/>
          </a:prstGeom>
          <a:noFill/>
          <a:ln/>
        </p:spPr>
        <p:txBody>
          <a:bodyPr wrap="square" lIns="508" tIns="508" rIns="508" bIns="508" rtlCol="0" anchor="t"/>
          <a:lstStyle/>
          <a:p>
            <a:pPr indent="0" marL="0">
              <a:buNone/>
            </a:pPr>
            <a:r>
              <a:rPr lang="en-US" sz="1300" b="1" dirty="0">
                <a:solidFill>
                  <a:srgbClr val="0086CA"/>
                </a:solidFill>
                <a:latin typeface="Tahoma" pitchFamily="34" charset="0"/>
                <a:ea typeface="Tahoma" pitchFamily="34" charset="-122"/>
                <a:cs typeface="Tahoma" pitchFamily="34" charset="-120"/>
              </a:rPr>
              <a:t>Tên gọi</a:t>
            </a:r>
            <a:endParaRPr lang="en-US" sz="1300" dirty="0"/>
          </a:p>
        </p:txBody>
      </p:sp>
      <p:sp>
        <p:nvSpPr>
          <p:cNvPr id="13" name="Text 10"/>
          <p:cNvSpPr txBox="1"/>
          <p:nvPr/>
        </p:nvSpPr>
        <p:spPr>
          <a:xfrm>
            <a:off x="4526280" y="3553968"/>
            <a:ext cx="2926080" cy="1002792"/>
          </a:xfrm>
          <a:prstGeom prst="rect">
            <a:avLst/>
          </a:prstGeom>
          <a:noFill/>
          <a:ln/>
        </p:spPr>
        <p:txBody>
          <a:bodyPr wrap="square" lIns="508" tIns="508" rIns="508" bIns="508" rtlCol="0" anchor="t"/>
          <a:lstStyle/>
          <a:p>
            <a:pPr indent="0" marL="0">
              <a:buNone/>
            </a:pPr>
            <a:r>
              <a:rPr lang="en-US" sz="1400" dirty="0">
                <a:solidFill>
                  <a:srgbClr val="1F1F1F"/>
                </a:solidFill>
                <a:latin typeface="Tahoma" pitchFamily="34" charset="0"/>
                <a:ea typeface="Tahoma" pitchFamily="34" charset="-122"/>
                <a:cs typeface="Tahoma" pitchFamily="34" charset="-120"/>
              </a:rPr>
              <a:t>Aktiebolaget Elektrisk Malmletning – công ty thăm dò quặng bằng điện</a:t>
            </a:r>
            <a:endParaRPr lang="en-US" sz="1400" dirty="0"/>
          </a:p>
        </p:txBody>
      </p:sp>
      <p:sp>
        <p:nvSpPr>
          <p:cNvPr id="14" name="Shape 11"/>
          <p:cNvSpPr/>
          <p:nvPr/>
        </p:nvSpPr>
        <p:spPr>
          <a:xfrm>
            <a:off x="4389120" y="4721352"/>
            <a:ext cx="3200400" cy="1405128"/>
          </a:xfrm>
          <a:prstGeom prst="roundRect">
            <a:avLst>
              <a:gd name="adj" fmla="val 3905"/>
            </a:avLst>
          </a:prstGeom>
          <a:solidFill>
            <a:srgbClr val="FFFFFF"/>
          </a:solidFill>
          <a:ln w="9525">
            <a:solidFill>
              <a:srgbClr val="C9D8EA"/>
            </a:solidFill>
            <a:prstDash val="solid"/>
          </a:ln>
        </p:spPr>
      </p:sp>
      <p:sp>
        <p:nvSpPr>
          <p:cNvPr id="15" name="Text 12"/>
          <p:cNvSpPr txBox="1"/>
          <p:nvPr/>
        </p:nvSpPr>
        <p:spPr>
          <a:xfrm>
            <a:off x="4526280" y="4776216"/>
            <a:ext cx="2926080" cy="292608"/>
          </a:xfrm>
          <a:prstGeom prst="rect">
            <a:avLst/>
          </a:prstGeom>
          <a:noFill/>
          <a:ln/>
        </p:spPr>
        <p:txBody>
          <a:bodyPr wrap="square" lIns="508" tIns="508" rIns="508" bIns="508" rtlCol="0" anchor="t"/>
          <a:lstStyle/>
          <a:p>
            <a:pPr indent="0" marL="0">
              <a:buNone/>
            </a:pPr>
            <a:r>
              <a:rPr lang="en-US" sz="1300" b="1" dirty="0">
                <a:solidFill>
                  <a:srgbClr val="0086CA"/>
                </a:solidFill>
                <a:latin typeface="Tahoma" pitchFamily="34" charset="0"/>
                <a:ea typeface="Tahoma" pitchFamily="34" charset="-122"/>
                <a:cs typeface="Tahoma" pitchFamily="34" charset="-120"/>
              </a:rPr>
              <a:t>Hiện nay</a:t>
            </a:r>
            <a:endParaRPr lang="en-US" sz="1300" dirty="0"/>
          </a:p>
        </p:txBody>
      </p:sp>
      <p:sp>
        <p:nvSpPr>
          <p:cNvPr id="16" name="Text 13"/>
          <p:cNvSpPr txBox="1"/>
          <p:nvPr/>
        </p:nvSpPr>
        <p:spPr>
          <a:xfrm>
            <a:off x="4526280" y="5068824"/>
            <a:ext cx="2926080" cy="1002792"/>
          </a:xfrm>
          <a:prstGeom prst="rect">
            <a:avLst/>
          </a:prstGeom>
          <a:noFill/>
          <a:ln/>
        </p:spPr>
        <p:txBody>
          <a:bodyPr wrap="square" lIns="508" tIns="508" rIns="508" bIns="508" rtlCol="0" anchor="t"/>
          <a:lstStyle/>
          <a:p>
            <a:pPr indent="0" marL="0">
              <a:buNone/>
            </a:pPr>
            <a:r>
              <a:rPr lang="en-US" sz="1400" dirty="0">
                <a:solidFill>
                  <a:srgbClr val="1F1F1F"/>
                </a:solidFill>
                <a:latin typeface="Tahoma" pitchFamily="34" charset="0"/>
                <a:ea typeface="Tahoma" pitchFamily="34" charset="-122"/>
                <a:cs typeface="Tahoma" pitchFamily="34" charset="-120"/>
              </a:rPr>
              <a:t>Thuộc Guideline Geo AB (Solna, Stockholm) từ 2011</a:t>
            </a:r>
            <a:endParaRPr lang="en-US" sz="1400" dirty="0"/>
          </a:p>
        </p:txBody>
      </p:sp>
      <p:sp>
        <p:nvSpPr>
          <p:cNvPr id="17" name="Shape 14"/>
          <p:cNvSpPr/>
          <p:nvPr/>
        </p:nvSpPr>
        <p:spPr>
          <a:xfrm>
            <a:off x="8001000" y="914400"/>
            <a:ext cx="3547872" cy="5394960"/>
          </a:xfrm>
          <a:prstGeom prst="roundRect">
            <a:avLst>
              <a:gd name="adj" fmla="val 3093"/>
            </a:avLst>
          </a:prstGeom>
          <a:solidFill>
            <a:srgbClr val="234782"/>
          </a:solidFill>
          <a:ln w="12700">
            <a:solidFill>
              <a:srgbClr val="234782"/>
            </a:solidFill>
            <a:prstDash val="solid"/>
          </a:ln>
        </p:spPr>
      </p:sp>
      <p:sp>
        <p:nvSpPr>
          <p:cNvPr id="18" name="Text 15"/>
          <p:cNvSpPr txBox="1"/>
          <p:nvPr/>
        </p:nvSpPr>
        <p:spPr>
          <a:xfrm>
            <a:off x="8275320" y="1097280"/>
            <a:ext cx="3090672" cy="411480"/>
          </a:xfrm>
          <a:prstGeom prst="rect">
            <a:avLst/>
          </a:prstGeom>
          <a:noFill/>
          <a:ln/>
        </p:spPr>
        <p:txBody>
          <a:bodyPr wrap="square" lIns="508" tIns="508" rIns="508" bIns="508" rtlCol="0" anchor="ctr"/>
          <a:lstStyle/>
          <a:p>
            <a:pPr indent="0" marL="0">
              <a:buNone/>
            </a:pPr>
            <a:r>
              <a:rPr lang="en-US" sz="1700" b="1" dirty="0">
                <a:solidFill>
                  <a:srgbClr val="FFFFFF"/>
                </a:solidFill>
                <a:latin typeface="Tahoma" pitchFamily="34" charset="0"/>
                <a:ea typeface="Tahoma" pitchFamily="34" charset="-122"/>
                <a:cs typeface="Tahoma" pitchFamily="34" charset="-120"/>
              </a:rPr>
              <a:t>Dùng vào việc gì</a:t>
            </a:r>
            <a:endParaRPr lang="en-US" sz="1700" dirty="0"/>
          </a:p>
        </p:txBody>
      </p:sp>
      <p:sp>
        <p:nvSpPr>
          <p:cNvPr id="19" name="Text 16"/>
          <p:cNvSpPr txBox="1"/>
          <p:nvPr/>
        </p:nvSpPr>
        <p:spPr>
          <a:xfrm>
            <a:off x="8275320" y="1691640"/>
            <a:ext cx="3044952" cy="4480560"/>
          </a:xfrm>
          <a:prstGeom prst="rect">
            <a:avLst/>
          </a:prstGeom>
          <a:noFill/>
          <a:ln/>
        </p:spPr>
        <p:txBody>
          <a:bodyPr wrap="square" lIns="254" tIns="254" rIns="254" bIns="254" rtlCol="0" anchor="t"/>
          <a:lstStyle/>
          <a:p>
            <a:pPr marL="177800" indent="-177800">
              <a:spcAft>
                <a:spcPts val="800"/>
              </a:spcAft>
              <a:buSzPct val="100000"/>
              <a:buChar char="•"/>
            </a:pPr>
            <a:r>
              <a:rPr lang="en-US" sz="1400" dirty="0">
                <a:solidFill>
                  <a:srgbClr val="FFFFFF"/>
                </a:solidFill>
                <a:latin typeface="Tahoma" pitchFamily="34" charset="0"/>
                <a:ea typeface="Tahoma" pitchFamily="34" charset="-122"/>
                <a:cs typeface="Tahoma" pitchFamily="34" charset="-120"/>
              </a:rPr>
              <a:t>Đo </a:t>
            </a:r>
            <a:r>
              <a:rPr lang="en-US" sz="1400" b="1" dirty="0">
                <a:solidFill>
                  <a:srgbClr val="FFFFFF"/>
                </a:solidFill>
                <a:latin typeface="Tahoma" pitchFamily="34" charset="0"/>
                <a:ea typeface="Tahoma" pitchFamily="34" charset="-122"/>
                <a:cs typeface="Tahoma" pitchFamily="34" charset="-120"/>
              </a:rPr>
              <a:t>điện trở suất</a:t>
            </a:r>
            <a:r>
              <a:rPr lang="en-US" sz="1400" dirty="0">
                <a:solidFill>
                  <a:srgbClr val="FFFFFF"/>
                </a:solidFill>
                <a:latin typeface="Tahoma" pitchFamily="34" charset="0"/>
                <a:ea typeface="Tahoma" pitchFamily="34" charset="-122"/>
                <a:cs typeface="Tahoma" pitchFamily="34" charset="-120"/>
              </a:rPr>
              <a:t> (RES)</a:t>
            </a:r>
            <a:endParaRPr lang="en-US" sz="1400" dirty="0"/>
          </a:p>
          <a:p>
            <a:pPr marL="177800" indent="-177800">
              <a:spcAft>
                <a:spcPts val="800"/>
              </a:spcAft>
              <a:buSzPct val="100000"/>
              <a:buChar char="•"/>
            </a:pPr>
            <a:r>
              <a:rPr lang="en-US" sz="1400" dirty="0">
                <a:solidFill>
                  <a:srgbClr val="FFFFFF"/>
                </a:solidFill>
                <a:latin typeface="Tahoma" pitchFamily="34" charset="0"/>
                <a:ea typeface="Tahoma" pitchFamily="34" charset="-122"/>
                <a:cs typeface="Tahoma" pitchFamily="34" charset="-120"/>
              </a:rPr>
              <a:t>Đo </a:t>
            </a:r>
            <a:r>
              <a:rPr lang="en-US" sz="1400" b="1" dirty="0">
                <a:solidFill>
                  <a:srgbClr val="FFFFFF"/>
                </a:solidFill>
                <a:latin typeface="Tahoma" pitchFamily="34" charset="0"/>
                <a:ea typeface="Tahoma" pitchFamily="34" charset="-122"/>
                <a:cs typeface="Tahoma" pitchFamily="34" charset="-120"/>
              </a:rPr>
              <a:t>phân cực kích thích</a:t>
            </a:r>
            <a:r>
              <a:rPr lang="en-US" sz="1400" dirty="0">
                <a:solidFill>
                  <a:srgbClr val="FFFFFF"/>
                </a:solidFill>
                <a:latin typeface="Tahoma" pitchFamily="34" charset="0"/>
                <a:ea typeface="Tahoma" pitchFamily="34" charset="-122"/>
                <a:cs typeface="Tahoma" pitchFamily="34" charset="-120"/>
              </a:rPr>
              <a:t> (IP)</a:t>
            </a:r>
            <a:endParaRPr lang="en-US" sz="1400" dirty="0"/>
          </a:p>
          <a:p>
            <a:pPr marL="177800" indent="-177800">
              <a:spcAft>
                <a:spcPts val="800"/>
              </a:spcAft>
              <a:buSzPct val="100000"/>
              <a:buChar char="•"/>
            </a:pPr>
            <a:r>
              <a:rPr lang="en-US" sz="1400" dirty="0">
                <a:solidFill>
                  <a:srgbClr val="FFFFFF"/>
                </a:solidFill>
                <a:latin typeface="Tahoma" pitchFamily="34" charset="0"/>
                <a:ea typeface="Tahoma" pitchFamily="34" charset="-122"/>
                <a:cs typeface="Tahoma" pitchFamily="34" charset="-120"/>
              </a:rPr>
              <a:t>Đo </a:t>
            </a:r>
            <a:r>
              <a:rPr lang="en-US" sz="1400" b="1" dirty="0">
                <a:solidFill>
                  <a:srgbClr val="FFFFFF"/>
                </a:solidFill>
                <a:latin typeface="Tahoma" pitchFamily="34" charset="0"/>
                <a:ea typeface="Tahoma" pitchFamily="34" charset="-122"/>
                <a:cs typeface="Tahoma" pitchFamily="34" charset="-120"/>
              </a:rPr>
              <a:t>điện thế tự nhiên</a:t>
            </a:r>
            <a:r>
              <a:rPr lang="en-US" sz="1400" dirty="0">
                <a:solidFill>
                  <a:srgbClr val="FFFFFF"/>
                </a:solidFill>
                <a:latin typeface="Tahoma" pitchFamily="34" charset="0"/>
                <a:ea typeface="Tahoma" pitchFamily="34" charset="-122"/>
                <a:cs typeface="Tahoma" pitchFamily="34" charset="-120"/>
              </a:rPr>
              <a:t> (SP)</a:t>
            </a:r>
            <a:endParaRPr lang="en-US" sz="1400" dirty="0"/>
          </a:p>
          <a:p>
            <a:pPr marL="177800" indent="-177800">
              <a:spcAft>
                <a:spcPts val="800"/>
              </a:spcAft>
              <a:buSzPct val="100000"/>
              <a:buChar char="•"/>
            </a:pPr>
            <a:r>
              <a:rPr lang="en-US" sz="1400" dirty="0">
                <a:solidFill>
                  <a:srgbClr val="FFFFFF"/>
                </a:solidFill>
                <a:latin typeface="Tahoma" pitchFamily="34" charset="0"/>
                <a:ea typeface="Tahoma" pitchFamily="34" charset="-122"/>
                <a:cs typeface="Tahoma" pitchFamily="34" charset="-120"/>
              </a:rPr>
              <a:t>Đo sâu điện VES; ảnh điện 2D/3D khi ghép hệ </a:t>
            </a:r>
            <a:r>
              <a:rPr lang="en-US" sz="1400" b="1" dirty="0">
                <a:solidFill>
                  <a:srgbClr val="FFFFFF"/>
                </a:solidFill>
                <a:latin typeface="Tahoma" pitchFamily="34" charset="0"/>
                <a:ea typeface="Tahoma" pitchFamily="34" charset="-122"/>
                <a:cs typeface="Tahoma" pitchFamily="34" charset="-120"/>
              </a:rPr>
              <a:t>LUND</a:t>
            </a:r>
            <a:endParaRPr lang="en-US" sz="14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2. Thông số kỹ thuật</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960120"/>
          <a:ext cx="5303520" cy="914400"/>
        </p:xfrm>
        <a:graphic>
          <a:graphicData uri="http://schemas.openxmlformats.org/drawingml/2006/table">
            <a:tbl>
              <a:tblPr/>
              <a:tblGrid>
                <a:gridCol w="2103120"/>
                <a:gridCol w="3200400"/>
              </a:tblGrid>
              <a:tr h="0">
                <a:tc>
                  <a:txBody>
                    <a:bodyPr/>
                    <a:lstStyle/>
                    <a:p>
                      <a:pPr indent="0" marL="0">
                        <a:buNone/>
                      </a:pPr>
                      <a:r>
                        <a:rPr lang="en-US" sz="1400" b="1" dirty="0">
                          <a:solidFill>
                            <a:srgbClr val="FFFFFF"/>
                          </a:solidFill>
                          <a:latin typeface="Tahoma" pitchFamily="34" charset="0"/>
                          <a:ea typeface="Tahoma" pitchFamily="34" charset="-122"/>
                          <a:cs typeface="Tahoma" pitchFamily="34" charset="-120"/>
                        </a:rPr>
                        <a:t>Bộ phát</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c>
                  <a:txBody>
                    <a:bodyPr/>
                    <a:lstStyle/>
                    <a:p>
                      <a:pPr indent="0" marL="0">
                        <a:buNone/>
                      </a:pPr>
                      <a:r>
                        <a:rPr lang="en-US" sz="1400" b="1" dirty="0">
                          <a:solidFill>
                            <a:srgbClr val="FFFFFF"/>
                          </a:solidFill>
                          <a:latin typeface="Tahoma" pitchFamily="34" charset="0"/>
                          <a:ea typeface="Tahoma" pitchFamily="34" charset="-122"/>
                          <a:cs typeface="Tahoma" pitchFamily="34" charset="-120"/>
                        </a:rPr>
                        <a:t>Giá trị [4]</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Dòng phát</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1 – 1.000 mA, Auto hoặc chọn tay</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Điện áp cực đại</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400 V (800 V đỉnh – đỉnh)</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Công suất cực đại</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100 W</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Độ chính xác dòng</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Tốt hơn 0,5%</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Độ dài xung dòng</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0,1 – 4 s</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Chu kỳ phát</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RES: + − − + ; IP: + 0 − 0</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245352" y="960120"/>
          <a:ext cx="5303520" cy="914400"/>
        </p:xfrm>
        <a:graphic>
          <a:graphicData uri="http://schemas.openxmlformats.org/drawingml/2006/table">
            <a:tbl>
              <a:tblPr/>
              <a:tblGrid>
                <a:gridCol w="1920240"/>
                <a:gridCol w="3383280"/>
              </a:tblGrid>
              <a:tr h="0">
                <a:tc>
                  <a:txBody>
                    <a:bodyPr/>
                    <a:lstStyle/>
                    <a:p>
                      <a:pPr indent="0" marL="0">
                        <a:buNone/>
                      </a:pPr>
                      <a:r>
                        <a:rPr lang="en-US" sz="1400" b="1" dirty="0">
                          <a:solidFill>
                            <a:srgbClr val="FFFFFF"/>
                          </a:solidFill>
                          <a:latin typeface="Tahoma" pitchFamily="34" charset="0"/>
                          <a:ea typeface="Tahoma" pitchFamily="34" charset="-122"/>
                          <a:cs typeface="Tahoma" pitchFamily="34" charset="-120"/>
                        </a:rPr>
                        <a:t>Bộ thu</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c>
                  <a:txBody>
                    <a:bodyPr/>
                    <a:lstStyle/>
                    <a:p>
                      <a:pPr indent="0" marL="0">
                        <a:buNone/>
                      </a:pPr>
                      <a:r>
                        <a:rPr lang="en-US" sz="1400" b="1" dirty="0">
                          <a:solidFill>
                            <a:srgbClr val="FFFFFF"/>
                          </a:solidFill>
                          <a:latin typeface="Tahoma" pitchFamily="34" charset="0"/>
                          <a:ea typeface="Tahoma" pitchFamily="34" charset="-122"/>
                          <a:cs typeface="Tahoma" pitchFamily="34" charset="-120"/>
                        </a:rPr>
                        <a:t>Giá trị [4]</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Số kênh</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SAS 1000: 1; SAS 4000: 4, cách ly điện</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Trở kháng vào</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 10 MΩ</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Thang đo</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±250 mV, ±10 V, ±400 V (tự chọn)</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Độ phân giải</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1 µV (0,5 s); lý thuyết 30 nV</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Độ chính xác V/I</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Tốt hơn 1% (1 – 1.000 mA)</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Dải động</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140 dB + 64 dB tự khuếch đại</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bl>
          </a:graphicData>
        </a:graphic>
      </p:graphicFrame>
      <p:sp>
        <p:nvSpPr>
          <p:cNvPr id="5" name="Shape 1"/>
          <p:cNvSpPr/>
          <p:nvPr/>
        </p:nvSpPr>
        <p:spPr>
          <a:xfrm>
            <a:off x="640080" y="4023360"/>
            <a:ext cx="10908792" cy="1097280"/>
          </a:xfrm>
          <a:prstGeom prst="roundRect">
            <a:avLst>
              <a:gd name="adj" fmla="val 6667"/>
            </a:avLst>
          </a:prstGeom>
          <a:solidFill>
            <a:srgbClr val="ECF3FA"/>
          </a:solidFill>
          <a:ln w="12700">
            <a:solidFill>
              <a:srgbClr val="ECF3FA"/>
            </a:solidFill>
            <a:prstDash val="solid"/>
          </a:ln>
        </p:spPr>
      </p:sp>
      <p:sp>
        <p:nvSpPr>
          <p:cNvPr id="6" name="Text 2"/>
          <p:cNvSpPr txBox="1"/>
          <p:nvPr/>
        </p:nvSpPr>
        <p:spPr>
          <a:xfrm>
            <a:off x="868680" y="4114800"/>
            <a:ext cx="3108960" cy="914400"/>
          </a:xfrm>
          <a:prstGeom prst="rect">
            <a:avLst/>
          </a:prstGeom>
          <a:noFill/>
          <a:ln/>
        </p:spPr>
        <p:txBody>
          <a:bodyPr wrap="square" lIns="508" tIns="508" rIns="508" bIns="508" rtlCol="0" anchor="ctr"/>
          <a:lstStyle/>
          <a:p>
            <a:pPr indent="0" marL="0">
              <a:buNone/>
            </a:pPr>
            <a:r>
              <a:rPr lang="en-US" sz="2600" b="1" dirty="0">
                <a:solidFill>
                  <a:srgbClr val="D95F0E"/>
                </a:solidFill>
                <a:latin typeface="Tahoma" pitchFamily="34" charset="0"/>
                <a:ea typeface="Tahoma" pitchFamily="34" charset="-122"/>
                <a:cs typeface="Tahoma" pitchFamily="34" charset="-120"/>
              </a:rPr>
              <a:t>≈ 1 A / 20 A</a:t>
            </a:r>
            <a:endParaRPr lang="en-US" sz="2600" dirty="0"/>
          </a:p>
        </p:txBody>
      </p:sp>
      <p:sp>
        <p:nvSpPr>
          <p:cNvPr id="7" name="Text 3"/>
          <p:cNvSpPr txBox="1"/>
          <p:nvPr/>
        </p:nvSpPr>
        <p:spPr>
          <a:xfrm>
            <a:off x="4069080" y="4114800"/>
            <a:ext cx="7251192" cy="914400"/>
          </a:xfrm>
          <a:prstGeom prst="rect">
            <a:avLst/>
          </a:prstGeom>
          <a:noFill/>
          <a:ln/>
        </p:spPr>
        <p:txBody>
          <a:bodyPr wrap="square" lIns="508" tIns="508" rIns="508" bIns="508" rtlCol="0" anchor="ctr"/>
          <a:lstStyle/>
          <a:p>
            <a:pPr indent="0" marL="0">
              <a:buNone/>
            </a:pPr>
            <a:r>
              <a:rPr lang="en-US" sz="1500" dirty="0">
                <a:solidFill>
                  <a:srgbClr val="1F1F1F"/>
                </a:solidFill>
                <a:latin typeface="Tahoma" pitchFamily="34" charset="0"/>
                <a:ea typeface="Tahoma" pitchFamily="34" charset="-122"/>
                <a:cs typeface="Tahoma" pitchFamily="34" charset="-120"/>
              </a:rPr>
              <a:t>Dòng tiêu thụ khi bật / khi phát dòng; ắc quy ngoài 12 V cần ≥ 25 Ah (60 Ah cho đo nặng) [4]</a:t>
            </a:r>
            <a:endParaRPr lang="en-US" sz="1500" dirty="0"/>
          </a:p>
        </p:txBody>
      </p:sp>
      <p:sp>
        <p:nvSpPr>
          <p:cNvPr id="8" name="Text 4"/>
          <p:cNvSpPr txBox="1"/>
          <p:nvPr/>
        </p:nvSpPr>
        <p:spPr>
          <a:xfrm>
            <a:off x="640080" y="5349240"/>
            <a:ext cx="10908792" cy="640080"/>
          </a:xfrm>
          <a:prstGeom prst="rect">
            <a:avLst/>
          </a:prstGeom>
          <a:noFill/>
          <a:ln/>
        </p:spPr>
        <p:txBody>
          <a:bodyPr wrap="square" lIns="508" tIns="508" rIns="508" bIns="508" rtlCol="0" anchor="ctr"/>
          <a:lstStyle/>
          <a:p>
            <a:pPr indent="0" marL="0">
              <a:buNone/>
            </a:pPr>
            <a:r>
              <a:rPr lang="en-US" sz="1600" b="1" dirty="0">
                <a:solidFill>
                  <a:srgbClr val="0086CA"/>
                </a:solidFill>
                <a:latin typeface="Tahoma" pitchFamily="34" charset="0"/>
                <a:ea typeface="Tahoma" pitchFamily="34" charset="-122"/>
                <a:cs typeface="Tahoma" pitchFamily="34" charset="-120"/>
              </a:rPr>
              <a:t>→ Bản 4 kênh (SAS 4000) đo 4 cặp MN cùng lúc cho mỗi lần phát dòng, nên đo ảnh điện 2D nhanh hơn khoảng 4 lần</a:t>
            </a:r>
            <a:endParaRPr lang="en-US" sz="16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3. Bảng điều khiển và cổng nối</a:t>
            </a:r>
            <a:endParaRPr lang="en-US" sz="2800" dirty="0"/>
          </a:p>
        </p:txBody>
      </p:sp>
      <p:pic>
        <p:nvPicPr>
          <p:cNvPr id="3" name="Image 0" descr="/home/claude/ass/fig/abem_panel.jpg">    </p:cNvPr>
          <p:cNvPicPr>
            <a:picLocks noChangeAspect="1"/>
          </p:cNvPicPr>
          <p:nvPr/>
        </p:nvPicPr>
        <p:blipFill>
          <a:blip r:embed="rId1"/>
          <a:stretch>
            <a:fillRect/>
          </a:stretch>
        </p:blipFill>
        <p:spPr>
          <a:xfrm>
            <a:off x="640080" y="1462057"/>
            <a:ext cx="6400800" cy="3751006"/>
          </a:xfrm>
          <a:prstGeom prst="rect">
            <a:avLst/>
          </a:prstGeom>
        </p:spPr>
      </p:pic>
      <p:sp>
        <p:nvSpPr>
          <p:cNvPr id="4" name="Shape 1"/>
          <p:cNvSpPr/>
          <p:nvPr/>
        </p:nvSpPr>
        <p:spPr>
          <a:xfrm>
            <a:off x="640080" y="1462057"/>
            <a:ext cx="6400800" cy="3751006"/>
          </a:xfrm>
          <a:prstGeom prst="rect">
            <a:avLst/>
          </a:prstGeom>
          <a:ln w="9525">
            <a:solidFill>
              <a:srgbClr val="C9D8EA"/>
            </a:solidFill>
            <a:prstDash val="solid"/>
          </a:ln>
        </p:spPr>
      </p:sp>
      <p:sp>
        <p:nvSpPr>
          <p:cNvPr id="5" name="Text 2"/>
          <p:cNvSpPr txBox="1"/>
          <p:nvPr/>
        </p:nvSpPr>
        <p:spPr>
          <a:xfrm>
            <a:off x="640080" y="5267927"/>
            <a:ext cx="6400800" cy="292608"/>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Hình 3. Mặt máy Terrameter (đánh số theo chú thích)</a:t>
            </a:r>
            <a:endParaRPr lang="en-US" sz="1200" dirty="0"/>
          </a:p>
        </p:txBody>
      </p:sp>
      <p:sp>
        <p:nvSpPr>
          <p:cNvPr id="6" name="Shape 3"/>
          <p:cNvSpPr/>
          <p:nvPr/>
        </p:nvSpPr>
        <p:spPr>
          <a:xfrm>
            <a:off x="1016950" y="2630424"/>
            <a:ext cx="347472" cy="347472"/>
          </a:xfrm>
          <a:prstGeom prst="ellipse">
            <a:avLst/>
          </a:prstGeom>
          <a:solidFill>
            <a:srgbClr val="D95F0E"/>
          </a:solidFill>
          <a:ln w="19050">
            <a:solidFill>
              <a:srgbClr val="FFFFFF"/>
            </a:solidFill>
            <a:prstDash val="solid"/>
          </a:ln>
        </p:spPr>
      </p:sp>
      <p:sp>
        <p:nvSpPr>
          <p:cNvPr id="7" name="Text 4"/>
          <p:cNvSpPr/>
          <p:nvPr/>
        </p:nvSpPr>
        <p:spPr>
          <a:xfrm>
            <a:off x="1016950" y="263042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Tahoma" pitchFamily="34" charset="0"/>
                <a:ea typeface="Tahoma" pitchFamily="34" charset="-122"/>
                <a:cs typeface="Tahoma" pitchFamily="34" charset="-120"/>
              </a:rPr>
              <a:t>1</a:t>
            </a:r>
            <a:endParaRPr lang="en-US" sz="1200" dirty="0"/>
          </a:p>
        </p:txBody>
      </p:sp>
      <p:sp>
        <p:nvSpPr>
          <p:cNvPr id="8" name="Shape 5"/>
          <p:cNvSpPr/>
          <p:nvPr/>
        </p:nvSpPr>
        <p:spPr>
          <a:xfrm>
            <a:off x="2944073" y="1770101"/>
            <a:ext cx="347472" cy="347472"/>
          </a:xfrm>
          <a:prstGeom prst="ellipse">
            <a:avLst/>
          </a:prstGeom>
          <a:solidFill>
            <a:srgbClr val="D95F0E"/>
          </a:solidFill>
          <a:ln w="19050">
            <a:solidFill>
              <a:srgbClr val="FFFFFF"/>
            </a:solidFill>
            <a:prstDash val="solid"/>
          </a:ln>
        </p:spPr>
      </p:sp>
      <p:sp>
        <p:nvSpPr>
          <p:cNvPr id="9" name="Text 6"/>
          <p:cNvSpPr/>
          <p:nvPr/>
        </p:nvSpPr>
        <p:spPr>
          <a:xfrm>
            <a:off x="2944073" y="1770101"/>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Tahoma" pitchFamily="34" charset="0"/>
                <a:ea typeface="Tahoma" pitchFamily="34" charset="-122"/>
                <a:cs typeface="Tahoma" pitchFamily="34" charset="-120"/>
              </a:rPr>
              <a:t>2</a:t>
            </a:r>
            <a:endParaRPr lang="en-US" sz="1200" dirty="0"/>
          </a:p>
        </p:txBody>
      </p:sp>
      <p:sp>
        <p:nvSpPr>
          <p:cNvPr id="10" name="Shape 7"/>
          <p:cNvSpPr/>
          <p:nvPr/>
        </p:nvSpPr>
        <p:spPr>
          <a:xfrm>
            <a:off x="4079699" y="1770101"/>
            <a:ext cx="347472" cy="347472"/>
          </a:xfrm>
          <a:prstGeom prst="ellipse">
            <a:avLst/>
          </a:prstGeom>
          <a:solidFill>
            <a:srgbClr val="D95F0E"/>
          </a:solidFill>
          <a:ln w="19050">
            <a:solidFill>
              <a:srgbClr val="FFFFFF"/>
            </a:solidFill>
            <a:prstDash val="solid"/>
          </a:ln>
        </p:spPr>
      </p:sp>
      <p:sp>
        <p:nvSpPr>
          <p:cNvPr id="11" name="Text 8"/>
          <p:cNvSpPr/>
          <p:nvPr/>
        </p:nvSpPr>
        <p:spPr>
          <a:xfrm>
            <a:off x="4079699" y="1770101"/>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Tahoma" pitchFamily="34" charset="0"/>
                <a:ea typeface="Tahoma" pitchFamily="34" charset="-122"/>
                <a:cs typeface="Tahoma" pitchFamily="34" charset="-120"/>
              </a:rPr>
              <a:t>3</a:t>
            </a:r>
            <a:endParaRPr lang="en-US" sz="1200" dirty="0"/>
          </a:p>
        </p:txBody>
      </p:sp>
      <p:sp>
        <p:nvSpPr>
          <p:cNvPr id="12" name="Shape 9"/>
          <p:cNvSpPr/>
          <p:nvPr/>
        </p:nvSpPr>
        <p:spPr>
          <a:xfrm>
            <a:off x="3288202" y="2768076"/>
            <a:ext cx="347472" cy="347472"/>
          </a:xfrm>
          <a:prstGeom prst="ellipse">
            <a:avLst/>
          </a:prstGeom>
          <a:solidFill>
            <a:srgbClr val="D95F0E"/>
          </a:solidFill>
          <a:ln w="19050">
            <a:solidFill>
              <a:srgbClr val="FFFFFF"/>
            </a:solidFill>
            <a:prstDash val="solid"/>
          </a:ln>
        </p:spPr>
      </p:sp>
      <p:sp>
        <p:nvSpPr>
          <p:cNvPr id="13" name="Text 10"/>
          <p:cNvSpPr/>
          <p:nvPr/>
        </p:nvSpPr>
        <p:spPr>
          <a:xfrm>
            <a:off x="3288202" y="27680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Tahoma" pitchFamily="34" charset="0"/>
                <a:ea typeface="Tahoma" pitchFamily="34" charset="-122"/>
                <a:cs typeface="Tahoma" pitchFamily="34" charset="-120"/>
              </a:rPr>
              <a:t>4</a:t>
            </a:r>
            <a:endParaRPr lang="en-US" sz="1200" dirty="0"/>
          </a:p>
        </p:txBody>
      </p:sp>
      <p:sp>
        <p:nvSpPr>
          <p:cNvPr id="14" name="Shape 11"/>
          <p:cNvSpPr/>
          <p:nvPr/>
        </p:nvSpPr>
        <p:spPr>
          <a:xfrm>
            <a:off x="5297916" y="1680628"/>
            <a:ext cx="347472" cy="347472"/>
          </a:xfrm>
          <a:prstGeom prst="ellipse">
            <a:avLst/>
          </a:prstGeom>
          <a:solidFill>
            <a:srgbClr val="D95F0E"/>
          </a:solidFill>
          <a:ln w="19050">
            <a:solidFill>
              <a:srgbClr val="FFFFFF"/>
            </a:solidFill>
            <a:prstDash val="solid"/>
          </a:ln>
        </p:spPr>
      </p:sp>
      <p:sp>
        <p:nvSpPr>
          <p:cNvPr id="15" name="Text 12"/>
          <p:cNvSpPr/>
          <p:nvPr/>
        </p:nvSpPr>
        <p:spPr>
          <a:xfrm>
            <a:off x="5297916" y="168062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Tahoma" pitchFamily="34" charset="0"/>
                <a:ea typeface="Tahoma" pitchFamily="34" charset="-122"/>
                <a:cs typeface="Tahoma" pitchFamily="34" charset="-120"/>
              </a:rPr>
              <a:t>5</a:t>
            </a:r>
            <a:endParaRPr lang="en-US" sz="1200" dirty="0"/>
          </a:p>
        </p:txBody>
      </p:sp>
      <p:sp>
        <p:nvSpPr>
          <p:cNvPr id="16" name="Shape 13"/>
          <p:cNvSpPr/>
          <p:nvPr/>
        </p:nvSpPr>
        <p:spPr>
          <a:xfrm>
            <a:off x="5573219" y="2251882"/>
            <a:ext cx="347472" cy="347472"/>
          </a:xfrm>
          <a:prstGeom prst="ellipse">
            <a:avLst/>
          </a:prstGeom>
          <a:solidFill>
            <a:srgbClr val="D95F0E"/>
          </a:solidFill>
          <a:ln w="19050">
            <a:solidFill>
              <a:srgbClr val="FFFFFF"/>
            </a:solidFill>
            <a:prstDash val="solid"/>
          </a:ln>
        </p:spPr>
      </p:sp>
      <p:sp>
        <p:nvSpPr>
          <p:cNvPr id="17" name="Text 14"/>
          <p:cNvSpPr/>
          <p:nvPr/>
        </p:nvSpPr>
        <p:spPr>
          <a:xfrm>
            <a:off x="5573219" y="225188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Tahoma" pitchFamily="34" charset="0"/>
                <a:ea typeface="Tahoma" pitchFamily="34" charset="-122"/>
                <a:cs typeface="Tahoma" pitchFamily="34" charset="-120"/>
              </a:rPr>
              <a:t>6</a:t>
            </a:r>
            <a:endParaRPr lang="en-US" sz="1200" dirty="0"/>
          </a:p>
        </p:txBody>
      </p:sp>
      <p:sp>
        <p:nvSpPr>
          <p:cNvPr id="18" name="Shape 15"/>
          <p:cNvSpPr/>
          <p:nvPr/>
        </p:nvSpPr>
        <p:spPr>
          <a:xfrm>
            <a:off x="5146499" y="2664837"/>
            <a:ext cx="347472" cy="347472"/>
          </a:xfrm>
          <a:prstGeom prst="ellipse">
            <a:avLst/>
          </a:prstGeom>
          <a:solidFill>
            <a:srgbClr val="D95F0E"/>
          </a:solidFill>
          <a:ln w="19050">
            <a:solidFill>
              <a:srgbClr val="FFFFFF"/>
            </a:solidFill>
            <a:prstDash val="solid"/>
          </a:ln>
        </p:spPr>
      </p:sp>
      <p:sp>
        <p:nvSpPr>
          <p:cNvPr id="19" name="Text 16"/>
          <p:cNvSpPr/>
          <p:nvPr/>
        </p:nvSpPr>
        <p:spPr>
          <a:xfrm>
            <a:off x="5146499" y="2664837"/>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Tahoma" pitchFamily="34" charset="0"/>
                <a:ea typeface="Tahoma" pitchFamily="34" charset="-122"/>
                <a:cs typeface="Tahoma" pitchFamily="34" charset="-120"/>
              </a:rPr>
              <a:t>7</a:t>
            </a:r>
            <a:endParaRPr lang="en-US" sz="1200" dirty="0"/>
          </a:p>
        </p:txBody>
      </p:sp>
      <p:sp>
        <p:nvSpPr>
          <p:cNvPr id="20" name="Shape 17"/>
          <p:cNvSpPr/>
          <p:nvPr/>
        </p:nvSpPr>
        <p:spPr>
          <a:xfrm>
            <a:off x="5614514" y="2974553"/>
            <a:ext cx="347472" cy="347472"/>
          </a:xfrm>
          <a:prstGeom prst="ellipse">
            <a:avLst/>
          </a:prstGeom>
          <a:solidFill>
            <a:srgbClr val="D95F0E"/>
          </a:solidFill>
          <a:ln w="19050">
            <a:solidFill>
              <a:srgbClr val="FFFFFF"/>
            </a:solidFill>
            <a:prstDash val="solid"/>
          </a:ln>
        </p:spPr>
      </p:sp>
      <p:sp>
        <p:nvSpPr>
          <p:cNvPr id="21" name="Text 18"/>
          <p:cNvSpPr/>
          <p:nvPr/>
        </p:nvSpPr>
        <p:spPr>
          <a:xfrm>
            <a:off x="5614514" y="2974553"/>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Tahoma" pitchFamily="34" charset="0"/>
                <a:ea typeface="Tahoma" pitchFamily="34" charset="-122"/>
                <a:cs typeface="Tahoma" pitchFamily="34" charset="-120"/>
              </a:rPr>
              <a:t>8</a:t>
            </a:r>
            <a:endParaRPr lang="en-US" sz="1200" dirty="0"/>
          </a:p>
        </p:txBody>
      </p:sp>
      <p:sp>
        <p:nvSpPr>
          <p:cNvPr id="22" name="Shape 19"/>
          <p:cNvSpPr/>
          <p:nvPr/>
        </p:nvSpPr>
        <p:spPr>
          <a:xfrm>
            <a:off x="5215325" y="3112205"/>
            <a:ext cx="347472" cy="347472"/>
          </a:xfrm>
          <a:prstGeom prst="ellipse">
            <a:avLst/>
          </a:prstGeom>
          <a:solidFill>
            <a:srgbClr val="D95F0E"/>
          </a:solidFill>
          <a:ln w="19050">
            <a:solidFill>
              <a:srgbClr val="FFFFFF"/>
            </a:solidFill>
            <a:prstDash val="solid"/>
          </a:ln>
        </p:spPr>
      </p:sp>
      <p:sp>
        <p:nvSpPr>
          <p:cNvPr id="23" name="Text 20"/>
          <p:cNvSpPr/>
          <p:nvPr/>
        </p:nvSpPr>
        <p:spPr>
          <a:xfrm>
            <a:off x="5215325" y="3112205"/>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Tahoma" pitchFamily="34" charset="0"/>
                <a:ea typeface="Tahoma" pitchFamily="34" charset="-122"/>
                <a:cs typeface="Tahoma" pitchFamily="34" charset="-120"/>
              </a:rPr>
              <a:t>9</a:t>
            </a:r>
            <a:endParaRPr lang="en-US" sz="1200" dirty="0"/>
          </a:p>
        </p:txBody>
      </p:sp>
      <p:sp>
        <p:nvSpPr>
          <p:cNvPr id="24" name="Shape 21"/>
          <p:cNvSpPr/>
          <p:nvPr/>
        </p:nvSpPr>
        <p:spPr>
          <a:xfrm>
            <a:off x="7315200" y="941832"/>
            <a:ext cx="310896" cy="310896"/>
          </a:xfrm>
          <a:prstGeom prst="ellipse">
            <a:avLst/>
          </a:prstGeom>
          <a:solidFill>
            <a:srgbClr val="D95F0E"/>
          </a:solidFill>
          <a:ln w="12700">
            <a:solidFill>
              <a:srgbClr val="D95F0E"/>
            </a:solidFill>
            <a:prstDash val="solid"/>
          </a:ln>
        </p:spPr>
      </p:sp>
      <p:sp>
        <p:nvSpPr>
          <p:cNvPr id="25" name="Text 22"/>
          <p:cNvSpPr/>
          <p:nvPr/>
        </p:nvSpPr>
        <p:spPr>
          <a:xfrm>
            <a:off x="7315200" y="9418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Tahoma" pitchFamily="34" charset="0"/>
                <a:ea typeface="Tahoma" pitchFamily="34" charset="-122"/>
                <a:cs typeface="Tahoma" pitchFamily="34" charset="-120"/>
              </a:rPr>
              <a:t>1</a:t>
            </a:r>
            <a:endParaRPr lang="en-US" sz="1100" dirty="0"/>
          </a:p>
        </p:txBody>
      </p:sp>
      <p:sp>
        <p:nvSpPr>
          <p:cNvPr id="26" name="Text 23"/>
          <p:cNvSpPr txBox="1"/>
          <p:nvPr/>
        </p:nvSpPr>
        <p:spPr>
          <a:xfrm>
            <a:off x="7754112" y="914400"/>
            <a:ext cx="3794760" cy="548640"/>
          </a:xfrm>
          <a:prstGeom prst="rect">
            <a:avLst/>
          </a:prstGeom>
          <a:noFill/>
          <a:ln/>
        </p:spPr>
        <p:txBody>
          <a:bodyPr wrap="square" lIns="508" tIns="508" rIns="508" bIns="508" rtlCol="0" anchor="ctr"/>
          <a:lstStyle/>
          <a:p>
            <a:pPr indent="0" marL="0">
              <a:buNone/>
            </a:pPr>
            <a:r>
              <a:rPr lang="en-US" sz="1400" b="1" dirty="0">
                <a:solidFill>
                  <a:srgbClr val="1F1F1F"/>
                </a:solidFill>
                <a:latin typeface="Tahoma" pitchFamily="34" charset="0"/>
                <a:ea typeface="Tahoma" pitchFamily="34" charset="-122"/>
                <a:cs typeface="Tahoma" pitchFamily="34" charset="-120"/>
              </a:rPr>
              <a:t>MULTI:</a:t>
            </a:r>
            <a:r>
              <a:rPr lang="en-US" sz="1400" dirty="0">
                <a:solidFill>
                  <a:srgbClr val="1F1F1F"/>
                </a:solidFill>
                <a:latin typeface="Tahoma" pitchFamily="34" charset="0"/>
                <a:ea typeface="Tahoma" pitchFamily="34" charset="-122"/>
                <a:cs typeface="Tahoma" pitchFamily="34" charset="-120"/>
              </a:rPr>
              <a:t> nối hệ đa cực LUND, RS-232</a:t>
            </a:r>
            <a:endParaRPr lang="en-US" sz="1400" dirty="0"/>
          </a:p>
        </p:txBody>
      </p:sp>
      <p:sp>
        <p:nvSpPr>
          <p:cNvPr id="27" name="Shape 24"/>
          <p:cNvSpPr/>
          <p:nvPr/>
        </p:nvSpPr>
        <p:spPr>
          <a:xfrm>
            <a:off x="7315200" y="1527048"/>
            <a:ext cx="310896" cy="310896"/>
          </a:xfrm>
          <a:prstGeom prst="ellipse">
            <a:avLst/>
          </a:prstGeom>
          <a:solidFill>
            <a:srgbClr val="D95F0E"/>
          </a:solidFill>
          <a:ln w="12700">
            <a:solidFill>
              <a:srgbClr val="D95F0E"/>
            </a:solidFill>
            <a:prstDash val="solid"/>
          </a:ln>
        </p:spPr>
      </p:sp>
      <p:sp>
        <p:nvSpPr>
          <p:cNvPr id="28" name="Text 25"/>
          <p:cNvSpPr/>
          <p:nvPr/>
        </p:nvSpPr>
        <p:spPr>
          <a:xfrm>
            <a:off x="7315200" y="15270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Tahoma" pitchFamily="34" charset="0"/>
                <a:ea typeface="Tahoma" pitchFamily="34" charset="-122"/>
                <a:cs typeface="Tahoma" pitchFamily="34" charset="-120"/>
              </a:rPr>
              <a:t>2</a:t>
            </a:r>
            <a:endParaRPr lang="en-US" sz="1100" dirty="0"/>
          </a:p>
        </p:txBody>
      </p:sp>
      <p:sp>
        <p:nvSpPr>
          <p:cNvPr id="29" name="Text 26"/>
          <p:cNvSpPr txBox="1"/>
          <p:nvPr/>
        </p:nvSpPr>
        <p:spPr>
          <a:xfrm>
            <a:off x="7754112" y="1499616"/>
            <a:ext cx="3794760" cy="548640"/>
          </a:xfrm>
          <a:prstGeom prst="rect">
            <a:avLst/>
          </a:prstGeom>
          <a:noFill/>
          <a:ln/>
        </p:spPr>
        <p:txBody>
          <a:bodyPr wrap="square" lIns="508" tIns="508" rIns="508" bIns="508" rtlCol="0" anchor="ctr"/>
          <a:lstStyle/>
          <a:p>
            <a:pPr indent="0" marL="0">
              <a:buNone/>
            </a:pPr>
            <a:r>
              <a:rPr lang="en-US" sz="1400" b="1" dirty="0">
                <a:solidFill>
                  <a:srgbClr val="1F1F1F"/>
                </a:solidFill>
                <a:latin typeface="Tahoma" pitchFamily="34" charset="0"/>
                <a:ea typeface="Tahoma" pitchFamily="34" charset="-122"/>
                <a:cs typeface="Tahoma" pitchFamily="34" charset="-120"/>
              </a:rPr>
              <a:t>C1, C2:</a:t>
            </a:r>
            <a:r>
              <a:rPr lang="en-US" sz="1400" dirty="0">
                <a:solidFill>
                  <a:srgbClr val="1F1F1F"/>
                </a:solidFill>
                <a:latin typeface="Tahoma" pitchFamily="34" charset="0"/>
                <a:ea typeface="Tahoma" pitchFamily="34" charset="-122"/>
                <a:cs typeface="Tahoma" pitchFamily="34" charset="-120"/>
              </a:rPr>
              <a:t> cực phát dòng A, B</a:t>
            </a:r>
            <a:endParaRPr lang="en-US" sz="1400" dirty="0"/>
          </a:p>
        </p:txBody>
      </p:sp>
      <p:sp>
        <p:nvSpPr>
          <p:cNvPr id="30" name="Shape 27"/>
          <p:cNvSpPr/>
          <p:nvPr/>
        </p:nvSpPr>
        <p:spPr>
          <a:xfrm>
            <a:off x="7315200" y="2112264"/>
            <a:ext cx="310896" cy="310896"/>
          </a:xfrm>
          <a:prstGeom prst="ellipse">
            <a:avLst/>
          </a:prstGeom>
          <a:solidFill>
            <a:srgbClr val="D95F0E"/>
          </a:solidFill>
          <a:ln w="12700">
            <a:solidFill>
              <a:srgbClr val="D95F0E"/>
            </a:solidFill>
            <a:prstDash val="solid"/>
          </a:ln>
        </p:spPr>
      </p:sp>
      <p:sp>
        <p:nvSpPr>
          <p:cNvPr id="31" name="Text 28"/>
          <p:cNvSpPr/>
          <p:nvPr/>
        </p:nvSpPr>
        <p:spPr>
          <a:xfrm>
            <a:off x="7315200" y="211226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Tahoma" pitchFamily="34" charset="0"/>
                <a:ea typeface="Tahoma" pitchFamily="34" charset="-122"/>
                <a:cs typeface="Tahoma" pitchFamily="34" charset="-120"/>
              </a:rPr>
              <a:t>3</a:t>
            </a:r>
            <a:endParaRPr lang="en-US" sz="1100" dirty="0"/>
          </a:p>
        </p:txBody>
      </p:sp>
      <p:sp>
        <p:nvSpPr>
          <p:cNvPr id="32" name="Text 29"/>
          <p:cNvSpPr txBox="1"/>
          <p:nvPr/>
        </p:nvSpPr>
        <p:spPr>
          <a:xfrm>
            <a:off x="7754112" y="2084832"/>
            <a:ext cx="3794760" cy="548640"/>
          </a:xfrm>
          <a:prstGeom prst="rect">
            <a:avLst/>
          </a:prstGeom>
          <a:noFill/>
          <a:ln/>
        </p:spPr>
        <p:txBody>
          <a:bodyPr wrap="square" lIns="508" tIns="508" rIns="508" bIns="508" rtlCol="0" anchor="ctr"/>
          <a:lstStyle/>
          <a:p>
            <a:pPr indent="0" marL="0">
              <a:buNone/>
            </a:pPr>
            <a:r>
              <a:rPr lang="en-US" sz="1400" b="1" dirty="0">
                <a:solidFill>
                  <a:srgbClr val="1F1F1F"/>
                </a:solidFill>
                <a:latin typeface="Tahoma" pitchFamily="34" charset="0"/>
                <a:ea typeface="Tahoma" pitchFamily="34" charset="-122"/>
                <a:cs typeface="Tahoma" pitchFamily="34" charset="-120"/>
              </a:rPr>
              <a:t>P1, P2:</a:t>
            </a:r>
            <a:r>
              <a:rPr lang="en-US" sz="1400" dirty="0">
                <a:solidFill>
                  <a:srgbClr val="1F1F1F"/>
                </a:solidFill>
                <a:latin typeface="Tahoma" pitchFamily="34" charset="0"/>
                <a:ea typeface="Tahoma" pitchFamily="34" charset="-122"/>
                <a:cs typeface="Tahoma" pitchFamily="34" charset="-120"/>
              </a:rPr>
              <a:t> cực thu điện thế M, N</a:t>
            </a:r>
            <a:endParaRPr lang="en-US" sz="1400" dirty="0"/>
          </a:p>
        </p:txBody>
      </p:sp>
      <p:sp>
        <p:nvSpPr>
          <p:cNvPr id="33" name="Shape 30"/>
          <p:cNvSpPr/>
          <p:nvPr/>
        </p:nvSpPr>
        <p:spPr>
          <a:xfrm>
            <a:off x="7315200" y="2697480"/>
            <a:ext cx="310896" cy="310896"/>
          </a:xfrm>
          <a:prstGeom prst="ellipse">
            <a:avLst/>
          </a:prstGeom>
          <a:solidFill>
            <a:srgbClr val="D95F0E"/>
          </a:solidFill>
          <a:ln w="12700">
            <a:solidFill>
              <a:srgbClr val="D95F0E"/>
            </a:solidFill>
            <a:prstDash val="solid"/>
          </a:ln>
        </p:spPr>
      </p:sp>
      <p:sp>
        <p:nvSpPr>
          <p:cNvPr id="34" name="Text 31"/>
          <p:cNvSpPr/>
          <p:nvPr/>
        </p:nvSpPr>
        <p:spPr>
          <a:xfrm>
            <a:off x="7315200" y="26974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Tahoma" pitchFamily="34" charset="0"/>
                <a:ea typeface="Tahoma" pitchFamily="34" charset="-122"/>
                <a:cs typeface="Tahoma" pitchFamily="34" charset="-120"/>
              </a:rPr>
              <a:t>4</a:t>
            </a:r>
            <a:endParaRPr lang="en-US" sz="1100" dirty="0"/>
          </a:p>
        </p:txBody>
      </p:sp>
      <p:sp>
        <p:nvSpPr>
          <p:cNvPr id="35" name="Text 32"/>
          <p:cNvSpPr txBox="1"/>
          <p:nvPr/>
        </p:nvSpPr>
        <p:spPr>
          <a:xfrm>
            <a:off x="7754112" y="2670048"/>
            <a:ext cx="3794760" cy="548640"/>
          </a:xfrm>
          <a:prstGeom prst="rect">
            <a:avLst/>
          </a:prstGeom>
          <a:noFill/>
          <a:ln/>
        </p:spPr>
        <p:txBody>
          <a:bodyPr wrap="square" lIns="508" tIns="508" rIns="508" bIns="508" rtlCol="0" anchor="ctr"/>
          <a:lstStyle/>
          <a:p>
            <a:pPr indent="0" marL="0">
              <a:buNone/>
            </a:pPr>
            <a:r>
              <a:rPr lang="en-US" sz="1400" b="1" dirty="0">
                <a:solidFill>
                  <a:srgbClr val="1F1F1F"/>
                </a:solidFill>
                <a:latin typeface="Tahoma" pitchFamily="34" charset="0"/>
                <a:ea typeface="Tahoma" pitchFamily="34" charset="-122"/>
                <a:cs typeface="Tahoma" pitchFamily="34" charset="-120"/>
              </a:rPr>
              <a:t>Màn hình:</a:t>
            </a:r>
            <a:r>
              <a:rPr lang="en-US" sz="1400" dirty="0">
                <a:solidFill>
                  <a:srgbClr val="1F1F1F"/>
                </a:solidFill>
                <a:latin typeface="Tahoma" pitchFamily="34" charset="0"/>
                <a:ea typeface="Tahoma" pitchFamily="34" charset="-122"/>
                <a:cs typeface="Tahoma" pitchFamily="34" charset="-120"/>
              </a:rPr>
              <a:t> menu, bảng kết quả</a:t>
            </a:r>
            <a:endParaRPr lang="en-US" sz="1400" dirty="0"/>
          </a:p>
        </p:txBody>
      </p:sp>
      <p:sp>
        <p:nvSpPr>
          <p:cNvPr id="36" name="Shape 33"/>
          <p:cNvSpPr/>
          <p:nvPr/>
        </p:nvSpPr>
        <p:spPr>
          <a:xfrm>
            <a:off x="7315200" y="3282696"/>
            <a:ext cx="310896" cy="310896"/>
          </a:xfrm>
          <a:prstGeom prst="ellipse">
            <a:avLst/>
          </a:prstGeom>
          <a:solidFill>
            <a:srgbClr val="D95F0E"/>
          </a:solidFill>
          <a:ln w="12700">
            <a:solidFill>
              <a:srgbClr val="D95F0E"/>
            </a:solidFill>
            <a:prstDash val="solid"/>
          </a:ln>
        </p:spPr>
      </p:sp>
      <p:sp>
        <p:nvSpPr>
          <p:cNvPr id="37" name="Text 34"/>
          <p:cNvSpPr/>
          <p:nvPr/>
        </p:nvSpPr>
        <p:spPr>
          <a:xfrm>
            <a:off x="7315200" y="328269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Tahoma" pitchFamily="34" charset="0"/>
                <a:ea typeface="Tahoma" pitchFamily="34" charset="-122"/>
                <a:cs typeface="Tahoma" pitchFamily="34" charset="-120"/>
              </a:rPr>
              <a:t>5</a:t>
            </a:r>
            <a:endParaRPr lang="en-US" sz="1100" dirty="0"/>
          </a:p>
        </p:txBody>
      </p:sp>
      <p:sp>
        <p:nvSpPr>
          <p:cNvPr id="38" name="Text 35"/>
          <p:cNvSpPr txBox="1"/>
          <p:nvPr/>
        </p:nvSpPr>
        <p:spPr>
          <a:xfrm>
            <a:off x="7754112" y="3255264"/>
            <a:ext cx="3794760" cy="548640"/>
          </a:xfrm>
          <a:prstGeom prst="rect">
            <a:avLst/>
          </a:prstGeom>
          <a:noFill/>
          <a:ln/>
        </p:spPr>
        <p:txBody>
          <a:bodyPr wrap="square" lIns="508" tIns="508" rIns="508" bIns="508" rtlCol="0" anchor="ctr"/>
          <a:lstStyle/>
          <a:p>
            <a:pPr indent="0" marL="0">
              <a:buNone/>
            </a:pPr>
            <a:r>
              <a:rPr lang="en-US" sz="1400" b="1" dirty="0">
                <a:solidFill>
                  <a:srgbClr val="1F1F1F"/>
                </a:solidFill>
                <a:latin typeface="Tahoma" pitchFamily="34" charset="0"/>
                <a:ea typeface="Tahoma" pitchFamily="34" charset="-122"/>
                <a:cs typeface="Tahoma" pitchFamily="34" charset="-120"/>
              </a:rPr>
              <a:t>MEASURE:</a:t>
            </a:r>
            <a:r>
              <a:rPr lang="en-US" sz="1400" dirty="0">
                <a:solidFill>
                  <a:srgbClr val="1F1F1F"/>
                </a:solidFill>
                <a:latin typeface="Tahoma" pitchFamily="34" charset="0"/>
                <a:ea typeface="Tahoma" pitchFamily="34" charset="-122"/>
                <a:cs typeface="Tahoma" pitchFamily="34" charset="-120"/>
              </a:rPr>
              <a:t> xoay để đo</a:t>
            </a:r>
            <a:endParaRPr lang="en-US" sz="1400" dirty="0"/>
          </a:p>
        </p:txBody>
      </p:sp>
      <p:sp>
        <p:nvSpPr>
          <p:cNvPr id="39" name="Shape 36"/>
          <p:cNvSpPr/>
          <p:nvPr/>
        </p:nvSpPr>
        <p:spPr>
          <a:xfrm>
            <a:off x="7315200" y="3867912"/>
            <a:ext cx="310896" cy="310896"/>
          </a:xfrm>
          <a:prstGeom prst="ellipse">
            <a:avLst/>
          </a:prstGeom>
          <a:solidFill>
            <a:srgbClr val="D95F0E"/>
          </a:solidFill>
          <a:ln w="12700">
            <a:solidFill>
              <a:srgbClr val="D95F0E"/>
            </a:solidFill>
            <a:prstDash val="solid"/>
          </a:ln>
        </p:spPr>
      </p:sp>
      <p:sp>
        <p:nvSpPr>
          <p:cNvPr id="40" name="Text 37"/>
          <p:cNvSpPr/>
          <p:nvPr/>
        </p:nvSpPr>
        <p:spPr>
          <a:xfrm>
            <a:off x="7315200" y="3867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Tahoma" pitchFamily="34" charset="0"/>
                <a:ea typeface="Tahoma" pitchFamily="34" charset="-122"/>
                <a:cs typeface="Tahoma" pitchFamily="34" charset="-120"/>
              </a:rPr>
              <a:t>6</a:t>
            </a:r>
            <a:endParaRPr lang="en-US" sz="1100" dirty="0"/>
          </a:p>
        </p:txBody>
      </p:sp>
      <p:sp>
        <p:nvSpPr>
          <p:cNvPr id="41" name="Text 38"/>
          <p:cNvSpPr txBox="1"/>
          <p:nvPr/>
        </p:nvSpPr>
        <p:spPr>
          <a:xfrm>
            <a:off x="7754112" y="3840480"/>
            <a:ext cx="3794760" cy="548640"/>
          </a:xfrm>
          <a:prstGeom prst="rect">
            <a:avLst/>
          </a:prstGeom>
          <a:noFill/>
          <a:ln/>
        </p:spPr>
        <p:txBody>
          <a:bodyPr wrap="square" lIns="508" tIns="508" rIns="508" bIns="508" rtlCol="0" anchor="ctr"/>
          <a:lstStyle/>
          <a:p>
            <a:pPr indent="0" marL="0">
              <a:buNone/>
            </a:pPr>
            <a:r>
              <a:rPr lang="en-US" sz="1400" b="1" dirty="0">
                <a:solidFill>
                  <a:srgbClr val="1F1F1F"/>
                </a:solidFill>
                <a:latin typeface="Tahoma" pitchFamily="34" charset="0"/>
                <a:ea typeface="Tahoma" pitchFamily="34" charset="-122"/>
                <a:cs typeface="Tahoma" pitchFamily="34" charset="-120"/>
              </a:rPr>
              <a:t>OK / Cancel:</a:t>
            </a:r>
            <a:r>
              <a:rPr lang="en-US" sz="1400" dirty="0">
                <a:solidFill>
                  <a:srgbClr val="1F1F1F"/>
                </a:solidFill>
                <a:latin typeface="Tahoma" pitchFamily="34" charset="0"/>
                <a:ea typeface="Tahoma" pitchFamily="34" charset="-122"/>
                <a:cs typeface="Tahoma" pitchFamily="34" charset="-120"/>
              </a:rPr>
              <a:t> xoay phải / xoay trái</a:t>
            </a:r>
            <a:endParaRPr lang="en-US" sz="1400" dirty="0"/>
          </a:p>
        </p:txBody>
      </p:sp>
      <p:sp>
        <p:nvSpPr>
          <p:cNvPr id="42" name="Shape 39"/>
          <p:cNvSpPr/>
          <p:nvPr/>
        </p:nvSpPr>
        <p:spPr>
          <a:xfrm>
            <a:off x="7315200" y="4453128"/>
            <a:ext cx="310896" cy="310896"/>
          </a:xfrm>
          <a:prstGeom prst="ellipse">
            <a:avLst/>
          </a:prstGeom>
          <a:solidFill>
            <a:srgbClr val="D95F0E"/>
          </a:solidFill>
          <a:ln w="12700">
            <a:solidFill>
              <a:srgbClr val="D95F0E"/>
            </a:solidFill>
            <a:prstDash val="solid"/>
          </a:ln>
        </p:spPr>
      </p:sp>
      <p:sp>
        <p:nvSpPr>
          <p:cNvPr id="43" name="Text 40"/>
          <p:cNvSpPr/>
          <p:nvPr/>
        </p:nvSpPr>
        <p:spPr>
          <a:xfrm>
            <a:off x="7315200" y="44531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Tahoma" pitchFamily="34" charset="0"/>
                <a:ea typeface="Tahoma" pitchFamily="34" charset="-122"/>
                <a:cs typeface="Tahoma" pitchFamily="34" charset="-120"/>
              </a:rPr>
              <a:t>7</a:t>
            </a:r>
            <a:endParaRPr lang="en-US" sz="1100" dirty="0"/>
          </a:p>
        </p:txBody>
      </p:sp>
      <p:sp>
        <p:nvSpPr>
          <p:cNvPr id="44" name="Text 41"/>
          <p:cNvSpPr txBox="1"/>
          <p:nvPr/>
        </p:nvSpPr>
        <p:spPr>
          <a:xfrm>
            <a:off x="7754112" y="4425696"/>
            <a:ext cx="3794760" cy="548640"/>
          </a:xfrm>
          <a:prstGeom prst="rect">
            <a:avLst/>
          </a:prstGeom>
          <a:noFill/>
          <a:ln/>
        </p:spPr>
        <p:txBody>
          <a:bodyPr wrap="square" lIns="508" tIns="508" rIns="508" bIns="508" rtlCol="0" anchor="ctr"/>
          <a:lstStyle/>
          <a:p>
            <a:pPr indent="0" marL="0">
              <a:buNone/>
            </a:pPr>
            <a:r>
              <a:rPr lang="en-US" sz="1400" b="1" dirty="0">
                <a:solidFill>
                  <a:srgbClr val="1F1F1F"/>
                </a:solidFill>
                <a:latin typeface="Tahoma" pitchFamily="34" charset="0"/>
                <a:ea typeface="Tahoma" pitchFamily="34" charset="-122"/>
                <a:cs typeface="Tahoma" pitchFamily="34" charset="-120"/>
              </a:rPr>
              <a:t>Giá trị (+/−):</a:t>
            </a:r>
            <a:r>
              <a:rPr lang="en-US" sz="1400" dirty="0">
                <a:solidFill>
                  <a:srgbClr val="1F1F1F"/>
                </a:solidFill>
                <a:latin typeface="Tahoma" pitchFamily="34" charset="0"/>
                <a:ea typeface="Tahoma" pitchFamily="34" charset="-122"/>
                <a:cs typeface="Tahoma" pitchFamily="34" charset="-120"/>
              </a:rPr>
              <a:t> đổi giá trị, cuộn menu</a:t>
            </a:r>
            <a:endParaRPr lang="en-US" sz="1400" dirty="0"/>
          </a:p>
        </p:txBody>
      </p:sp>
      <p:sp>
        <p:nvSpPr>
          <p:cNvPr id="45" name="Shape 42"/>
          <p:cNvSpPr/>
          <p:nvPr/>
        </p:nvSpPr>
        <p:spPr>
          <a:xfrm>
            <a:off x="7315200" y="5038344"/>
            <a:ext cx="310896" cy="310896"/>
          </a:xfrm>
          <a:prstGeom prst="ellipse">
            <a:avLst/>
          </a:prstGeom>
          <a:solidFill>
            <a:srgbClr val="D95F0E"/>
          </a:solidFill>
          <a:ln w="12700">
            <a:solidFill>
              <a:srgbClr val="D95F0E"/>
            </a:solidFill>
            <a:prstDash val="solid"/>
          </a:ln>
        </p:spPr>
      </p:sp>
      <p:sp>
        <p:nvSpPr>
          <p:cNvPr id="46" name="Text 43"/>
          <p:cNvSpPr/>
          <p:nvPr/>
        </p:nvSpPr>
        <p:spPr>
          <a:xfrm>
            <a:off x="7315200" y="50383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Tahoma" pitchFamily="34" charset="0"/>
                <a:ea typeface="Tahoma" pitchFamily="34" charset="-122"/>
                <a:cs typeface="Tahoma" pitchFamily="34" charset="-120"/>
              </a:rPr>
              <a:t>8</a:t>
            </a:r>
            <a:endParaRPr lang="en-US" sz="1100" dirty="0"/>
          </a:p>
        </p:txBody>
      </p:sp>
      <p:sp>
        <p:nvSpPr>
          <p:cNvPr id="47" name="Text 44"/>
          <p:cNvSpPr txBox="1"/>
          <p:nvPr/>
        </p:nvSpPr>
        <p:spPr>
          <a:xfrm>
            <a:off x="7754112" y="5010912"/>
            <a:ext cx="3794760" cy="548640"/>
          </a:xfrm>
          <a:prstGeom prst="rect">
            <a:avLst/>
          </a:prstGeom>
          <a:noFill/>
          <a:ln/>
        </p:spPr>
        <p:txBody>
          <a:bodyPr wrap="square" lIns="508" tIns="508" rIns="508" bIns="508" rtlCol="0" anchor="ctr"/>
          <a:lstStyle/>
          <a:p>
            <a:pPr indent="0" marL="0">
              <a:buNone/>
            </a:pPr>
            <a:r>
              <a:rPr lang="en-US" sz="1400" b="1" dirty="0">
                <a:solidFill>
                  <a:srgbClr val="1F1F1F"/>
                </a:solidFill>
                <a:latin typeface="Tahoma" pitchFamily="34" charset="0"/>
                <a:ea typeface="Tahoma" pitchFamily="34" charset="-122"/>
                <a:cs typeface="Tahoma" pitchFamily="34" charset="-120"/>
              </a:rPr>
              <a:t>Trường:</a:t>
            </a:r>
            <a:r>
              <a:rPr lang="en-US" sz="1400" dirty="0">
                <a:solidFill>
                  <a:srgbClr val="1F1F1F"/>
                </a:solidFill>
                <a:latin typeface="Tahoma" pitchFamily="34" charset="0"/>
                <a:ea typeface="Tahoma" pitchFamily="34" charset="-122"/>
                <a:cs typeface="Tahoma" pitchFamily="34" charset="-120"/>
              </a:rPr>
              <a:t> chuyển giữa các ô</a:t>
            </a:r>
            <a:endParaRPr lang="en-US" sz="1400" dirty="0"/>
          </a:p>
        </p:txBody>
      </p:sp>
      <p:sp>
        <p:nvSpPr>
          <p:cNvPr id="48" name="Shape 45"/>
          <p:cNvSpPr/>
          <p:nvPr/>
        </p:nvSpPr>
        <p:spPr>
          <a:xfrm>
            <a:off x="7315200" y="5623560"/>
            <a:ext cx="310896" cy="310896"/>
          </a:xfrm>
          <a:prstGeom prst="ellipse">
            <a:avLst/>
          </a:prstGeom>
          <a:solidFill>
            <a:srgbClr val="D95F0E"/>
          </a:solidFill>
          <a:ln w="12700">
            <a:solidFill>
              <a:srgbClr val="D95F0E"/>
            </a:solidFill>
            <a:prstDash val="solid"/>
          </a:ln>
        </p:spPr>
      </p:sp>
      <p:sp>
        <p:nvSpPr>
          <p:cNvPr id="49" name="Text 46"/>
          <p:cNvSpPr/>
          <p:nvPr/>
        </p:nvSpPr>
        <p:spPr>
          <a:xfrm>
            <a:off x="7315200" y="56235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Tahoma" pitchFamily="34" charset="0"/>
                <a:ea typeface="Tahoma" pitchFamily="34" charset="-122"/>
                <a:cs typeface="Tahoma" pitchFamily="34" charset="-120"/>
              </a:rPr>
              <a:t>9</a:t>
            </a:r>
            <a:endParaRPr lang="en-US" sz="1100" dirty="0"/>
          </a:p>
        </p:txBody>
      </p:sp>
      <p:sp>
        <p:nvSpPr>
          <p:cNvPr id="50" name="Text 47"/>
          <p:cNvSpPr txBox="1"/>
          <p:nvPr/>
        </p:nvSpPr>
        <p:spPr>
          <a:xfrm>
            <a:off x="7754112" y="5596128"/>
            <a:ext cx="3794760" cy="548640"/>
          </a:xfrm>
          <a:prstGeom prst="rect">
            <a:avLst/>
          </a:prstGeom>
          <a:noFill/>
          <a:ln/>
        </p:spPr>
        <p:txBody>
          <a:bodyPr wrap="square" lIns="508" tIns="508" rIns="508" bIns="508" rtlCol="0" anchor="ctr"/>
          <a:lstStyle/>
          <a:p>
            <a:pPr indent="0" marL="0">
              <a:buNone/>
            </a:pPr>
            <a:r>
              <a:rPr lang="en-US" sz="1400" b="1" dirty="0">
                <a:solidFill>
                  <a:srgbClr val="1F1F1F"/>
                </a:solidFill>
                <a:latin typeface="Tahoma" pitchFamily="34" charset="0"/>
                <a:ea typeface="Tahoma" pitchFamily="34" charset="-122"/>
                <a:cs typeface="Tahoma" pitchFamily="34" charset="-120"/>
              </a:rPr>
              <a:t>Đèn nguồn:</a:t>
            </a:r>
            <a:r>
              <a:rPr lang="en-US" sz="1400" dirty="0">
                <a:solidFill>
                  <a:srgbClr val="1F1F1F"/>
                </a:solidFill>
                <a:latin typeface="Tahoma" pitchFamily="34" charset="0"/>
                <a:ea typeface="Tahoma" pitchFamily="34" charset="-122"/>
                <a:cs typeface="Tahoma" pitchFamily="34" charset="-120"/>
              </a:rPr>
              <a:t> sáng khi máy bật</a:t>
            </a:r>
            <a:endParaRPr lang="en-US" sz="14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3. Thao tác núm xoay và màn hình</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960120"/>
          <a:ext cx="5943600" cy="914400"/>
        </p:xfrm>
        <a:graphic>
          <a:graphicData uri="http://schemas.openxmlformats.org/drawingml/2006/table">
            <a:tbl>
              <a:tblPr/>
              <a:tblGrid>
                <a:gridCol w="3017520"/>
                <a:gridCol w="2926080"/>
              </a:tblGrid>
              <a:tr h="0">
                <a:tc>
                  <a:txBody>
                    <a:bodyPr/>
                    <a:lstStyle/>
                    <a:p>
                      <a:pPr indent="0" marL="0">
                        <a:buNone/>
                      </a:pPr>
                      <a:r>
                        <a:rPr lang="en-US" sz="1400" b="1" dirty="0">
                          <a:solidFill>
                            <a:srgbClr val="FFFFFF"/>
                          </a:solidFill>
                          <a:latin typeface="Tahoma" pitchFamily="34" charset="0"/>
                          <a:ea typeface="Tahoma" pitchFamily="34" charset="-122"/>
                          <a:cs typeface="Tahoma" pitchFamily="34" charset="-120"/>
                        </a:rPr>
                        <a:t>Thao tác</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c>
                  <a:txBody>
                    <a:bodyPr/>
                    <a:lstStyle/>
                    <a:p>
                      <a:pPr indent="0" marL="0">
                        <a:buNone/>
                      </a:pPr>
                      <a:r>
                        <a:rPr lang="en-US" sz="1400" b="1" dirty="0">
                          <a:solidFill>
                            <a:srgbClr val="FFFFFF"/>
                          </a:solidFill>
                          <a:latin typeface="Tahoma" pitchFamily="34" charset="0"/>
                          <a:ea typeface="Tahoma" pitchFamily="34" charset="-122"/>
                          <a:cs typeface="Tahoma" pitchFamily="34" charset="-120"/>
                        </a:rPr>
                        <a:t>Kết quả [4]</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Bấm núm 7 + 8 hướng vào nhau</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Bật máy, menu hiện sau ≈ 20 s</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Bấm giữ lại núm 7 + 8</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Hộp thoại Power OFF → chọn OK</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Đẩy núm 7, 8 ra xa nhau</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Xem điện áp ắc quy, phiên bản phần mềm</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Bấm đồng thời núm 6 và 8</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Chỉnh độ tương phản màn hình</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Xoay MEASURE</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Thực hiện một phép đo</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bl>
          </a:graphicData>
        </a:graphic>
      </p:graphicFrame>
      <p:sp>
        <p:nvSpPr>
          <p:cNvPr id="4" name="Shape 1"/>
          <p:cNvSpPr/>
          <p:nvPr/>
        </p:nvSpPr>
        <p:spPr>
          <a:xfrm>
            <a:off x="6858000" y="960120"/>
            <a:ext cx="4690872" cy="3566160"/>
          </a:xfrm>
          <a:prstGeom prst="roundRect">
            <a:avLst>
              <a:gd name="adj" fmla="val 3077"/>
            </a:avLst>
          </a:prstGeom>
          <a:solidFill>
            <a:srgbClr val="ECF3FA"/>
          </a:solidFill>
          <a:ln w="12700">
            <a:solidFill>
              <a:srgbClr val="ECF3FA"/>
            </a:solidFill>
            <a:prstDash val="solid"/>
          </a:ln>
        </p:spPr>
      </p:sp>
      <p:sp>
        <p:nvSpPr>
          <p:cNvPr id="5" name="Shape 2"/>
          <p:cNvSpPr/>
          <p:nvPr/>
        </p:nvSpPr>
        <p:spPr>
          <a:xfrm>
            <a:off x="7086600" y="1124712"/>
            <a:ext cx="457200" cy="457200"/>
          </a:xfrm>
          <a:prstGeom prst="ellipse">
            <a:avLst/>
          </a:prstGeom>
          <a:solidFill>
            <a:srgbClr val="234782"/>
          </a:solidFill>
          <a:ln w="19050">
            <a:solidFill>
              <a:srgbClr val="234782"/>
            </a:solidFill>
            <a:prstDash val="solid"/>
          </a:ln>
        </p:spPr>
      </p:sp>
      <p:pic>
        <p:nvPicPr>
          <p:cNvPr id="6" name="Image 0" descr="preencoded.png">    </p:cNvPr>
          <p:cNvPicPr>
            <a:picLocks noChangeAspect="1"/>
          </p:cNvPicPr>
          <p:nvPr/>
        </p:nvPicPr>
        <p:blipFill>
          <a:blip r:embed="rId1"/>
          <a:stretch>
            <a:fillRect/>
          </a:stretch>
        </p:blipFill>
        <p:spPr>
          <a:xfrm>
            <a:off x="7196328" y="1234440"/>
            <a:ext cx="237744" cy="237744"/>
          </a:xfrm>
          <a:prstGeom prst="rect">
            <a:avLst/>
          </a:prstGeom>
        </p:spPr>
      </p:pic>
      <p:sp>
        <p:nvSpPr>
          <p:cNvPr id="7" name="Text 3"/>
          <p:cNvSpPr txBox="1"/>
          <p:nvPr/>
        </p:nvSpPr>
        <p:spPr>
          <a:xfrm>
            <a:off x="7680960" y="1143000"/>
            <a:ext cx="3685032" cy="411480"/>
          </a:xfrm>
          <a:prstGeom prst="rect">
            <a:avLst/>
          </a:prstGeom>
          <a:noFill/>
          <a:ln/>
        </p:spPr>
        <p:txBody>
          <a:bodyPr wrap="square" lIns="508" tIns="508" rIns="508" bIns="508" rtlCol="0" anchor="ctr"/>
          <a:lstStyle/>
          <a:p>
            <a:pPr indent="0" marL="0">
              <a:buNone/>
            </a:pPr>
            <a:r>
              <a:rPr lang="en-US" sz="1700" b="1" dirty="0">
                <a:solidFill>
                  <a:srgbClr val="234782"/>
                </a:solidFill>
                <a:latin typeface="Tahoma" pitchFamily="34" charset="0"/>
                <a:ea typeface="Tahoma" pitchFamily="34" charset="-122"/>
                <a:cs typeface="Tahoma" pitchFamily="34" charset="-120"/>
              </a:rPr>
              <a:t>Màn hình kết quả (RES)</a:t>
            </a:r>
            <a:endParaRPr lang="en-US" sz="1700" dirty="0"/>
          </a:p>
        </p:txBody>
      </p:sp>
      <p:sp>
        <p:nvSpPr>
          <p:cNvPr id="8" name="Text 4"/>
          <p:cNvSpPr txBox="1"/>
          <p:nvPr/>
        </p:nvSpPr>
        <p:spPr>
          <a:xfrm>
            <a:off x="7132320" y="1737360"/>
            <a:ext cx="4187952" cy="2651760"/>
          </a:xfrm>
          <a:prstGeom prst="rect">
            <a:avLst/>
          </a:prstGeom>
          <a:noFill/>
          <a:ln/>
        </p:spPr>
        <p:txBody>
          <a:bodyPr wrap="square" lIns="254" tIns="254" rIns="254" bIns="254" rtlCol="0" anchor="t"/>
          <a:lstStyle/>
          <a:p>
            <a:pPr marL="177800" indent="-177800">
              <a:spcAft>
                <a:spcPts val="800"/>
              </a:spcAft>
              <a:buSzPct val="100000"/>
              <a:buChar char="•"/>
            </a:pPr>
            <a:r>
              <a:rPr lang="en-US" sz="1400" dirty="0">
                <a:solidFill>
                  <a:srgbClr val="1F1F1F"/>
                </a:solidFill>
                <a:latin typeface="Tahoma" pitchFamily="34" charset="0"/>
                <a:ea typeface="Tahoma" pitchFamily="34" charset="-122"/>
                <a:cs typeface="Tahoma" pitchFamily="34" charset="-120"/>
              </a:rPr>
              <a:t>Các cột: </a:t>
            </a:r>
            <a:r>
              <a:rPr lang="en-US" sz="1400" b="1" dirty="0">
                <a:solidFill>
                  <a:srgbClr val="1F1F1F"/>
                </a:solidFill>
                <a:latin typeface="Tahoma" pitchFamily="34" charset="0"/>
                <a:ea typeface="Tahoma" pitchFamily="34" charset="-122"/>
                <a:cs typeface="Tahoma" pitchFamily="34" charset="-120"/>
              </a:rPr>
              <a:t>kênh, P1, P2, Resistance, S.Dev %, Stacks</a:t>
            </a:r>
            <a:endParaRPr lang="en-US" sz="1400" dirty="0"/>
          </a:p>
          <a:p>
            <a:pPr marL="177800" indent="-177800">
              <a:spcAft>
                <a:spcPts val="800"/>
              </a:spcAft>
              <a:buSzPct val="100000"/>
              <a:buChar char="•"/>
            </a:pPr>
            <a:r>
              <a:rPr lang="en-US" sz="1400" dirty="0">
                <a:solidFill>
                  <a:srgbClr val="1F1F1F"/>
                </a:solidFill>
                <a:latin typeface="Tahoma" pitchFamily="34" charset="0"/>
                <a:ea typeface="Tahoma" pitchFamily="34" charset="-122"/>
                <a:cs typeface="Tahoma" pitchFamily="34" charset="-120"/>
              </a:rPr>
              <a:t>Dòng dưới: chế độ dòng (I = Auto), số lần đo N, tên bản ghi, bộ nhớ trống</a:t>
            </a:r>
            <a:endParaRPr lang="en-US" sz="1400" dirty="0"/>
          </a:p>
          <a:p>
            <a:pPr marL="177800" indent="-177800">
              <a:spcAft>
                <a:spcPts val="800"/>
              </a:spcAft>
              <a:buSzPct val="100000"/>
              <a:buChar char="•"/>
            </a:pPr>
            <a:r>
              <a:rPr lang="en-US" sz="1400" dirty="0">
                <a:solidFill>
                  <a:srgbClr val="1F1F1F"/>
                </a:solidFill>
                <a:latin typeface="Tahoma" pitchFamily="34" charset="0"/>
                <a:ea typeface="Tahoma" pitchFamily="34" charset="-122"/>
                <a:cs typeface="Tahoma" pitchFamily="34" charset="-120"/>
              </a:rPr>
              <a:t>Chế độ IP: thêm độ nạp </a:t>
            </a:r>
            <a:r>
              <a:rPr lang="en-US" sz="1400" b="1" dirty="0">
                <a:solidFill>
                  <a:srgbClr val="1F1F1F"/>
                </a:solidFill>
                <a:latin typeface="Tahoma" pitchFamily="34" charset="0"/>
                <a:ea typeface="Tahoma" pitchFamily="34" charset="-122"/>
                <a:cs typeface="Tahoma" pitchFamily="34" charset="-120"/>
              </a:rPr>
              <a:t>M (ms)</a:t>
            </a:r>
            <a:r>
              <a:rPr lang="en-US" sz="1400" dirty="0">
                <a:solidFill>
                  <a:srgbClr val="1F1F1F"/>
                </a:solidFill>
                <a:latin typeface="Tahoma" pitchFamily="34" charset="0"/>
                <a:ea typeface="Tahoma" pitchFamily="34" charset="-122"/>
                <a:cs typeface="Tahoma" pitchFamily="34" charset="-120"/>
              </a:rPr>
              <a:t> và điện áp sơ cấp</a:t>
            </a:r>
            <a:endParaRPr lang="en-US" sz="1400" dirty="0"/>
          </a:p>
          <a:p>
            <a:pPr marL="177800" indent="-177800">
              <a:spcAft>
                <a:spcPts val="800"/>
              </a:spcAft>
              <a:buSzPct val="100000"/>
              <a:buChar char="•"/>
            </a:pPr>
            <a:r>
              <a:rPr lang="en-US" sz="1400" dirty="0">
                <a:solidFill>
                  <a:srgbClr val="1F1F1F"/>
                </a:solidFill>
                <a:latin typeface="Tahoma" pitchFamily="34" charset="0"/>
                <a:ea typeface="Tahoma" pitchFamily="34" charset="-122"/>
                <a:cs typeface="Tahoma" pitchFamily="34" charset="-120"/>
              </a:rPr>
              <a:t>Tên bản ghi tự đặt, ví dụ R00005.S4K</a:t>
            </a:r>
            <a:endParaRPr lang="en-US" sz="1400" dirty="0"/>
          </a:p>
        </p:txBody>
      </p:sp>
      <p:sp>
        <p:nvSpPr>
          <p:cNvPr id="9" name="Text 5"/>
          <p:cNvSpPr txBox="1"/>
          <p:nvPr/>
        </p:nvSpPr>
        <p:spPr>
          <a:xfrm>
            <a:off x="640080" y="4846320"/>
            <a:ext cx="10908792" cy="640080"/>
          </a:xfrm>
          <a:prstGeom prst="rect">
            <a:avLst/>
          </a:prstGeom>
          <a:noFill/>
          <a:ln/>
        </p:spPr>
        <p:txBody>
          <a:bodyPr wrap="square" lIns="508" tIns="508" rIns="508" bIns="508" rtlCol="0" anchor="ctr"/>
          <a:lstStyle/>
          <a:p>
            <a:pPr indent="0" marL="0">
              <a:buNone/>
            </a:pPr>
            <a:r>
              <a:rPr lang="en-US" sz="1700" b="1" dirty="0">
                <a:solidFill>
                  <a:srgbClr val="0086CA"/>
                </a:solidFill>
                <a:latin typeface="Tahoma" pitchFamily="34" charset="0"/>
                <a:ea typeface="Tahoma" pitchFamily="34" charset="-122"/>
                <a:cs typeface="Tahoma" pitchFamily="34" charset="-120"/>
              </a:rPr>
              <a:t>→ Kiểm tra S.Dev sau mỗi lần đo: lớn hơn giới hạn đặt trước (thường 1%) thì đo lại</a:t>
            </a:r>
            <a:endParaRPr lang="en-US" sz="17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3. Bộ thiết bị đi kèm</a:t>
            </a:r>
            <a:endParaRPr lang="en-US" sz="2800" dirty="0"/>
          </a:p>
        </p:txBody>
      </p:sp>
      <p:pic>
        <p:nvPicPr>
          <p:cNvPr id="3" name="Image 0" descr="/home/claude/ass/fig/battery.jpg">    </p:cNvPr>
          <p:cNvPicPr>
            <a:picLocks noChangeAspect="1"/>
          </p:cNvPicPr>
          <p:nvPr/>
        </p:nvPicPr>
        <p:blipFill>
          <a:blip r:embed="rId1"/>
          <a:stretch>
            <a:fillRect/>
          </a:stretch>
        </p:blipFill>
        <p:spPr>
          <a:xfrm>
            <a:off x="640080" y="914400"/>
            <a:ext cx="3657600" cy="2743200"/>
          </a:xfrm>
          <a:prstGeom prst="rect">
            <a:avLst/>
          </a:prstGeom>
        </p:spPr>
      </p:pic>
      <p:sp>
        <p:nvSpPr>
          <p:cNvPr id="4" name="Shape 1"/>
          <p:cNvSpPr/>
          <p:nvPr/>
        </p:nvSpPr>
        <p:spPr>
          <a:xfrm>
            <a:off x="640080" y="914400"/>
            <a:ext cx="3657600" cy="2743200"/>
          </a:xfrm>
          <a:prstGeom prst="rect">
            <a:avLst/>
          </a:prstGeom>
          <a:ln w="9525">
            <a:solidFill>
              <a:srgbClr val="C9D8EA"/>
            </a:solidFill>
            <a:prstDash val="solid"/>
          </a:ln>
        </p:spPr>
      </p:sp>
      <p:sp>
        <p:nvSpPr>
          <p:cNvPr id="5" name="Text 2"/>
          <p:cNvSpPr txBox="1"/>
          <p:nvPr/>
        </p:nvSpPr>
        <p:spPr>
          <a:xfrm>
            <a:off x="640080" y="3712464"/>
            <a:ext cx="3657600" cy="292608"/>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Hình 4. Ắc quy 12 V – 28 Ah và điện cực thép</a:t>
            </a:r>
            <a:endParaRPr lang="en-US" sz="1200" dirty="0"/>
          </a:p>
        </p:txBody>
      </p:sp>
      <p:pic>
        <p:nvPicPr>
          <p:cNvPr id="6" name="Image 1" descr="/home/claude/ass/fig/reel.jpg">    </p:cNvPr>
          <p:cNvPicPr>
            <a:picLocks noChangeAspect="1"/>
          </p:cNvPicPr>
          <p:nvPr/>
        </p:nvPicPr>
        <p:blipFill>
          <a:blip r:embed="rId2"/>
          <a:stretch>
            <a:fillRect/>
          </a:stretch>
        </p:blipFill>
        <p:spPr>
          <a:xfrm>
            <a:off x="4526280" y="1051560"/>
            <a:ext cx="3291840" cy="2468880"/>
          </a:xfrm>
          <a:prstGeom prst="rect">
            <a:avLst/>
          </a:prstGeom>
        </p:spPr>
      </p:pic>
      <p:sp>
        <p:nvSpPr>
          <p:cNvPr id="7" name="Shape 3"/>
          <p:cNvSpPr/>
          <p:nvPr/>
        </p:nvSpPr>
        <p:spPr>
          <a:xfrm>
            <a:off x="4526280" y="1051560"/>
            <a:ext cx="3291840" cy="2468880"/>
          </a:xfrm>
          <a:prstGeom prst="rect">
            <a:avLst/>
          </a:prstGeom>
          <a:ln w="9525">
            <a:solidFill>
              <a:srgbClr val="C9D8EA"/>
            </a:solidFill>
            <a:prstDash val="solid"/>
          </a:ln>
        </p:spPr>
      </p:sp>
      <p:sp>
        <p:nvSpPr>
          <p:cNvPr id="8" name="Text 4"/>
          <p:cNvSpPr txBox="1"/>
          <p:nvPr/>
        </p:nvSpPr>
        <p:spPr>
          <a:xfrm>
            <a:off x="4526280" y="3575304"/>
            <a:ext cx="3291840" cy="292608"/>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Hình 5. Cuộn cáp nối điện cực</a:t>
            </a:r>
            <a:endParaRPr lang="en-US" sz="1200" dirty="0"/>
          </a:p>
        </p:txBody>
      </p:sp>
      <p:pic>
        <p:nvPicPr>
          <p:cNvPr id="9" name="Image 2" descr="/home/claude/ass/fig/reel2.jpg">    </p:cNvPr>
          <p:cNvPicPr>
            <a:picLocks noChangeAspect="1"/>
          </p:cNvPicPr>
          <p:nvPr/>
        </p:nvPicPr>
        <p:blipFill>
          <a:blip r:embed="rId3"/>
          <a:stretch>
            <a:fillRect/>
          </a:stretch>
        </p:blipFill>
        <p:spPr>
          <a:xfrm>
            <a:off x="8769096" y="914400"/>
            <a:ext cx="2057400" cy="2743200"/>
          </a:xfrm>
          <a:prstGeom prst="rect">
            <a:avLst/>
          </a:prstGeom>
        </p:spPr>
      </p:pic>
      <p:sp>
        <p:nvSpPr>
          <p:cNvPr id="10" name="Shape 5"/>
          <p:cNvSpPr/>
          <p:nvPr/>
        </p:nvSpPr>
        <p:spPr>
          <a:xfrm>
            <a:off x="8769096" y="914400"/>
            <a:ext cx="2057400" cy="2743200"/>
          </a:xfrm>
          <a:prstGeom prst="rect">
            <a:avLst/>
          </a:prstGeom>
          <a:ln w="9525">
            <a:solidFill>
              <a:srgbClr val="C9D8EA"/>
            </a:solidFill>
            <a:prstDash val="solid"/>
          </a:ln>
        </p:spPr>
      </p:sp>
      <p:sp>
        <p:nvSpPr>
          <p:cNvPr id="11" name="Text 6"/>
          <p:cNvSpPr txBox="1"/>
          <p:nvPr/>
        </p:nvSpPr>
        <p:spPr>
          <a:xfrm>
            <a:off x="8046720" y="3712464"/>
            <a:ext cx="3502152" cy="292608"/>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Hình 6. Cuộn cáp thứ hai</a:t>
            </a:r>
            <a:endParaRPr lang="en-US" sz="1200" dirty="0"/>
          </a:p>
        </p:txBody>
      </p:sp>
      <p:sp>
        <p:nvSpPr>
          <p:cNvPr id="12" name="Shape 7"/>
          <p:cNvSpPr/>
          <p:nvPr/>
        </p:nvSpPr>
        <p:spPr>
          <a:xfrm>
            <a:off x="640080" y="4160520"/>
            <a:ext cx="10908792" cy="454914"/>
          </a:xfrm>
          <a:prstGeom prst="roundRect">
            <a:avLst>
              <a:gd name="adj" fmla="val 12060"/>
            </a:avLst>
          </a:prstGeom>
          <a:solidFill>
            <a:srgbClr val="ECF3FA"/>
          </a:solidFill>
          <a:ln w="9525">
            <a:solidFill>
              <a:srgbClr val="ECF3FA"/>
            </a:solidFill>
            <a:prstDash val="solid"/>
          </a:ln>
        </p:spPr>
      </p:sp>
      <p:sp>
        <p:nvSpPr>
          <p:cNvPr id="13" name="Shape 8"/>
          <p:cNvSpPr/>
          <p:nvPr/>
        </p:nvSpPr>
        <p:spPr>
          <a:xfrm>
            <a:off x="822960" y="4251960"/>
            <a:ext cx="272034" cy="272034"/>
          </a:xfrm>
          <a:prstGeom prst="ellipse">
            <a:avLst/>
          </a:prstGeom>
          <a:solidFill>
            <a:srgbClr val="234782"/>
          </a:solidFill>
          <a:ln w="12700">
            <a:solidFill>
              <a:srgbClr val="234782"/>
            </a:solidFill>
            <a:prstDash val="solid"/>
          </a:ln>
        </p:spPr>
      </p:sp>
      <p:sp>
        <p:nvSpPr>
          <p:cNvPr id="14" name="Text 9"/>
          <p:cNvSpPr/>
          <p:nvPr/>
        </p:nvSpPr>
        <p:spPr>
          <a:xfrm>
            <a:off x="822960" y="4251960"/>
            <a:ext cx="272034" cy="272034"/>
          </a:xfrm>
          <a:prstGeom prst="rect">
            <a:avLst/>
          </a:prstGeom>
          <a:noFill/>
          <a:ln/>
        </p:spPr>
        <p:txBody>
          <a:bodyPr wrap="square" lIns="0" tIns="0" rIns="0" bIns="0" rtlCol="0" anchor="ctr"/>
          <a:lstStyle/>
          <a:p>
            <a:pPr algn="ctr" indent="0" marL="0">
              <a:buNone/>
            </a:pPr>
            <a:r>
              <a:rPr lang="en-US" sz="1400" b="1" dirty="0">
                <a:solidFill>
                  <a:srgbClr val="FFFFFF"/>
                </a:solidFill>
                <a:latin typeface="Tahoma" pitchFamily="34" charset="0"/>
                <a:ea typeface="Tahoma" pitchFamily="34" charset="-122"/>
                <a:cs typeface="Tahoma" pitchFamily="34" charset="-120"/>
              </a:rPr>
              <a:t>1</a:t>
            </a:r>
            <a:endParaRPr lang="en-US" sz="1400" dirty="0"/>
          </a:p>
        </p:txBody>
      </p:sp>
      <p:sp>
        <p:nvSpPr>
          <p:cNvPr id="15" name="Text 10"/>
          <p:cNvSpPr txBox="1"/>
          <p:nvPr/>
        </p:nvSpPr>
        <p:spPr>
          <a:xfrm>
            <a:off x="1463040" y="4206240"/>
            <a:ext cx="2103120" cy="363474"/>
          </a:xfrm>
          <a:prstGeom prst="rect">
            <a:avLst/>
          </a:prstGeom>
          <a:noFill/>
          <a:ln/>
        </p:spPr>
        <p:txBody>
          <a:bodyPr wrap="square" lIns="508" tIns="508" rIns="508" bIns="508" rtlCol="0" anchor="ctr"/>
          <a:lstStyle/>
          <a:p>
            <a:pPr indent="0" marL="0">
              <a:buNone/>
            </a:pPr>
            <a:r>
              <a:rPr lang="en-US" sz="1600" b="1" dirty="0">
                <a:solidFill>
                  <a:srgbClr val="234782"/>
                </a:solidFill>
                <a:latin typeface="Tahoma" pitchFamily="34" charset="0"/>
                <a:ea typeface="Tahoma" pitchFamily="34" charset="-122"/>
                <a:cs typeface="Tahoma" pitchFamily="34" charset="-120"/>
              </a:rPr>
              <a:t>Ắc quy</a:t>
            </a:r>
            <a:endParaRPr lang="en-US" sz="1600" dirty="0"/>
          </a:p>
        </p:txBody>
      </p:sp>
      <p:sp>
        <p:nvSpPr>
          <p:cNvPr id="16" name="Text 11"/>
          <p:cNvSpPr txBox="1"/>
          <p:nvPr/>
        </p:nvSpPr>
        <p:spPr>
          <a:xfrm>
            <a:off x="3657600" y="4206240"/>
            <a:ext cx="7708392" cy="363474"/>
          </a:xfrm>
          <a:prstGeom prst="rect">
            <a:avLst/>
          </a:prstGeom>
          <a:noFill/>
          <a:ln/>
        </p:spPr>
        <p:txBody>
          <a:bodyPr wrap="square" lIns="508" tIns="508" rIns="508" bIns="508" rtlCol="0" anchor="ctr"/>
          <a:lstStyle/>
          <a:p>
            <a:pPr indent="0" marL="0">
              <a:buNone/>
            </a:pPr>
            <a:r>
              <a:rPr lang="en-US" sz="1400" dirty="0">
                <a:solidFill>
                  <a:srgbClr val="1F1F1F"/>
                </a:solidFill>
                <a:latin typeface="Tahoma" pitchFamily="34" charset="0"/>
                <a:ea typeface="Tahoma" pitchFamily="34" charset="-122"/>
                <a:cs typeface="Tahoma" pitchFamily="34" charset="-120"/>
              </a:rPr>
              <a:t>Chilwee CWP12-28, 12 V – 28 Ah: đạt yêu cầu ≥ 25 Ah; bộ nối có cầu chì 20 A chống ngược cực [4]</a:t>
            </a:r>
            <a:endParaRPr lang="en-US" sz="1400" dirty="0"/>
          </a:p>
        </p:txBody>
      </p:sp>
      <p:sp>
        <p:nvSpPr>
          <p:cNvPr id="17" name="Shape 12"/>
          <p:cNvSpPr/>
          <p:nvPr/>
        </p:nvSpPr>
        <p:spPr>
          <a:xfrm>
            <a:off x="640080" y="4725162"/>
            <a:ext cx="10908792" cy="454914"/>
          </a:xfrm>
          <a:prstGeom prst="roundRect">
            <a:avLst>
              <a:gd name="adj" fmla="val 12060"/>
            </a:avLst>
          </a:prstGeom>
          <a:solidFill>
            <a:srgbClr val="FFFFFF"/>
          </a:solidFill>
          <a:ln w="9525">
            <a:solidFill>
              <a:srgbClr val="C9D8EA"/>
            </a:solidFill>
            <a:prstDash val="solid"/>
          </a:ln>
        </p:spPr>
      </p:sp>
      <p:sp>
        <p:nvSpPr>
          <p:cNvPr id="18" name="Shape 13"/>
          <p:cNvSpPr/>
          <p:nvPr/>
        </p:nvSpPr>
        <p:spPr>
          <a:xfrm>
            <a:off x="822960" y="4816602"/>
            <a:ext cx="272034" cy="272034"/>
          </a:xfrm>
          <a:prstGeom prst="ellipse">
            <a:avLst/>
          </a:prstGeom>
          <a:solidFill>
            <a:srgbClr val="234782"/>
          </a:solidFill>
          <a:ln w="12700">
            <a:solidFill>
              <a:srgbClr val="234782"/>
            </a:solidFill>
            <a:prstDash val="solid"/>
          </a:ln>
        </p:spPr>
      </p:sp>
      <p:sp>
        <p:nvSpPr>
          <p:cNvPr id="19" name="Text 14"/>
          <p:cNvSpPr/>
          <p:nvPr/>
        </p:nvSpPr>
        <p:spPr>
          <a:xfrm>
            <a:off x="822960" y="4816602"/>
            <a:ext cx="272034" cy="272034"/>
          </a:xfrm>
          <a:prstGeom prst="rect">
            <a:avLst/>
          </a:prstGeom>
          <a:noFill/>
          <a:ln/>
        </p:spPr>
        <p:txBody>
          <a:bodyPr wrap="square" lIns="0" tIns="0" rIns="0" bIns="0" rtlCol="0" anchor="ctr"/>
          <a:lstStyle/>
          <a:p>
            <a:pPr algn="ctr" indent="0" marL="0">
              <a:buNone/>
            </a:pPr>
            <a:r>
              <a:rPr lang="en-US" sz="1400" b="1" dirty="0">
                <a:solidFill>
                  <a:srgbClr val="FFFFFF"/>
                </a:solidFill>
                <a:latin typeface="Tahoma" pitchFamily="34" charset="0"/>
                <a:ea typeface="Tahoma" pitchFamily="34" charset="-122"/>
                <a:cs typeface="Tahoma" pitchFamily="34" charset="-120"/>
              </a:rPr>
              <a:t>2</a:t>
            </a:r>
            <a:endParaRPr lang="en-US" sz="1400" dirty="0"/>
          </a:p>
        </p:txBody>
      </p:sp>
      <p:sp>
        <p:nvSpPr>
          <p:cNvPr id="20" name="Text 15"/>
          <p:cNvSpPr txBox="1"/>
          <p:nvPr/>
        </p:nvSpPr>
        <p:spPr>
          <a:xfrm>
            <a:off x="1463040" y="4770882"/>
            <a:ext cx="2103120" cy="363474"/>
          </a:xfrm>
          <a:prstGeom prst="rect">
            <a:avLst/>
          </a:prstGeom>
          <a:noFill/>
          <a:ln/>
        </p:spPr>
        <p:txBody>
          <a:bodyPr wrap="square" lIns="508" tIns="508" rIns="508" bIns="508" rtlCol="0" anchor="ctr"/>
          <a:lstStyle/>
          <a:p>
            <a:pPr indent="0" marL="0">
              <a:buNone/>
            </a:pPr>
            <a:r>
              <a:rPr lang="en-US" sz="1600" b="1" dirty="0">
                <a:solidFill>
                  <a:srgbClr val="234782"/>
                </a:solidFill>
                <a:latin typeface="Tahoma" pitchFamily="34" charset="0"/>
                <a:ea typeface="Tahoma" pitchFamily="34" charset="-122"/>
                <a:cs typeface="Tahoma" pitchFamily="34" charset="-120"/>
              </a:rPr>
              <a:t>Điện cực</a:t>
            </a:r>
            <a:endParaRPr lang="en-US" sz="1600" dirty="0"/>
          </a:p>
        </p:txBody>
      </p:sp>
      <p:sp>
        <p:nvSpPr>
          <p:cNvPr id="21" name="Text 16"/>
          <p:cNvSpPr txBox="1"/>
          <p:nvPr/>
        </p:nvSpPr>
        <p:spPr>
          <a:xfrm>
            <a:off x="3657600" y="4770882"/>
            <a:ext cx="7708392" cy="363474"/>
          </a:xfrm>
          <a:prstGeom prst="rect">
            <a:avLst/>
          </a:prstGeom>
          <a:noFill/>
          <a:ln/>
        </p:spPr>
        <p:txBody>
          <a:bodyPr wrap="square" lIns="508" tIns="508" rIns="508" bIns="508" rtlCol="0" anchor="ctr"/>
          <a:lstStyle/>
          <a:p>
            <a:pPr indent="0" marL="0">
              <a:buNone/>
            </a:pPr>
            <a:r>
              <a:rPr lang="en-US" sz="1400" dirty="0">
                <a:solidFill>
                  <a:srgbClr val="1F1F1F"/>
                </a:solidFill>
                <a:latin typeface="Tahoma" pitchFamily="34" charset="0"/>
                <a:ea typeface="Tahoma" pitchFamily="34" charset="-122"/>
                <a:cs typeface="Tahoma" pitchFamily="34" charset="-120"/>
              </a:rPr>
              <a:t>Thép, tay chữ T; dùng cho A, B và M, N khi đo RES</a:t>
            </a:r>
            <a:endParaRPr lang="en-US" sz="1400" dirty="0"/>
          </a:p>
        </p:txBody>
      </p:sp>
      <p:sp>
        <p:nvSpPr>
          <p:cNvPr id="22" name="Shape 17"/>
          <p:cNvSpPr/>
          <p:nvPr/>
        </p:nvSpPr>
        <p:spPr>
          <a:xfrm>
            <a:off x="640080" y="5289804"/>
            <a:ext cx="10908792" cy="454914"/>
          </a:xfrm>
          <a:prstGeom prst="roundRect">
            <a:avLst>
              <a:gd name="adj" fmla="val 12060"/>
            </a:avLst>
          </a:prstGeom>
          <a:solidFill>
            <a:srgbClr val="ECF3FA"/>
          </a:solidFill>
          <a:ln w="9525">
            <a:solidFill>
              <a:srgbClr val="ECF3FA"/>
            </a:solidFill>
            <a:prstDash val="solid"/>
          </a:ln>
        </p:spPr>
      </p:sp>
      <p:sp>
        <p:nvSpPr>
          <p:cNvPr id="23" name="Shape 18"/>
          <p:cNvSpPr/>
          <p:nvPr/>
        </p:nvSpPr>
        <p:spPr>
          <a:xfrm>
            <a:off x="822960" y="5381244"/>
            <a:ext cx="272034" cy="272034"/>
          </a:xfrm>
          <a:prstGeom prst="ellipse">
            <a:avLst/>
          </a:prstGeom>
          <a:solidFill>
            <a:srgbClr val="234782"/>
          </a:solidFill>
          <a:ln w="12700">
            <a:solidFill>
              <a:srgbClr val="234782"/>
            </a:solidFill>
            <a:prstDash val="solid"/>
          </a:ln>
        </p:spPr>
      </p:sp>
      <p:sp>
        <p:nvSpPr>
          <p:cNvPr id="24" name="Text 19"/>
          <p:cNvSpPr/>
          <p:nvPr/>
        </p:nvSpPr>
        <p:spPr>
          <a:xfrm>
            <a:off x="822960" y="5381244"/>
            <a:ext cx="272034" cy="272034"/>
          </a:xfrm>
          <a:prstGeom prst="rect">
            <a:avLst/>
          </a:prstGeom>
          <a:noFill/>
          <a:ln/>
        </p:spPr>
        <p:txBody>
          <a:bodyPr wrap="square" lIns="0" tIns="0" rIns="0" bIns="0" rtlCol="0" anchor="ctr"/>
          <a:lstStyle/>
          <a:p>
            <a:pPr algn="ctr" indent="0" marL="0">
              <a:buNone/>
            </a:pPr>
            <a:r>
              <a:rPr lang="en-US" sz="1400" b="1" dirty="0">
                <a:solidFill>
                  <a:srgbClr val="FFFFFF"/>
                </a:solidFill>
                <a:latin typeface="Tahoma" pitchFamily="34" charset="0"/>
                <a:ea typeface="Tahoma" pitchFamily="34" charset="-122"/>
                <a:cs typeface="Tahoma" pitchFamily="34" charset="-120"/>
              </a:rPr>
              <a:t>3</a:t>
            </a:r>
            <a:endParaRPr lang="en-US" sz="1400" dirty="0"/>
          </a:p>
        </p:txBody>
      </p:sp>
      <p:sp>
        <p:nvSpPr>
          <p:cNvPr id="25" name="Text 20"/>
          <p:cNvSpPr txBox="1"/>
          <p:nvPr/>
        </p:nvSpPr>
        <p:spPr>
          <a:xfrm>
            <a:off x="1463040" y="5335524"/>
            <a:ext cx="2103120" cy="363474"/>
          </a:xfrm>
          <a:prstGeom prst="rect">
            <a:avLst/>
          </a:prstGeom>
          <a:noFill/>
          <a:ln/>
        </p:spPr>
        <p:txBody>
          <a:bodyPr wrap="square" lIns="508" tIns="508" rIns="508" bIns="508" rtlCol="0" anchor="ctr"/>
          <a:lstStyle/>
          <a:p>
            <a:pPr indent="0" marL="0">
              <a:buNone/>
            </a:pPr>
            <a:r>
              <a:rPr lang="en-US" sz="1600" b="1" dirty="0">
                <a:solidFill>
                  <a:srgbClr val="234782"/>
                </a:solidFill>
                <a:latin typeface="Tahoma" pitchFamily="34" charset="0"/>
                <a:ea typeface="Tahoma" pitchFamily="34" charset="-122"/>
                <a:cs typeface="Tahoma" pitchFamily="34" charset="-120"/>
              </a:rPr>
              <a:t>Cực không phân cực</a:t>
            </a:r>
            <a:endParaRPr lang="en-US" sz="1600" dirty="0"/>
          </a:p>
        </p:txBody>
      </p:sp>
      <p:sp>
        <p:nvSpPr>
          <p:cNvPr id="26" name="Text 21"/>
          <p:cNvSpPr txBox="1"/>
          <p:nvPr/>
        </p:nvSpPr>
        <p:spPr>
          <a:xfrm>
            <a:off x="3657600" y="5335524"/>
            <a:ext cx="7708392" cy="363474"/>
          </a:xfrm>
          <a:prstGeom prst="rect">
            <a:avLst/>
          </a:prstGeom>
          <a:noFill/>
          <a:ln/>
        </p:spPr>
        <p:txBody>
          <a:bodyPr wrap="square" lIns="508" tIns="508" rIns="508" bIns="508" rtlCol="0" anchor="ctr"/>
          <a:lstStyle/>
          <a:p>
            <a:pPr indent="0" marL="0">
              <a:buNone/>
            </a:pPr>
            <a:r>
              <a:rPr lang="en-US" sz="1400" dirty="0">
                <a:solidFill>
                  <a:srgbClr val="1F1F1F"/>
                </a:solidFill>
                <a:latin typeface="Tahoma" pitchFamily="34" charset="0"/>
                <a:ea typeface="Tahoma" pitchFamily="34" charset="-122"/>
                <a:cs typeface="Tahoma" pitchFamily="34" charset="-120"/>
              </a:rPr>
              <a:t>Cu/CuSO₄, bắt buộc khi đo SP, nên dùng khi đo IP</a:t>
            </a:r>
            <a:endParaRPr lang="en-US" sz="1400" dirty="0"/>
          </a:p>
        </p:txBody>
      </p:sp>
      <p:sp>
        <p:nvSpPr>
          <p:cNvPr id="27" name="Shape 22"/>
          <p:cNvSpPr/>
          <p:nvPr/>
        </p:nvSpPr>
        <p:spPr>
          <a:xfrm>
            <a:off x="640080" y="5854446"/>
            <a:ext cx="10908792" cy="454914"/>
          </a:xfrm>
          <a:prstGeom prst="roundRect">
            <a:avLst>
              <a:gd name="adj" fmla="val 12060"/>
            </a:avLst>
          </a:prstGeom>
          <a:solidFill>
            <a:srgbClr val="FFFFFF"/>
          </a:solidFill>
          <a:ln w="9525">
            <a:solidFill>
              <a:srgbClr val="C9D8EA"/>
            </a:solidFill>
            <a:prstDash val="solid"/>
          </a:ln>
        </p:spPr>
      </p:sp>
      <p:sp>
        <p:nvSpPr>
          <p:cNvPr id="28" name="Shape 23"/>
          <p:cNvSpPr/>
          <p:nvPr/>
        </p:nvSpPr>
        <p:spPr>
          <a:xfrm>
            <a:off x="822960" y="5945886"/>
            <a:ext cx="272034" cy="272034"/>
          </a:xfrm>
          <a:prstGeom prst="ellipse">
            <a:avLst/>
          </a:prstGeom>
          <a:solidFill>
            <a:srgbClr val="234782"/>
          </a:solidFill>
          <a:ln w="12700">
            <a:solidFill>
              <a:srgbClr val="234782"/>
            </a:solidFill>
            <a:prstDash val="solid"/>
          </a:ln>
        </p:spPr>
      </p:sp>
      <p:sp>
        <p:nvSpPr>
          <p:cNvPr id="29" name="Text 24"/>
          <p:cNvSpPr/>
          <p:nvPr/>
        </p:nvSpPr>
        <p:spPr>
          <a:xfrm>
            <a:off x="822960" y="5945886"/>
            <a:ext cx="272034" cy="272034"/>
          </a:xfrm>
          <a:prstGeom prst="rect">
            <a:avLst/>
          </a:prstGeom>
          <a:noFill/>
          <a:ln/>
        </p:spPr>
        <p:txBody>
          <a:bodyPr wrap="square" lIns="0" tIns="0" rIns="0" bIns="0" rtlCol="0" anchor="ctr"/>
          <a:lstStyle/>
          <a:p>
            <a:pPr algn="ctr" indent="0" marL="0">
              <a:buNone/>
            </a:pPr>
            <a:r>
              <a:rPr lang="en-US" sz="1400" b="1" dirty="0">
                <a:solidFill>
                  <a:srgbClr val="FFFFFF"/>
                </a:solidFill>
                <a:latin typeface="Tahoma" pitchFamily="34" charset="0"/>
                <a:ea typeface="Tahoma" pitchFamily="34" charset="-122"/>
                <a:cs typeface="Tahoma" pitchFamily="34" charset="-120"/>
              </a:rPr>
              <a:t>4</a:t>
            </a:r>
            <a:endParaRPr lang="en-US" sz="1400" dirty="0"/>
          </a:p>
        </p:txBody>
      </p:sp>
      <p:sp>
        <p:nvSpPr>
          <p:cNvPr id="30" name="Text 25"/>
          <p:cNvSpPr txBox="1"/>
          <p:nvPr/>
        </p:nvSpPr>
        <p:spPr>
          <a:xfrm>
            <a:off x="1463040" y="5900166"/>
            <a:ext cx="2103120" cy="363474"/>
          </a:xfrm>
          <a:prstGeom prst="rect">
            <a:avLst/>
          </a:prstGeom>
          <a:noFill/>
          <a:ln/>
        </p:spPr>
        <p:txBody>
          <a:bodyPr wrap="square" lIns="508" tIns="508" rIns="508" bIns="508" rtlCol="0" anchor="ctr"/>
          <a:lstStyle/>
          <a:p>
            <a:pPr indent="0" marL="0">
              <a:buNone/>
            </a:pPr>
            <a:r>
              <a:rPr lang="en-US" sz="1600" b="1" dirty="0">
                <a:solidFill>
                  <a:srgbClr val="234782"/>
                </a:solidFill>
                <a:latin typeface="Tahoma" pitchFamily="34" charset="0"/>
                <a:ea typeface="Tahoma" pitchFamily="34" charset="-122"/>
                <a:cs typeface="Tahoma" pitchFamily="34" charset="-120"/>
              </a:rPr>
              <a:t>Cáp</a:t>
            </a:r>
            <a:endParaRPr lang="en-US" sz="1600" dirty="0"/>
          </a:p>
        </p:txBody>
      </p:sp>
      <p:sp>
        <p:nvSpPr>
          <p:cNvPr id="31" name="Text 26"/>
          <p:cNvSpPr txBox="1"/>
          <p:nvPr/>
        </p:nvSpPr>
        <p:spPr>
          <a:xfrm>
            <a:off x="3657600" y="5900166"/>
            <a:ext cx="7708392" cy="363474"/>
          </a:xfrm>
          <a:prstGeom prst="rect">
            <a:avLst/>
          </a:prstGeom>
          <a:noFill/>
          <a:ln/>
        </p:spPr>
        <p:txBody>
          <a:bodyPr wrap="square" lIns="508" tIns="508" rIns="508" bIns="508" rtlCol="0" anchor="ctr"/>
          <a:lstStyle/>
          <a:p>
            <a:pPr indent="0" marL="0">
              <a:buNone/>
            </a:pPr>
            <a:r>
              <a:rPr lang="en-US" sz="1400" dirty="0">
                <a:solidFill>
                  <a:srgbClr val="1F1F1F"/>
                </a:solidFill>
                <a:latin typeface="Tahoma" pitchFamily="34" charset="0"/>
                <a:ea typeface="Tahoma" pitchFamily="34" charset="-122"/>
                <a:cs typeface="Tahoma" pitchFamily="34" charset="-120"/>
              </a:rPr>
              <a:t>Hai cuộn dây dẫn từ máy tới các cực; hệ LUND: 4 cáp × 21 điểm nối</a:t>
            </a:r>
            <a:endParaRPr lang="en-US" sz="14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4. Hệ cực đo và hệ số K</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960120"/>
          <a:ext cx="10908792" cy="914400"/>
        </p:xfrm>
        <a:graphic>
          <a:graphicData uri="http://schemas.openxmlformats.org/drawingml/2006/table">
            <a:tbl>
              <a:tblPr/>
              <a:tblGrid>
                <a:gridCol w="2011680"/>
                <a:gridCol w="2651760"/>
                <a:gridCol w="2103120"/>
                <a:gridCol w="2194560"/>
                <a:gridCol w="1947672"/>
              </a:tblGrid>
              <a:tr h="731520">
                <a:tc>
                  <a:txBody>
                    <a:bodyPr/>
                    <a:lstStyle/>
                    <a:p>
                      <a:pPr indent="0" marL="0">
                        <a:buNone/>
                      </a:pPr>
                      <a:r>
                        <a:rPr lang="en-US" sz="1300" b="1" dirty="0">
                          <a:solidFill>
                            <a:srgbClr val="FFFFFF"/>
                          </a:solidFill>
                          <a:latin typeface="Tahoma" pitchFamily="34" charset="0"/>
                          <a:ea typeface="Tahoma" pitchFamily="34" charset="-122"/>
                          <a:cs typeface="Tahoma" pitchFamily="34" charset="-120"/>
                        </a:rPr>
                        <a:t>Hệ cực</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c>
                  <a:txBody>
                    <a:bodyPr/>
                    <a:lstStyle/>
                    <a:p>
                      <a:pPr indent="0" marL="0">
                        <a:buNone/>
                      </a:pPr>
                      <a:r>
                        <a:rPr lang="en-US" sz="1300" b="1" dirty="0">
                          <a:solidFill>
                            <a:srgbClr val="FFFFFF"/>
                          </a:solidFill>
                          <a:latin typeface="Tahoma" pitchFamily="34" charset="0"/>
                          <a:ea typeface="Tahoma" pitchFamily="34" charset="-122"/>
                          <a:cs typeface="Tahoma" pitchFamily="34" charset="-120"/>
                        </a:rPr>
                        <a:t>Bố trí</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c>
                  <a:txBody>
                    <a:bodyPr/>
                    <a:lstStyle/>
                    <a:p>
                      <a:pPr indent="0" marL="0">
                        <a:buNone/>
                      </a:pPr>
                      <a:r>
                        <a:rPr lang="en-US" sz="1300" b="1" dirty="0">
                          <a:solidFill>
                            <a:srgbClr val="FFFFFF"/>
                          </a:solidFill>
                          <a:latin typeface="Tahoma" pitchFamily="34" charset="0"/>
                          <a:ea typeface="Tahoma" pitchFamily="34" charset="-122"/>
                          <a:cs typeface="Tahoma" pitchFamily="34" charset="-120"/>
                        </a:rPr>
                        <a:t>Hệ số K</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c>
                  <a:txBody>
                    <a:bodyPr/>
                    <a:lstStyle/>
                    <a:p>
                      <a:pPr indent="0" marL="0">
                        <a:buNone/>
                      </a:pPr>
                      <a:r>
                        <a:rPr lang="en-US" sz="1300" b="1" dirty="0">
                          <a:solidFill>
                            <a:srgbClr val="FFFFFF"/>
                          </a:solidFill>
                          <a:latin typeface="Tahoma" pitchFamily="34" charset="0"/>
                          <a:ea typeface="Tahoma" pitchFamily="34" charset="-122"/>
                          <a:cs typeface="Tahoma" pitchFamily="34" charset="-120"/>
                        </a:rPr>
                        <a:t>Ưu điểm</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c>
                  <a:txBody>
                    <a:bodyPr/>
                    <a:lstStyle/>
                    <a:p>
                      <a:pPr indent="0" marL="0">
                        <a:buNone/>
                      </a:pPr>
                      <a:r>
                        <a:rPr lang="en-US" sz="1300" b="1" dirty="0">
                          <a:solidFill>
                            <a:srgbClr val="FFFFFF"/>
                          </a:solidFill>
                          <a:latin typeface="Tahoma" pitchFamily="34" charset="0"/>
                          <a:ea typeface="Tahoma" pitchFamily="34" charset="-122"/>
                          <a:cs typeface="Tahoma" pitchFamily="34" charset="-120"/>
                        </a:rPr>
                        <a:t>Hạn chế</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r>
              <a:tr h="731520">
                <a:tc>
                  <a:txBody>
                    <a:bodyPr/>
                    <a:lstStyle/>
                    <a:p>
                      <a:pPr indent="0" marL="0">
                        <a:buNone/>
                      </a:pPr>
                      <a:r>
                        <a:rPr lang="en-US" sz="1300" dirty="0">
                          <a:solidFill>
                            <a:srgbClr val="1F1F1F"/>
                          </a:solidFill>
                          <a:latin typeface="Tahoma" pitchFamily="34" charset="0"/>
                          <a:ea typeface="Tahoma" pitchFamily="34" charset="-122"/>
                          <a:cs typeface="Tahoma" pitchFamily="34" charset="-120"/>
                        </a:rPr>
                        <a:t>Wenner</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Tahoma" pitchFamily="34" charset="0"/>
                          <a:ea typeface="Tahoma" pitchFamily="34" charset="-122"/>
                          <a:cs typeface="Tahoma" pitchFamily="34" charset="-120"/>
                        </a:rPr>
                        <a:t>A–M–N–B cách đều a</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Tahoma" pitchFamily="34" charset="0"/>
                          <a:ea typeface="Tahoma" pitchFamily="34" charset="-122"/>
                          <a:cs typeface="Tahoma" pitchFamily="34" charset="-120"/>
                        </a:rPr>
                        <a:t>K = 2πa</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Tahoma" pitchFamily="34" charset="0"/>
                          <a:ea typeface="Tahoma" pitchFamily="34" charset="-122"/>
                          <a:cs typeface="Tahoma" pitchFamily="34" charset="-120"/>
                        </a:rPr>
                        <a:t>Tín hiệu mạnh, ổn định</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Tahoma" pitchFamily="34" charset="0"/>
                          <a:ea typeface="Tahoma" pitchFamily="34" charset="-122"/>
                          <a:cs typeface="Tahoma" pitchFamily="34" charset="-120"/>
                        </a:rPr>
                        <a:t>Dời cả 4 cực</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731520">
                <a:tc>
                  <a:txBody>
                    <a:bodyPr/>
                    <a:lstStyle/>
                    <a:p>
                      <a:pPr indent="0" marL="0">
                        <a:buNone/>
                      </a:pPr>
                      <a:r>
                        <a:rPr lang="en-US" sz="1300" dirty="0">
                          <a:solidFill>
                            <a:srgbClr val="1F1F1F"/>
                          </a:solidFill>
                          <a:latin typeface="Tahoma" pitchFamily="34" charset="0"/>
                          <a:ea typeface="Tahoma" pitchFamily="34" charset="-122"/>
                          <a:cs typeface="Tahoma" pitchFamily="34" charset="-120"/>
                        </a:rPr>
                        <a:t>Schlumberger</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300" dirty="0">
                          <a:solidFill>
                            <a:srgbClr val="1F1F1F"/>
                          </a:solidFill>
                          <a:latin typeface="Tahoma" pitchFamily="34" charset="0"/>
                          <a:ea typeface="Tahoma" pitchFamily="34" charset="-122"/>
                          <a:cs typeface="Tahoma" pitchFamily="34" charset="-120"/>
                        </a:rPr>
                        <a:t>MN ≪ AB; L = AB/2, l = MN/2</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300" dirty="0">
                          <a:solidFill>
                            <a:srgbClr val="1F1F1F"/>
                          </a:solidFill>
                          <a:latin typeface="Tahoma" pitchFamily="34" charset="0"/>
                          <a:ea typeface="Tahoma" pitchFamily="34" charset="-122"/>
                          <a:cs typeface="Tahoma" pitchFamily="34" charset="-120"/>
                        </a:rPr>
                        <a:t>K = π(L² − l²)/2l</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300" dirty="0">
                          <a:solidFill>
                            <a:srgbClr val="1F1F1F"/>
                          </a:solidFill>
                          <a:latin typeface="Tahoma" pitchFamily="34" charset="0"/>
                          <a:ea typeface="Tahoma" pitchFamily="34" charset="-122"/>
                          <a:cs typeface="Tahoma" pitchFamily="34" charset="-120"/>
                        </a:rPr>
                        <a:t>Chỉ dời A, B; chuẩn cho VES</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300" dirty="0">
                          <a:solidFill>
                            <a:srgbClr val="1F1F1F"/>
                          </a:solidFill>
                          <a:latin typeface="Tahoma" pitchFamily="34" charset="0"/>
                          <a:ea typeface="Tahoma" pitchFamily="34" charset="-122"/>
                          <a:cs typeface="Tahoma" pitchFamily="34" charset="-120"/>
                        </a:rPr>
                        <a:t>Tín hiệu yếu khi AB lớn</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r h="731520">
                <a:tc>
                  <a:txBody>
                    <a:bodyPr/>
                    <a:lstStyle/>
                    <a:p>
                      <a:pPr indent="0" marL="0">
                        <a:buNone/>
                      </a:pPr>
                      <a:r>
                        <a:rPr lang="en-US" sz="1300" dirty="0">
                          <a:solidFill>
                            <a:srgbClr val="1F1F1F"/>
                          </a:solidFill>
                          <a:latin typeface="Tahoma" pitchFamily="34" charset="0"/>
                          <a:ea typeface="Tahoma" pitchFamily="34" charset="-122"/>
                          <a:cs typeface="Tahoma" pitchFamily="34" charset="-120"/>
                        </a:rPr>
                        <a:t>Lưỡng cực – lưỡng cực</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Tahoma" pitchFamily="34" charset="0"/>
                          <a:ea typeface="Tahoma" pitchFamily="34" charset="-122"/>
                          <a:cs typeface="Tahoma" pitchFamily="34" charset="-120"/>
                        </a:rPr>
                        <a:t>AB, MN dài a, cách n·a</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Tahoma" pitchFamily="34" charset="0"/>
                          <a:ea typeface="Tahoma" pitchFamily="34" charset="-122"/>
                          <a:cs typeface="Tahoma" pitchFamily="34" charset="-120"/>
                        </a:rPr>
                        <a:t>K = πn(n+1)(n+2)a</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Tahoma" pitchFamily="34" charset="0"/>
                          <a:ea typeface="Tahoma" pitchFamily="34" charset="-122"/>
                          <a:cs typeface="Tahoma" pitchFamily="34" charset="-120"/>
                        </a:rPr>
                        <a:t>Nhạy cấu trúc thẳng đứng, IP</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Tahoma" pitchFamily="34" charset="0"/>
                          <a:ea typeface="Tahoma" pitchFamily="34" charset="-122"/>
                          <a:cs typeface="Tahoma" pitchFamily="34" charset="-120"/>
                        </a:rPr>
                        <a:t>Tín hiệu yếu, nhiễu</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731520">
                <a:tc>
                  <a:txBody>
                    <a:bodyPr/>
                    <a:lstStyle/>
                    <a:p>
                      <a:pPr indent="0" marL="0">
                        <a:buNone/>
                      </a:pPr>
                      <a:r>
                        <a:rPr lang="en-US" sz="1300" dirty="0">
                          <a:solidFill>
                            <a:srgbClr val="1F1F1F"/>
                          </a:solidFill>
                          <a:latin typeface="Tahoma" pitchFamily="34" charset="0"/>
                          <a:ea typeface="Tahoma" pitchFamily="34" charset="-122"/>
                          <a:cs typeface="Tahoma" pitchFamily="34" charset="-120"/>
                        </a:rPr>
                        <a:t>Cực – lưỡng cực</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300" dirty="0">
                          <a:solidFill>
                            <a:srgbClr val="1F1F1F"/>
                          </a:solidFill>
                          <a:latin typeface="Tahoma" pitchFamily="34" charset="0"/>
                          <a:ea typeface="Tahoma" pitchFamily="34" charset="-122"/>
                          <a:cs typeface="Tahoma" pitchFamily="34" charset="-120"/>
                        </a:rPr>
                        <a:t>B đặt rất xa</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300" dirty="0">
                          <a:solidFill>
                            <a:srgbClr val="1F1F1F"/>
                          </a:solidFill>
                          <a:latin typeface="Tahoma" pitchFamily="34" charset="0"/>
                          <a:ea typeface="Tahoma" pitchFamily="34" charset="-122"/>
                          <a:cs typeface="Tahoma" pitchFamily="34" charset="-120"/>
                        </a:rPr>
                        <a:t>K = 2πn(n+1)a</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300" dirty="0">
                          <a:solidFill>
                            <a:srgbClr val="1F1F1F"/>
                          </a:solidFill>
                          <a:latin typeface="Tahoma" pitchFamily="34" charset="0"/>
                          <a:ea typeface="Tahoma" pitchFamily="34" charset="-122"/>
                          <a:cs typeface="Tahoma" pitchFamily="34" charset="-120"/>
                        </a:rPr>
                        <a:t>Độ sâu lớn, ít cực</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300" dirty="0">
                          <a:solidFill>
                            <a:srgbClr val="1F1F1F"/>
                          </a:solidFill>
                          <a:latin typeface="Tahoma" pitchFamily="34" charset="0"/>
                          <a:ea typeface="Tahoma" pitchFamily="34" charset="-122"/>
                          <a:cs typeface="Tahoma" pitchFamily="34" charset="-120"/>
                        </a:rPr>
                        <a:t>Cần cáp dài</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r h="731520">
                <a:tc>
                  <a:txBody>
                    <a:bodyPr/>
                    <a:lstStyle/>
                    <a:p>
                      <a:pPr indent="0" marL="0">
                        <a:buNone/>
                      </a:pPr>
                      <a:r>
                        <a:rPr lang="en-US" sz="1300" dirty="0">
                          <a:solidFill>
                            <a:srgbClr val="1F1F1F"/>
                          </a:solidFill>
                          <a:latin typeface="Tahoma" pitchFamily="34" charset="0"/>
                          <a:ea typeface="Tahoma" pitchFamily="34" charset="-122"/>
                          <a:cs typeface="Tahoma" pitchFamily="34" charset="-120"/>
                        </a:rPr>
                        <a:t>Gradient đa kênh</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Tahoma" pitchFamily="34" charset="0"/>
                          <a:ea typeface="Tahoma" pitchFamily="34" charset="-122"/>
                          <a:cs typeface="Tahoma" pitchFamily="34" charset="-120"/>
                        </a:rPr>
                        <a:t>Nhiều cặp MN trong một AB</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Tahoma" pitchFamily="34" charset="0"/>
                          <a:ea typeface="Tahoma" pitchFamily="34" charset="-122"/>
                          <a:cs typeface="Tahoma" pitchFamily="34" charset="-120"/>
                        </a:rPr>
                        <a:t>Theo từng cặp</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Tahoma" pitchFamily="34" charset="0"/>
                          <a:ea typeface="Tahoma" pitchFamily="34" charset="-122"/>
                          <a:cs typeface="Tahoma" pitchFamily="34" charset="-120"/>
                        </a:rPr>
                        <a:t>Tận dụng 4 kênh SAS 4000</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Tahoma" pitchFamily="34" charset="0"/>
                          <a:ea typeface="Tahoma" pitchFamily="34" charset="-122"/>
                          <a:cs typeface="Tahoma" pitchFamily="34" charset="-120"/>
                        </a:rPr>
                        <a:t>Cần hệ LUND</a:t>
                      </a:r>
                      <a:endParaRPr lang="en-US" sz="13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640080" y="5486400"/>
            <a:ext cx="10908792" cy="685800"/>
          </a:xfrm>
          <a:prstGeom prst="rect">
            <a:avLst/>
          </a:prstGeom>
          <a:noFill/>
          <a:ln/>
        </p:spPr>
        <p:txBody>
          <a:bodyPr wrap="square" lIns="508" tIns="508" rIns="508" bIns="508" rtlCol="0" anchor="t"/>
          <a:lstStyle/>
          <a:p>
            <a:pPr indent="0" marL="0">
              <a:buNone/>
            </a:pPr>
            <a:r>
              <a:rPr lang="en-US" sz="1400" dirty="0">
                <a:solidFill>
                  <a:srgbClr val="52514E"/>
                </a:solidFill>
                <a:latin typeface="Tahoma" pitchFamily="34" charset="0"/>
                <a:ea typeface="Tahoma" pitchFamily="34" charset="-122"/>
                <a:cs typeface="Tahoma" pitchFamily="34" charset="-120"/>
              </a:rPr>
              <a:t>Độ sâu khảo sát gần đúng: Wenner ≈ 0,5a; Schlumberger ≈ AB/4 – AB/3 [5]. Protocol có sẵn trong máy: WENNER_L, WENNER_S, GRAD4L8, GRAD4S8 [4]</a:t>
            </a:r>
            <a:endParaRPr lang="en-US" sz="14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4. Ví dụ tính K và ρa</a:t>
            </a:r>
            <a:endParaRPr lang="en-US" sz="2800" dirty="0"/>
          </a:p>
        </p:txBody>
      </p:sp>
      <p:sp>
        <p:nvSpPr>
          <p:cNvPr id="3" name="Shape 1"/>
          <p:cNvSpPr/>
          <p:nvPr/>
        </p:nvSpPr>
        <p:spPr>
          <a:xfrm>
            <a:off x="640080" y="960120"/>
            <a:ext cx="5303520" cy="4023360"/>
          </a:xfrm>
          <a:prstGeom prst="roundRect">
            <a:avLst>
              <a:gd name="adj" fmla="val 2727"/>
            </a:avLst>
          </a:prstGeom>
          <a:solidFill>
            <a:srgbClr val="ECF3FA"/>
          </a:solidFill>
          <a:ln w="12700">
            <a:solidFill>
              <a:srgbClr val="ECF3FA"/>
            </a:solidFill>
            <a:prstDash val="solid"/>
          </a:ln>
        </p:spPr>
      </p:sp>
      <p:sp>
        <p:nvSpPr>
          <p:cNvPr id="4" name="Shape 2"/>
          <p:cNvSpPr/>
          <p:nvPr/>
        </p:nvSpPr>
        <p:spPr>
          <a:xfrm>
            <a:off x="868680" y="1124712"/>
            <a:ext cx="457200" cy="457200"/>
          </a:xfrm>
          <a:prstGeom prst="ellipse">
            <a:avLst/>
          </a:prstGeom>
          <a:solidFill>
            <a:srgbClr val="234782"/>
          </a:solidFill>
          <a:ln w="19050">
            <a:solidFill>
              <a:srgbClr val="234782"/>
            </a:solidFill>
            <a:prstDash val="solid"/>
          </a:ln>
        </p:spPr>
      </p:sp>
      <p:pic>
        <p:nvPicPr>
          <p:cNvPr id="5" name="Image 0" descr="preencoded.png">    </p:cNvPr>
          <p:cNvPicPr>
            <a:picLocks noChangeAspect="1"/>
          </p:cNvPicPr>
          <p:nvPr/>
        </p:nvPicPr>
        <p:blipFill>
          <a:blip r:embed="rId1"/>
          <a:stretch>
            <a:fillRect/>
          </a:stretch>
        </p:blipFill>
        <p:spPr>
          <a:xfrm>
            <a:off x="978408" y="1234440"/>
            <a:ext cx="237744" cy="237744"/>
          </a:xfrm>
          <a:prstGeom prst="rect">
            <a:avLst/>
          </a:prstGeom>
        </p:spPr>
      </p:pic>
      <p:sp>
        <p:nvSpPr>
          <p:cNvPr id="6" name="Text 3"/>
          <p:cNvSpPr txBox="1"/>
          <p:nvPr/>
        </p:nvSpPr>
        <p:spPr>
          <a:xfrm>
            <a:off x="1463040" y="1143000"/>
            <a:ext cx="4297680" cy="411480"/>
          </a:xfrm>
          <a:prstGeom prst="rect">
            <a:avLst/>
          </a:prstGeom>
          <a:noFill/>
          <a:ln/>
        </p:spPr>
        <p:txBody>
          <a:bodyPr wrap="square" lIns="508" tIns="508" rIns="508" bIns="508" rtlCol="0" anchor="ctr"/>
          <a:lstStyle/>
          <a:p>
            <a:pPr indent="0" marL="0">
              <a:buNone/>
            </a:pPr>
            <a:r>
              <a:rPr lang="en-US" sz="1700" b="1" dirty="0">
                <a:solidFill>
                  <a:srgbClr val="234782"/>
                </a:solidFill>
                <a:latin typeface="Tahoma" pitchFamily="34" charset="0"/>
                <a:ea typeface="Tahoma" pitchFamily="34" charset="-122"/>
                <a:cs typeface="Tahoma" pitchFamily="34" charset="-120"/>
              </a:rPr>
              <a:t>Schlumberger</a:t>
            </a:r>
            <a:endParaRPr lang="en-US" sz="1700" dirty="0"/>
          </a:p>
        </p:txBody>
      </p:sp>
      <p:sp>
        <p:nvSpPr>
          <p:cNvPr id="7" name="Text 4"/>
          <p:cNvSpPr txBox="1"/>
          <p:nvPr/>
        </p:nvSpPr>
        <p:spPr>
          <a:xfrm>
            <a:off x="914400" y="1737360"/>
            <a:ext cx="4800600" cy="3108960"/>
          </a:xfrm>
          <a:prstGeom prst="rect">
            <a:avLst/>
          </a:prstGeom>
          <a:noFill/>
          <a:ln/>
        </p:spPr>
        <p:txBody>
          <a:bodyPr wrap="square" lIns="254" tIns="254" rIns="254" bIns="254" rtlCol="0" anchor="t"/>
          <a:lstStyle/>
          <a:p>
            <a:pPr marL="177800" indent="-177800">
              <a:spcAft>
                <a:spcPts val="800"/>
              </a:spcAft>
              <a:buSzPct val="100000"/>
              <a:buChar char="•"/>
            </a:pPr>
            <a:r>
              <a:rPr lang="en-US" sz="1500" dirty="0">
                <a:solidFill>
                  <a:srgbClr val="1F1F1F"/>
                </a:solidFill>
                <a:latin typeface="Tahoma" pitchFamily="34" charset="0"/>
                <a:ea typeface="Tahoma" pitchFamily="34" charset="-122"/>
                <a:cs typeface="Tahoma" pitchFamily="34" charset="-120"/>
              </a:rPr>
              <a:t>AB/2 = L = 20 m; MN/2 = l = 1 m</a:t>
            </a:r>
            <a:endParaRPr lang="en-US" sz="1500" dirty="0"/>
          </a:p>
          <a:p>
            <a:pPr marL="177800" indent="-177800">
              <a:spcAft>
                <a:spcPts val="800"/>
              </a:spcAft>
              <a:buSzPct val="100000"/>
              <a:buChar char="•"/>
            </a:pPr>
            <a:r>
              <a:rPr lang="en-US" sz="1500" dirty="0">
                <a:solidFill>
                  <a:srgbClr val="1F1F1F"/>
                </a:solidFill>
                <a:latin typeface="Tahoma" pitchFamily="34" charset="0"/>
                <a:ea typeface="Tahoma" pitchFamily="34" charset="-122"/>
                <a:cs typeface="Tahoma" pitchFamily="34" charset="-120"/>
              </a:rPr>
              <a:t>K = π(20² − 1²)/(2·1) ≈ </a:t>
            </a:r>
            <a:r>
              <a:rPr lang="en-US" sz="1500" b="1" dirty="0">
                <a:solidFill>
                  <a:srgbClr val="1F1F1F"/>
                </a:solidFill>
                <a:latin typeface="Tahoma" pitchFamily="34" charset="0"/>
                <a:ea typeface="Tahoma" pitchFamily="34" charset="-122"/>
                <a:cs typeface="Tahoma" pitchFamily="34" charset="-120"/>
              </a:rPr>
              <a:t>626,7 m</a:t>
            </a:r>
            <a:endParaRPr lang="en-US" sz="1500" dirty="0"/>
          </a:p>
          <a:p>
            <a:pPr marL="177800" indent="-177800">
              <a:spcAft>
                <a:spcPts val="800"/>
              </a:spcAft>
              <a:buSzPct val="100000"/>
              <a:buChar char="•"/>
            </a:pPr>
            <a:r>
              <a:rPr lang="en-US" sz="1500" dirty="0">
                <a:solidFill>
                  <a:srgbClr val="1F1F1F"/>
                </a:solidFill>
                <a:latin typeface="Tahoma" pitchFamily="34" charset="0"/>
                <a:ea typeface="Tahoma" pitchFamily="34" charset="-122"/>
                <a:cs typeface="Tahoma" pitchFamily="34" charset="-120"/>
              </a:rPr>
              <a:t>Đo được I = 200 mA, ΔU = 31,9 mV</a:t>
            </a:r>
            <a:endParaRPr lang="en-US" sz="1500" dirty="0"/>
          </a:p>
          <a:p>
            <a:pPr marL="177800" indent="-177800">
              <a:spcAft>
                <a:spcPts val="800"/>
              </a:spcAft>
              <a:buSzPct val="100000"/>
              <a:buChar char="•"/>
            </a:pPr>
            <a:r>
              <a:rPr lang="en-US" sz="1500" dirty="0">
                <a:solidFill>
                  <a:srgbClr val="1F1F1F"/>
                </a:solidFill>
                <a:latin typeface="Tahoma" pitchFamily="34" charset="0"/>
                <a:ea typeface="Tahoma" pitchFamily="34" charset="-122"/>
                <a:cs typeface="Tahoma" pitchFamily="34" charset="-120"/>
              </a:rPr>
              <a:t>R = 31,9 / 200 = 0,1595 Ω</a:t>
            </a:r>
            <a:endParaRPr lang="en-US" sz="1500" dirty="0"/>
          </a:p>
          <a:p>
            <a:pPr marL="177800" indent="-177800">
              <a:spcAft>
                <a:spcPts val="800"/>
              </a:spcAft>
              <a:buSzPct val="100000"/>
              <a:buChar char="•"/>
            </a:pPr>
            <a:r>
              <a:rPr lang="en-US" sz="1500" dirty="0">
                <a:solidFill>
                  <a:srgbClr val="1F1F1F"/>
                </a:solidFill>
                <a:latin typeface="Tahoma" pitchFamily="34" charset="0"/>
                <a:ea typeface="Tahoma" pitchFamily="34" charset="-122"/>
                <a:cs typeface="Tahoma" pitchFamily="34" charset="-120"/>
              </a:rPr>
              <a:t>ρa = 626,7 × 0,1595 ≈ </a:t>
            </a:r>
            <a:r>
              <a:rPr lang="en-US" sz="1500" b="1" dirty="0">
                <a:solidFill>
                  <a:srgbClr val="1F1F1F"/>
                </a:solidFill>
                <a:latin typeface="Tahoma" pitchFamily="34" charset="0"/>
                <a:ea typeface="Tahoma" pitchFamily="34" charset="-122"/>
                <a:cs typeface="Tahoma" pitchFamily="34" charset="-120"/>
              </a:rPr>
              <a:t>100 Ω·m</a:t>
            </a:r>
            <a:endParaRPr lang="en-US" sz="1500" dirty="0"/>
          </a:p>
        </p:txBody>
      </p:sp>
      <p:sp>
        <p:nvSpPr>
          <p:cNvPr id="8" name="Shape 5"/>
          <p:cNvSpPr/>
          <p:nvPr/>
        </p:nvSpPr>
        <p:spPr>
          <a:xfrm>
            <a:off x="6245352" y="960120"/>
            <a:ext cx="5303520" cy="4023360"/>
          </a:xfrm>
          <a:prstGeom prst="roundRect">
            <a:avLst>
              <a:gd name="adj" fmla="val 2727"/>
            </a:avLst>
          </a:prstGeom>
          <a:solidFill>
            <a:srgbClr val="ECF3FA"/>
          </a:solidFill>
          <a:ln w="12700">
            <a:solidFill>
              <a:srgbClr val="ECF3FA"/>
            </a:solidFill>
            <a:prstDash val="solid"/>
          </a:ln>
        </p:spPr>
      </p:sp>
      <p:sp>
        <p:nvSpPr>
          <p:cNvPr id="9" name="Shape 6"/>
          <p:cNvSpPr/>
          <p:nvPr/>
        </p:nvSpPr>
        <p:spPr>
          <a:xfrm>
            <a:off x="6473952" y="1124712"/>
            <a:ext cx="457200" cy="457200"/>
          </a:xfrm>
          <a:prstGeom prst="ellipse">
            <a:avLst/>
          </a:prstGeom>
          <a:solidFill>
            <a:srgbClr val="234782"/>
          </a:solidFill>
          <a:ln w="19050">
            <a:solidFill>
              <a:srgbClr val="234782"/>
            </a:solidFill>
            <a:prstDash val="solid"/>
          </a:ln>
        </p:spPr>
      </p:sp>
      <p:pic>
        <p:nvPicPr>
          <p:cNvPr id="10" name="Image 1" descr="preencoded.png">    </p:cNvPr>
          <p:cNvPicPr>
            <a:picLocks noChangeAspect="1"/>
          </p:cNvPicPr>
          <p:nvPr/>
        </p:nvPicPr>
        <p:blipFill>
          <a:blip r:embed="rId2"/>
          <a:stretch>
            <a:fillRect/>
          </a:stretch>
        </p:blipFill>
        <p:spPr>
          <a:xfrm>
            <a:off x="6583680" y="1234440"/>
            <a:ext cx="237744" cy="237744"/>
          </a:xfrm>
          <a:prstGeom prst="rect">
            <a:avLst/>
          </a:prstGeom>
        </p:spPr>
      </p:pic>
      <p:sp>
        <p:nvSpPr>
          <p:cNvPr id="11" name="Text 7"/>
          <p:cNvSpPr txBox="1"/>
          <p:nvPr/>
        </p:nvSpPr>
        <p:spPr>
          <a:xfrm>
            <a:off x="7068312" y="1143000"/>
            <a:ext cx="4297680" cy="411480"/>
          </a:xfrm>
          <a:prstGeom prst="rect">
            <a:avLst/>
          </a:prstGeom>
          <a:noFill/>
          <a:ln/>
        </p:spPr>
        <p:txBody>
          <a:bodyPr wrap="square" lIns="508" tIns="508" rIns="508" bIns="508" rtlCol="0" anchor="ctr"/>
          <a:lstStyle/>
          <a:p>
            <a:pPr indent="0" marL="0">
              <a:buNone/>
            </a:pPr>
            <a:r>
              <a:rPr lang="en-US" sz="1700" b="1" dirty="0">
                <a:solidFill>
                  <a:srgbClr val="234782"/>
                </a:solidFill>
                <a:latin typeface="Tahoma" pitchFamily="34" charset="0"/>
                <a:ea typeface="Tahoma" pitchFamily="34" charset="-122"/>
                <a:cs typeface="Tahoma" pitchFamily="34" charset="-120"/>
              </a:rPr>
              <a:t>Wenner</a:t>
            </a:r>
            <a:endParaRPr lang="en-US" sz="1700" dirty="0"/>
          </a:p>
        </p:txBody>
      </p:sp>
      <p:sp>
        <p:nvSpPr>
          <p:cNvPr id="12" name="Text 8"/>
          <p:cNvSpPr txBox="1"/>
          <p:nvPr/>
        </p:nvSpPr>
        <p:spPr>
          <a:xfrm>
            <a:off x="6519672" y="1737360"/>
            <a:ext cx="4800600" cy="3108960"/>
          </a:xfrm>
          <a:prstGeom prst="rect">
            <a:avLst/>
          </a:prstGeom>
          <a:noFill/>
          <a:ln/>
        </p:spPr>
        <p:txBody>
          <a:bodyPr wrap="square" lIns="254" tIns="254" rIns="254" bIns="254" rtlCol="0" anchor="t"/>
          <a:lstStyle/>
          <a:p>
            <a:pPr marL="177800" indent="-177800">
              <a:spcAft>
                <a:spcPts val="800"/>
              </a:spcAft>
              <a:buSzPct val="100000"/>
              <a:buChar char="•"/>
            </a:pPr>
            <a:r>
              <a:rPr lang="en-US" sz="1500" dirty="0">
                <a:solidFill>
                  <a:srgbClr val="1F1F1F"/>
                </a:solidFill>
                <a:latin typeface="Tahoma" pitchFamily="34" charset="0"/>
                <a:ea typeface="Tahoma" pitchFamily="34" charset="-122"/>
                <a:cs typeface="Tahoma" pitchFamily="34" charset="-120"/>
              </a:rPr>
              <a:t>a = 10 m</a:t>
            </a:r>
            <a:endParaRPr lang="en-US" sz="1500" dirty="0"/>
          </a:p>
          <a:p>
            <a:pPr marL="177800" indent="-177800">
              <a:spcAft>
                <a:spcPts val="800"/>
              </a:spcAft>
              <a:buSzPct val="100000"/>
              <a:buChar char="•"/>
            </a:pPr>
            <a:r>
              <a:rPr lang="en-US" sz="1500" dirty="0">
                <a:solidFill>
                  <a:srgbClr val="1F1F1F"/>
                </a:solidFill>
                <a:latin typeface="Tahoma" pitchFamily="34" charset="0"/>
                <a:ea typeface="Tahoma" pitchFamily="34" charset="-122"/>
                <a:cs typeface="Tahoma" pitchFamily="34" charset="-120"/>
              </a:rPr>
              <a:t>K = 2π × 10 ≈ </a:t>
            </a:r>
            <a:r>
              <a:rPr lang="en-US" sz="1500" b="1" dirty="0">
                <a:solidFill>
                  <a:srgbClr val="1F1F1F"/>
                </a:solidFill>
                <a:latin typeface="Tahoma" pitchFamily="34" charset="0"/>
                <a:ea typeface="Tahoma" pitchFamily="34" charset="-122"/>
                <a:cs typeface="Tahoma" pitchFamily="34" charset="-120"/>
              </a:rPr>
              <a:t>62,8 m</a:t>
            </a:r>
            <a:endParaRPr lang="en-US" sz="1500" dirty="0"/>
          </a:p>
          <a:p>
            <a:pPr marL="177800" indent="-177800">
              <a:spcAft>
                <a:spcPts val="800"/>
              </a:spcAft>
              <a:buSzPct val="100000"/>
              <a:buChar char="•"/>
            </a:pPr>
            <a:r>
              <a:rPr lang="en-US" sz="1500" dirty="0">
                <a:solidFill>
                  <a:srgbClr val="1F1F1F"/>
                </a:solidFill>
                <a:latin typeface="Tahoma" pitchFamily="34" charset="0"/>
                <a:ea typeface="Tahoma" pitchFamily="34" charset="-122"/>
                <a:cs typeface="Tahoma" pitchFamily="34" charset="-120"/>
              </a:rPr>
              <a:t>Đo được I = 50 mA, ΔU = 79,6 mV</a:t>
            </a:r>
            <a:endParaRPr lang="en-US" sz="1500" dirty="0"/>
          </a:p>
          <a:p>
            <a:pPr marL="177800" indent="-177800">
              <a:spcAft>
                <a:spcPts val="800"/>
              </a:spcAft>
              <a:buSzPct val="100000"/>
              <a:buChar char="•"/>
            </a:pPr>
            <a:r>
              <a:rPr lang="en-US" sz="1500" dirty="0">
                <a:solidFill>
                  <a:srgbClr val="1F1F1F"/>
                </a:solidFill>
                <a:latin typeface="Tahoma" pitchFamily="34" charset="0"/>
                <a:ea typeface="Tahoma" pitchFamily="34" charset="-122"/>
                <a:cs typeface="Tahoma" pitchFamily="34" charset="-120"/>
              </a:rPr>
              <a:t>R = 79,6 / 50 = 1,592 Ω</a:t>
            </a:r>
            <a:endParaRPr lang="en-US" sz="1500" dirty="0"/>
          </a:p>
          <a:p>
            <a:pPr marL="177800" indent="-177800">
              <a:spcAft>
                <a:spcPts val="800"/>
              </a:spcAft>
              <a:buSzPct val="100000"/>
              <a:buChar char="•"/>
            </a:pPr>
            <a:r>
              <a:rPr lang="en-US" sz="1500" dirty="0">
                <a:solidFill>
                  <a:srgbClr val="1F1F1F"/>
                </a:solidFill>
                <a:latin typeface="Tahoma" pitchFamily="34" charset="0"/>
                <a:ea typeface="Tahoma" pitchFamily="34" charset="-122"/>
                <a:cs typeface="Tahoma" pitchFamily="34" charset="-120"/>
              </a:rPr>
              <a:t>ρa = 62,8 × 1,592 ≈ </a:t>
            </a:r>
            <a:r>
              <a:rPr lang="en-US" sz="1500" b="1" dirty="0">
                <a:solidFill>
                  <a:srgbClr val="1F1F1F"/>
                </a:solidFill>
                <a:latin typeface="Tahoma" pitchFamily="34" charset="0"/>
                <a:ea typeface="Tahoma" pitchFamily="34" charset="-122"/>
                <a:cs typeface="Tahoma" pitchFamily="34" charset="-120"/>
              </a:rPr>
              <a:t>100 Ω·m</a:t>
            </a:r>
            <a:endParaRPr lang="en-US" sz="1500" dirty="0"/>
          </a:p>
        </p:txBody>
      </p:sp>
      <p:sp>
        <p:nvSpPr>
          <p:cNvPr id="13" name="Text 9"/>
          <p:cNvSpPr txBox="1"/>
          <p:nvPr/>
        </p:nvSpPr>
        <p:spPr>
          <a:xfrm>
            <a:off x="640080" y="5212080"/>
            <a:ext cx="10908792" cy="1005840"/>
          </a:xfrm>
          <a:prstGeom prst="rect">
            <a:avLst/>
          </a:prstGeom>
          <a:noFill/>
          <a:ln/>
        </p:spPr>
        <p:txBody>
          <a:bodyPr wrap="square" lIns="508" tIns="508" rIns="508" bIns="508" rtlCol="0" anchor="ctr"/>
          <a:lstStyle/>
          <a:p>
            <a:pPr indent="0" marL="0">
              <a:buNone/>
            </a:pPr>
            <a:r>
              <a:rPr lang="en-US" sz="1600" b="1" dirty="0">
                <a:solidFill>
                  <a:srgbClr val="0086CA"/>
                </a:solidFill>
                <a:latin typeface="Tahoma" pitchFamily="34" charset="0"/>
                <a:ea typeface="Tahoma" pitchFamily="34" charset="-122"/>
                <a:cs typeface="Tahoma" pitchFamily="34" charset="-120"/>
              </a:rPr>
              <a:t>→ Cùng ρa = 100 Ω·m nhưng ΔU ở Schlumberger nhỏ hơn 2,5 lần dù dòng lớn gấp 4: K càng lớn thì tín hiệu càng yếu, phải tăng dòng hoặc nới MN</a:t>
            </a:r>
            <a:endParaRPr lang="en-US" sz="16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5. Thiết lập thông số đo (RES)</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960120"/>
          <a:ext cx="6583680" cy="914400"/>
        </p:xfrm>
        <a:graphic>
          <a:graphicData uri="http://schemas.openxmlformats.org/drawingml/2006/table">
            <a:tbl>
              <a:tblPr/>
              <a:tblGrid>
                <a:gridCol w="2377440"/>
                <a:gridCol w="4206240"/>
              </a:tblGrid>
              <a:tr h="0">
                <a:tc>
                  <a:txBody>
                    <a:bodyPr/>
                    <a:lstStyle/>
                    <a:p>
                      <a:pPr indent="0" marL="0">
                        <a:buNone/>
                      </a:pPr>
                      <a:r>
                        <a:rPr lang="en-US" sz="1400" b="1" dirty="0">
                          <a:solidFill>
                            <a:srgbClr val="FFFFFF"/>
                          </a:solidFill>
                          <a:latin typeface="Tahoma" pitchFamily="34" charset="0"/>
                          <a:ea typeface="Tahoma" pitchFamily="34" charset="-122"/>
                          <a:cs typeface="Tahoma" pitchFamily="34" charset="-120"/>
                        </a:rPr>
                        <a:t>Tham số</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c>
                  <a:txBody>
                    <a:bodyPr/>
                    <a:lstStyle/>
                    <a:p>
                      <a:pPr indent="0" marL="0">
                        <a:buNone/>
                      </a:pPr>
                      <a:r>
                        <a:rPr lang="en-US" sz="1400" b="1" dirty="0">
                          <a:solidFill>
                            <a:srgbClr val="FFFFFF"/>
                          </a:solidFill>
                          <a:latin typeface="Tahoma" pitchFamily="34" charset="0"/>
                          <a:ea typeface="Tahoma" pitchFamily="34" charset="-122"/>
                          <a:cs typeface="Tahoma" pitchFamily="34" charset="-120"/>
                        </a:rPr>
                        <a:t>Giá trị / ý nghĩa [4]</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Chế độ</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SP / Resistivity / IP, chọn trong Record Manager</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Dòng phát</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1 – 1.000 mA; Auto tự giảm nếu không phát đủ</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Tần số điện lưới</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50 Hz (Việt Nam) để lọc nhiễu</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Acq. delay / Acq. time</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 0,2 – 0,3 s / 0,3 – 0,5 s</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Chu kỳ mặc định</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 2,6 s (+ − − +)</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Min / Max stacks</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Ví dụ 1 / 4</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Error limit</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1%: dừng cộng khi S.Dev nhỏ hơn</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Norm</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Median (chống số đo lỗi) hoặc Mean</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bl>
          </a:graphicData>
        </a:graphic>
      </p:graphicFrame>
      <p:sp>
        <p:nvSpPr>
          <p:cNvPr id="4" name="Shape 1"/>
          <p:cNvSpPr/>
          <p:nvPr/>
        </p:nvSpPr>
        <p:spPr>
          <a:xfrm>
            <a:off x="7498080" y="1005840"/>
            <a:ext cx="566928" cy="566928"/>
          </a:xfrm>
          <a:prstGeom prst="ellipse">
            <a:avLst/>
          </a:prstGeom>
          <a:solidFill>
            <a:srgbClr val="234782"/>
          </a:solidFill>
          <a:ln w="12700">
            <a:solidFill>
              <a:srgbClr val="234782"/>
            </a:solidFill>
            <a:prstDash val="solid"/>
          </a:ln>
        </p:spPr>
      </p:sp>
      <p:pic>
        <p:nvPicPr>
          <p:cNvPr id="5" name="Image 0" descr="preencoded.png">    </p:cNvPr>
          <p:cNvPicPr>
            <a:picLocks noChangeAspect="1"/>
          </p:cNvPicPr>
          <p:nvPr/>
        </p:nvPicPr>
        <p:blipFill>
          <a:blip r:embed="rId1"/>
          <a:stretch>
            <a:fillRect/>
          </a:stretch>
        </p:blipFill>
        <p:spPr>
          <a:xfrm>
            <a:off x="7622804" y="1130564"/>
            <a:ext cx="317480" cy="317480"/>
          </a:xfrm>
          <a:prstGeom prst="rect">
            <a:avLst/>
          </a:prstGeom>
        </p:spPr>
      </p:pic>
      <p:sp>
        <p:nvSpPr>
          <p:cNvPr id="6" name="Text 2"/>
          <p:cNvSpPr txBox="1"/>
          <p:nvPr/>
        </p:nvSpPr>
        <p:spPr>
          <a:xfrm>
            <a:off x="8293608" y="960120"/>
            <a:ext cx="3255264" cy="292608"/>
          </a:xfrm>
          <a:prstGeom prst="rect">
            <a:avLst/>
          </a:prstGeom>
          <a:noFill/>
          <a:ln/>
        </p:spPr>
        <p:txBody>
          <a:bodyPr wrap="square" lIns="508" tIns="508" rIns="508" bIns="508" rtlCol="0" anchor="t"/>
          <a:lstStyle/>
          <a:p>
            <a:pPr indent="0" marL="0">
              <a:buNone/>
            </a:pPr>
            <a:r>
              <a:rPr lang="en-US" sz="1400" b="1" dirty="0">
                <a:solidFill>
                  <a:srgbClr val="234782"/>
                </a:solidFill>
                <a:latin typeface="Tahoma" pitchFamily="34" charset="0"/>
                <a:ea typeface="Tahoma" pitchFamily="34" charset="-122"/>
                <a:cs typeface="Tahoma" pitchFamily="34" charset="-120"/>
              </a:rPr>
              <a:t>Dòng đảo chiều</a:t>
            </a:r>
            <a:endParaRPr lang="en-US" sz="1400" dirty="0"/>
          </a:p>
        </p:txBody>
      </p:sp>
      <p:sp>
        <p:nvSpPr>
          <p:cNvPr id="7" name="Text 3"/>
          <p:cNvSpPr txBox="1"/>
          <p:nvPr/>
        </p:nvSpPr>
        <p:spPr>
          <a:xfrm>
            <a:off x="8293608" y="1252728"/>
            <a:ext cx="3255264" cy="1005840"/>
          </a:xfrm>
          <a:prstGeom prst="rect">
            <a:avLst/>
          </a:prstGeom>
          <a:noFill/>
          <a:ln/>
        </p:spPr>
        <p:txBody>
          <a:bodyPr wrap="square" lIns="508" tIns="508" rIns="508" bIns="508" rtlCol="0" anchor="t"/>
          <a:lstStyle/>
          <a:p>
            <a:pPr indent="0" marL="0">
              <a:buNone/>
            </a:pPr>
            <a:r>
              <a:rPr lang="en-US" sz="1400" dirty="0">
                <a:solidFill>
                  <a:srgbClr val="1F1F1F"/>
                </a:solidFill>
                <a:latin typeface="Tahoma" pitchFamily="34" charset="0"/>
                <a:ea typeface="Tahoma" pitchFamily="34" charset="-122"/>
                <a:cs typeface="Tahoma" pitchFamily="34" charset="-120"/>
              </a:rPr>
              <a:t>Chu kỳ + − − + khử điện thế tự nhiên và phân cực điện cực</a:t>
            </a:r>
            <a:endParaRPr lang="en-US" sz="1400" dirty="0"/>
          </a:p>
        </p:txBody>
      </p:sp>
      <p:sp>
        <p:nvSpPr>
          <p:cNvPr id="8" name="Shape 4"/>
          <p:cNvSpPr/>
          <p:nvPr/>
        </p:nvSpPr>
        <p:spPr>
          <a:xfrm>
            <a:off x="7498080" y="2377440"/>
            <a:ext cx="566928" cy="566928"/>
          </a:xfrm>
          <a:prstGeom prst="ellipse">
            <a:avLst/>
          </a:prstGeom>
          <a:solidFill>
            <a:srgbClr val="234782"/>
          </a:solidFill>
          <a:ln w="12700">
            <a:solidFill>
              <a:srgbClr val="234782"/>
            </a:solidFill>
            <a:prstDash val="solid"/>
          </a:ln>
        </p:spPr>
      </p:sp>
      <p:pic>
        <p:nvPicPr>
          <p:cNvPr id="9" name="Image 1" descr="preencoded.png">    </p:cNvPr>
          <p:cNvPicPr>
            <a:picLocks noChangeAspect="1"/>
          </p:cNvPicPr>
          <p:nvPr/>
        </p:nvPicPr>
        <p:blipFill>
          <a:blip r:embed="rId2"/>
          <a:stretch>
            <a:fillRect/>
          </a:stretch>
        </p:blipFill>
        <p:spPr>
          <a:xfrm>
            <a:off x="7622804" y="2502164"/>
            <a:ext cx="317480" cy="317480"/>
          </a:xfrm>
          <a:prstGeom prst="rect">
            <a:avLst/>
          </a:prstGeom>
        </p:spPr>
      </p:pic>
      <p:sp>
        <p:nvSpPr>
          <p:cNvPr id="10" name="Text 5"/>
          <p:cNvSpPr txBox="1"/>
          <p:nvPr/>
        </p:nvSpPr>
        <p:spPr>
          <a:xfrm>
            <a:off x="8293608" y="2331720"/>
            <a:ext cx="3255264" cy="292608"/>
          </a:xfrm>
          <a:prstGeom prst="rect">
            <a:avLst/>
          </a:prstGeom>
          <a:noFill/>
          <a:ln/>
        </p:spPr>
        <p:txBody>
          <a:bodyPr wrap="square" lIns="508" tIns="508" rIns="508" bIns="508" rtlCol="0" anchor="t"/>
          <a:lstStyle/>
          <a:p>
            <a:pPr indent="0" marL="0">
              <a:buNone/>
            </a:pPr>
            <a:r>
              <a:rPr lang="en-US" sz="1400" b="1" dirty="0">
                <a:solidFill>
                  <a:srgbClr val="234782"/>
                </a:solidFill>
                <a:latin typeface="Tahoma" pitchFamily="34" charset="0"/>
                <a:ea typeface="Tahoma" pitchFamily="34" charset="-122"/>
                <a:cs typeface="Tahoma" pitchFamily="34" charset="-120"/>
              </a:rPr>
              <a:t>Cộng nhiều lần</a:t>
            </a:r>
            <a:endParaRPr lang="en-US" sz="1400" dirty="0"/>
          </a:p>
        </p:txBody>
      </p:sp>
      <p:sp>
        <p:nvSpPr>
          <p:cNvPr id="11" name="Text 6"/>
          <p:cNvSpPr txBox="1"/>
          <p:nvPr/>
        </p:nvSpPr>
        <p:spPr>
          <a:xfrm>
            <a:off x="8293608" y="2624328"/>
            <a:ext cx="3255264" cy="1005840"/>
          </a:xfrm>
          <a:prstGeom prst="rect">
            <a:avLst/>
          </a:prstGeom>
          <a:noFill/>
          <a:ln/>
        </p:spPr>
        <p:txBody>
          <a:bodyPr wrap="square" lIns="508" tIns="508" rIns="508" bIns="508" rtlCol="0" anchor="t"/>
          <a:lstStyle/>
          <a:p>
            <a:pPr indent="0" marL="0">
              <a:buNone/>
            </a:pPr>
            <a:r>
              <a:rPr lang="en-US" sz="1400" dirty="0">
                <a:solidFill>
                  <a:srgbClr val="1F1F1F"/>
                </a:solidFill>
                <a:latin typeface="Tahoma" pitchFamily="34" charset="0"/>
                <a:ea typeface="Tahoma" pitchFamily="34" charset="-122"/>
                <a:cs typeface="Tahoma" pitchFamily="34" charset="-120"/>
              </a:rPr>
              <a:t>Lấy trung vị các lần đo để giảm nhiễu ngẫu nhiên</a:t>
            </a:r>
            <a:endParaRPr lang="en-US" sz="1400" dirty="0"/>
          </a:p>
        </p:txBody>
      </p:sp>
      <p:sp>
        <p:nvSpPr>
          <p:cNvPr id="12" name="Shape 7"/>
          <p:cNvSpPr/>
          <p:nvPr/>
        </p:nvSpPr>
        <p:spPr>
          <a:xfrm>
            <a:off x="7498080" y="3749040"/>
            <a:ext cx="566928" cy="566928"/>
          </a:xfrm>
          <a:prstGeom prst="ellipse">
            <a:avLst/>
          </a:prstGeom>
          <a:solidFill>
            <a:srgbClr val="234782"/>
          </a:solidFill>
          <a:ln w="12700">
            <a:solidFill>
              <a:srgbClr val="234782"/>
            </a:solidFill>
            <a:prstDash val="solid"/>
          </a:ln>
        </p:spPr>
      </p:sp>
      <p:pic>
        <p:nvPicPr>
          <p:cNvPr id="13" name="Image 2" descr="preencoded.png">    </p:cNvPr>
          <p:cNvPicPr>
            <a:picLocks noChangeAspect="1"/>
          </p:cNvPicPr>
          <p:nvPr/>
        </p:nvPicPr>
        <p:blipFill>
          <a:blip r:embed="rId3"/>
          <a:stretch>
            <a:fillRect/>
          </a:stretch>
        </p:blipFill>
        <p:spPr>
          <a:xfrm>
            <a:off x="7622804" y="3873764"/>
            <a:ext cx="317480" cy="317480"/>
          </a:xfrm>
          <a:prstGeom prst="rect">
            <a:avLst/>
          </a:prstGeom>
        </p:spPr>
      </p:pic>
      <p:sp>
        <p:nvSpPr>
          <p:cNvPr id="14" name="Text 8"/>
          <p:cNvSpPr txBox="1"/>
          <p:nvPr/>
        </p:nvSpPr>
        <p:spPr>
          <a:xfrm>
            <a:off x="8293608" y="3703320"/>
            <a:ext cx="3255264" cy="292608"/>
          </a:xfrm>
          <a:prstGeom prst="rect">
            <a:avLst/>
          </a:prstGeom>
          <a:noFill/>
          <a:ln/>
        </p:spPr>
        <p:txBody>
          <a:bodyPr wrap="square" lIns="508" tIns="508" rIns="508" bIns="508" rtlCol="0" anchor="t"/>
          <a:lstStyle/>
          <a:p>
            <a:pPr indent="0" marL="0">
              <a:buNone/>
            </a:pPr>
            <a:r>
              <a:rPr lang="en-US" sz="1400" b="1" dirty="0">
                <a:solidFill>
                  <a:srgbClr val="234782"/>
                </a:solidFill>
                <a:latin typeface="Tahoma" pitchFamily="34" charset="0"/>
                <a:ea typeface="Tahoma" pitchFamily="34" charset="-122"/>
                <a:cs typeface="Tahoma" pitchFamily="34" charset="-120"/>
              </a:rPr>
              <a:t>Lọc 50 Hz</a:t>
            </a:r>
            <a:endParaRPr lang="en-US" sz="1400" dirty="0"/>
          </a:p>
        </p:txBody>
      </p:sp>
      <p:sp>
        <p:nvSpPr>
          <p:cNvPr id="15" name="Text 9"/>
          <p:cNvSpPr txBox="1"/>
          <p:nvPr/>
        </p:nvSpPr>
        <p:spPr>
          <a:xfrm>
            <a:off x="8293608" y="3995928"/>
            <a:ext cx="3255264" cy="1005840"/>
          </a:xfrm>
          <a:prstGeom prst="rect">
            <a:avLst/>
          </a:prstGeom>
          <a:noFill/>
          <a:ln/>
        </p:spPr>
        <p:txBody>
          <a:bodyPr wrap="square" lIns="508" tIns="508" rIns="508" bIns="508" rtlCol="0" anchor="t"/>
          <a:lstStyle/>
          <a:p>
            <a:pPr indent="0" marL="0">
              <a:buNone/>
            </a:pPr>
            <a:r>
              <a:rPr lang="en-US" sz="1400" dirty="0">
                <a:solidFill>
                  <a:srgbClr val="1F1F1F"/>
                </a:solidFill>
                <a:latin typeface="Tahoma" pitchFamily="34" charset="0"/>
                <a:ea typeface="Tahoma" pitchFamily="34" charset="-122"/>
                <a:cs typeface="Tahoma" pitchFamily="34" charset="-120"/>
              </a:rPr>
              <a:t>Thời gian thu là bội của chu kỳ điện lưới</a:t>
            </a:r>
            <a:endParaRPr lang="en-US" sz="14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5. Chế độ phân cực kích thích (IP)</a:t>
            </a:r>
            <a:endParaRPr lang="en-US" sz="2800" dirty="0"/>
          </a:p>
        </p:txBody>
      </p:sp>
      <p:sp>
        <p:nvSpPr>
          <p:cNvPr id="3" name="Shape 1"/>
          <p:cNvSpPr/>
          <p:nvPr/>
        </p:nvSpPr>
        <p:spPr>
          <a:xfrm>
            <a:off x="822960" y="4023360"/>
            <a:ext cx="6035040" cy="914"/>
          </a:xfrm>
          <a:prstGeom prst="line">
            <a:avLst/>
          </a:prstGeom>
          <a:noFill/>
          <a:ln w="12700">
            <a:solidFill>
              <a:srgbClr val="52514E"/>
            </a:solidFill>
            <a:prstDash val="solid"/>
          </a:ln>
        </p:spPr>
      </p:sp>
      <p:sp>
        <p:nvSpPr>
          <p:cNvPr id="4" name="Shape 2"/>
          <p:cNvSpPr/>
          <p:nvPr/>
        </p:nvSpPr>
        <p:spPr>
          <a:xfrm>
            <a:off x="822960" y="1280160"/>
            <a:ext cx="914" cy="2743200"/>
          </a:xfrm>
          <a:prstGeom prst="line">
            <a:avLst/>
          </a:prstGeom>
          <a:noFill/>
          <a:ln w="12700">
            <a:solidFill>
              <a:srgbClr val="52514E"/>
            </a:solidFill>
            <a:prstDash val="solid"/>
          </a:ln>
        </p:spPr>
      </p:sp>
      <p:sp>
        <p:nvSpPr>
          <p:cNvPr id="5" name="Shape 3"/>
          <p:cNvSpPr/>
          <p:nvPr/>
        </p:nvSpPr>
        <p:spPr>
          <a:xfrm flipV="1">
            <a:off x="822960" y="1645920"/>
            <a:ext cx="45720" cy="2377440"/>
          </a:xfrm>
          <a:prstGeom prst="line">
            <a:avLst/>
          </a:prstGeom>
          <a:noFill/>
          <a:ln w="31750">
            <a:solidFill>
              <a:srgbClr val="234782"/>
            </a:solidFill>
            <a:prstDash val="solid"/>
          </a:ln>
        </p:spPr>
      </p:sp>
      <p:sp>
        <p:nvSpPr>
          <p:cNvPr id="6" name="Shape 4"/>
          <p:cNvSpPr/>
          <p:nvPr/>
        </p:nvSpPr>
        <p:spPr>
          <a:xfrm>
            <a:off x="868680" y="1645920"/>
            <a:ext cx="2148840" cy="914"/>
          </a:xfrm>
          <a:prstGeom prst="line">
            <a:avLst/>
          </a:prstGeom>
          <a:noFill/>
          <a:ln w="31750">
            <a:solidFill>
              <a:srgbClr val="234782"/>
            </a:solidFill>
            <a:prstDash val="solid"/>
          </a:ln>
        </p:spPr>
      </p:sp>
      <p:sp>
        <p:nvSpPr>
          <p:cNvPr id="7" name="Shape 5"/>
          <p:cNvSpPr/>
          <p:nvPr/>
        </p:nvSpPr>
        <p:spPr>
          <a:xfrm>
            <a:off x="3017520" y="1645920"/>
            <a:ext cx="18288" cy="640080"/>
          </a:xfrm>
          <a:prstGeom prst="line">
            <a:avLst/>
          </a:prstGeom>
          <a:noFill/>
          <a:ln w="31750">
            <a:solidFill>
              <a:srgbClr val="234782"/>
            </a:solidFill>
            <a:prstDash val="solid"/>
          </a:ln>
        </p:spPr>
      </p:sp>
      <p:sp>
        <p:nvSpPr>
          <p:cNvPr id="8" name="Shape 6"/>
          <p:cNvSpPr/>
          <p:nvPr/>
        </p:nvSpPr>
        <p:spPr>
          <a:xfrm>
            <a:off x="3035808" y="2286000"/>
            <a:ext cx="115824" cy="231281"/>
          </a:xfrm>
          <a:prstGeom prst="line">
            <a:avLst/>
          </a:prstGeom>
          <a:noFill/>
          <a:ln w="31750">
            <a:solidFill>
              <a:srgbClr val="234782"/>
            </a:solidFill>
            <a:prstDash val="solid"/>
          </a:ln>
        </p:spPr>
      </p:sp>
      <p:sp>
        <p:nvSpPr>
          <p:cNvPr id="9" name="Shape 7"/>
          <p:cNvSpPr/>
          <p:nvPr/>
        </p:nvSpPr>
        <p:spPr>
          <a:xfrm>
            <a:off x="3151632" y="2517281"/>
            <a:ext cx="115824" cy="200492"/>
          </a:xfrm>
          <a:prstGeom prst="line">
            <a:avLst/>
          </a:prstGeom>
          <a:noFill/>
          <a:ln w="31750">
            <a:solidFill>
              <a:srgbClr val="234782"/>
            </a:solidFill>
            <a:prstDash val="solid"/>
          </a:ln>
        </p:spPr>
      </p:sp>
      <p:sp>
        <p:nvSpPr>
          <p:cNvPr id="10" name="Shape 8"/>
          <p:cNvSpPr/>
          <p:nvPr/>
        </p:nvSpPr>
        <p:spPr>
          <a:xfrm>
            <a:off x="3267456" y="2717773"/>
            <a:ext cx="115824" cy="173802"/>
          </a:xfrm>
          <a:prstGeom prst="line">
            <a:avLst/>
          </a:prstGeom>
          <a:noFill/>
          <a:ln w="31750">
            <a:solidFill>
              <a:srgbClr val="234782"/>
            </a:solidFill>
            <a:prstDash val="solid"/>
          </a:ln>
        </p:spPr>
      </p:sp>
      <p:sp>
        <p:nvSpPr>
          <p:cNvPr id="11" name="Shape 9"/>
          <p:cNvSpPr/>
          <p:nvPr/>
        </p:nvSpPr>
        <p:spPr>
          <a:xfrm>
            <a:off x="3383280" y="2891576"/>
            <a:ext cx="115824" cy="150665"/>
          </a:xfrm>
          <a:prstGeom prst="line">
            <a:avLst/>
          </a:prstGeom>
          <a:noFill/>
          <a:ln w="31750">
            <a:solidFill>
              <a:srgbClr val="234782"/>
            </a:solidFill>
            <a:prstDash val="solid"/>
          </a:ln>
        </p:spPr>
      </p:sp>
      <p:sp>
        <p:nvSpPr>
          <p:cNvPr id="12" name="Shape 10"/>
          <p:cNvSpPr/>
          <p:nvPr/>
        </p:nvSpPr>
        <p:spPr>
          <a:xfrm>
            <a:off x="3499104" y="3042241"/>
            <a:ext cx="115824" cy="130609"/>
          </a:xfrm>
          <a:prstGeom prst="line">
            <a:avLst/>
          </a:prstGeom>
          <a:noFill/>
          <a:ln w="31750">
            <a:solidFill>
              <a:srgbClr val="234782"/>
            </a:solidFill>
            <a:prstDash val="solid"/>
          </a:ln>
        </p:spPr>
      </p:sp>
      <p:sp>
        <p:nvSpPr>
          <p:cNvPr id="13" name="Shape 11"/>
          <p:cNvSpPr/>
          <p:nvPr/>
        </p:nvSpPr>
        <p:spPr>
          <a:xfrm>
            <a:off x="3614928" y="3172850"/>
            <a:ext cx="115824" cy="113222"/>
          </a:xfrm>
          <a:prstGeom prst="line">
            <a:avLst/>
          </a:prstGeom>
          <a:noFill/>
          <a:ln w="31750">
            <a:solidFill>
              <a:srgbClr val="234782"/>
            </a:solidFill>
            <a:prstDash val="solid"/>
          </a:ln>
        </p:spPr>
      </p:sp>
      <p:sp>
        <p:nvSpPr>
          <p:cNvPr id="14" name="Shape 12"/>
          <p:cNvSpPr/>
          <p:nvPr/>
        </p:nvSpPr>
        <p:spPr>
          <a:xfrm>
            <a:off x="3730752" y="3286072"/>
            <a:ext cx="115824" cy="98149"/>
          </a:xfrm>
          <a:prstGeom prst="line">
            <a:avLst/>
          </a:prstGeom>
          <a:noFill/>
          <a:ln w="31750">
            <a:solidFill>
              <a:srgbClr val="234782"/>
            </a:solidFill>
            <a:prstDash val="solid"/>
          </a:ln>
        </p:spPr>
      </p:sp>
      <p:sp>
        <p:nvSpPr>
          <p:cNvPr id="15" name="Shape 13"/>
          <p:cNvSpPr/>
          <p:nvPr/>
        </p:nvSpPr>
        <p:spPr>
          <a:xfrm>
            <a:off x="3846576" y="3384221"/>
            <a:ext cx="115824" cy="85084"/>
          </a:xfrm>
          <a:prstGeom prst="line">
            <a:avLst/>
          </a:prstGeom>
          <a:noFill/>
          <a:ln w="31750">
            <a:solidFill>
              <a:srgbClr val="234782"/>
            </a:solidFill>
            <a:prstDash val="solid"/>
          </a:ln>
        </p:spPr>
      </p:sp>
      <p:sp>
        <p:nvSpPr>
          <p:cNvPr id="16" name="Shape 14"/>
          <p:cNvSpPr/>
          <p:nvPr/>
        </p:nvSpPr>
        <p:spPr>
          <a:xfrm>
            <a:off x="3962400" y="3469305"/>
            <a:ext cx="115824" cy="73757"/>
          </a:xfrm>
          <a:prstGeom prst="line">
            <a:avLst/>
          </a:prstGeom>
          <a:noFill/>
          <a:ln w="31750">
            <a:solidFill>
              <a:srgbClr val="234782"/>
            </a:solidFill>
            <a:prstDash val="solid"/>
          </a:ln>
        </p:spPr>
      </p:sp>
      <p:sp>
        <p:nvSpPr>
          <p:cNvPr id="17" name="Shape 15"/>
          <p:cNvSpPr/>
          <p:nvPr/>
        </p:nvSpPr>
        <p:spPr>
          <a:xfrm>
            <a:off x="4078224" y="3543062"/>
            <a:ext cx="115824" cy="63938"/>
          </a:xfrm>
          <a:prstGeom prst="line">
            <a:avLst/>
          </a:prstGeom>
          <a:noFill/>
          <a:ln w="31750">
            <a:solidFill>
              <a:srgbClr val="234782"/>
            </a:solidFill>
            <a:prstDash val="solid"/>
          </a:ln>
        </p:spPr>
      </p:sp>
      <p:sp>
        <p:nvSpPr>
          <p:cNvPr id="18" name="Shape 16"/>
          <p:cNvSpPr/>
          <p:nvPr/>
        </p:nvSpPr>
        <p:spPr>
          <a:xfrm>
            <a:off x="4194048" y="3607000"/>
            <a:ext cx="115824" cy="55427"/>
          </a:xfrm>
          <a:prstGeom prst="line">
            <a:avLst/>
          </a:prstGeom>
          <a:noFill/>
          <a:ln w="31750">
            <a:solidFill>
              <a:srgbClr val="234782"/>
            </a:solidFill>
            <a:prstDash val="solid"/>
          </a:ln>
        </p:spPr>
      </p:sp>
      <p:sp>
        <p:nvSpPr>
          <p:cNvPr id="19" name="Shape 17"/>
          <p:cNvSpPr/>
          <p:nvPr/>
        </p:nvSpPr>
        <p:spPr>
          <a:xfrm>
            <a:off x="4309872" y="3662427"/>
            <a:ext cx="115824" cy="48048"/>
          </a:xfrm>
          <a:prstGeom prst="line">
            <a:avLst/>
          </a:prstGeom>
          <a:noFill/>
          <a:ln w="31750">
            <a:solidFill>
              <a:srgbClr val="234782"/>
            </a:solidFill>
            <a:prstDash val="solid"/>
          </a:ln>
        </p:spPr>
      </p:sp>
      <p:sp>
        <p:nvSpPr>
          <p:cNvPr id="20" name="Shape 18"/>
          <p:cNvSpPr/>
          <p:nvPr/>
        </p:nvSpPr>
        <p:spPr>
          <a:xfrm>
            <a:off x="4425696" y="3710475"/>
            <a:ext cx="115824" cy="41652"/>
          </a:xfrm>
          <a:prstGeom prst="line">
            <a:avLst/>
          </a:prstGeom>
          <a:noFill/>
          <a:ln w="31750">
            <a:solidFill>
              <a:srgbClr val="234782"/>
            </a:solidFill>
            <a:prstDash val="solid"/>
          </a:ln>
        </p:spPr>
      </p:sp>
      <p:sp>
        <p:nvSpPr>
          <p:cNvPr id="21" name="Shape 19"/>
          <p:cNvSpPr/>
          <p:nvPr/>
        </p:nvSpPr>
        <p:spPr>
          <a:xfrm>
            <a:off x="4541520" y="3752127"/>
            <a:ext cx="115824" cy="36107"/>
          </a:xfrm>
          <a:prstGeom prst="line">
            <a:avLst/>
          </a:prstGeom>
          <a:noFill/>
          <a:ln w="31750">
            <a:solidFill>
              <a:srgbClr val="234782"/>
            </a:solidFill>
            <a:prstDash val="solid"/>
          </a:ln>
        </p:spPr>
      </p:sp>
      <p:sp>
        <p:nvSpPr>
          <p:cNvPr id="22" name="Shape 20"/>
          <p:cNvSpPr/>
          <p:nvPr/>
        </p:nvSpPr>
        <p:spPr>
          <a:xfrm>
            <a:off x="4657344" y="3788234"/>
            <a:ext cx="115824" cy="31300"/>
          </a:xfrm>
          <a:prstGeom prst="line">
            <a:avLst/>
          </a:prstGeom>
          <a:noFill/>
          <a:ln w="31750">
            <a:solidFill>
              <a:srgbClr val="234782"/>
            </a:solidFill>
            <a:prstDash val="solid"/>
          </a:ln>
        </p:spPr>
      </p:sp>
      <p:sp>
        <p:nvSpPr>
          <p:cNvPr id="23" name="Shape 21"/>
          <p:cNvSpPr/>
          <p:nvPr/>
        </p:nvSpPr>
        <p:spPr>
          <a:xfrm>
            <a:off x="4773168" y="3819534"/>
            <a:ext cx="115824" cy="27134"/>
          </a:xfrm>
          <a:prstGeom prst="line">
            <a:avLst/>
          </a:prstGeom>
          <a:noFill/>
          <a:ln w="31750">
            <a:solidFill>
              <a:srgbClr val="234782"/>
            </a:solidFill>
            <a:prstDash val="solid"/>
          </a:ln>
        </p:spPr>
      </p:sp>
      <p:sp>
        <p:nvSpPr>
          <p:cNvPr id="24" name="Shape 22"/>
          <p:cNvSpPr/>
          <p:nvPr/>
        </p:nvSpPr>
        <p:spPr>
          <a:xfrm>
            <a:off x="4888992" y="3846668"/>
            <a:ext cx="115824" cy="23522"/>
          </a:xfrm>
          <a:prstGeom prst="line">
            <a:avLst/>
          </a:prstGeom>
          <a:noFill/>
          <a:ln w="31750">
            <a:solidFill>
              <a:srgbClr val="234782"/>
            </a:solidFill>
            <a:prstDash val="solid"/>
          </a:ln>
        </p:spPr>
      </p:sp>
      <p:sp>
        <p:nvSpPr>
          <p:cNvPr id="25" name="Shape 23"/>
          <p:cNvSpPr/>
          <p:nvPr/>
        </p:nvSpPr>
        <p:spPr>
          <a:xfrm>
            <a:off x="5004816" y="3870190"/>
            <a:ext cx="115824" cy="20390"/>
          </a:xfrm>
          <a:prstGeom prst="line">
            <a:avLst/>
          </a:prstGeom>
          <a:noFill/>
          <a:ln w="31750">
            <a:solidFill>
              <a:srgbClr val="234782"/>
            </a:solidFill>
            <a:prstDash val="solid"/>
          </a:ln>
        </p:spPr>
      </p:sp>
      <p:sp>
        <p:nvSpPr>
          <p:cNvPr id="26" name="Shape 24"/>
          <p:cNvSpPr/>
          <p:nvPr/>
        </p:nvSpPr>
        <p:spPr>
          <a:xfrm>
            <a:off x="5120640" y="3890580"/>
            <a:ext cx="115824" cy="17676"/>
          </a:xfrm>
          <a:prstGeom prst="line">
            <a:avLst/>
          </a:prstGeom>
          <a:noFill/>
          <a:ln w="31750">
            <a:solidFill>
              <a:srgbClr val="234782"/>
            </a:solidFill>
            <a:prstDash val="solid"/>
          </a:ln>
        </p:spPr>
      </p:sp>
      <p:sp>
        <p:nvSpPr>
          <p:cNvPr id="27" name="Shape 25"/>
          <p:cNvSpPr/>
          <p:nvPr/>
        </p:nvSpPr>
        <p:spPr>
          <a:xfrm>
            <a:off x="5236464" y="3908256"/>
            <a:ext cx="115824" cy="15323"/>
          </a:xfrm>
          <a:prstGeom prst="line">
            <a:avLst/>
          </a:prstGeom>
          <a:noFill/>
          <a:ln w="31750">
            <a:solidFill>
              <a:srgbClr val="234782"/>
            </a:solidFill>
            <a:prstDash val="solid"/>
          </a:ln>
        </p:spPr>
      </p:sp>
      <p:sp>
        <p:nvSpPr>
          <p:cNvPr id="28" name="Shape 26"/>
          <p:cNvSpPr/>
          <p:nvPr/>
        </p:nvSpPr>
        <p:spPr>
          <a:xfrm>
            <a:off x="5352288" y="3923579"/>
            <a:ext cx="115824" cy="13283"/>
          </a:xfrm>
          <a:prstGeom prst="line">
            <a:avLst/>
          </a:prstGeom>
          <a:noFill/>
          <a:ln w="31750">
            <a:solidFill>
              <a:srgbClr val="234782"/>
            </a:solidFill>
            <a:prstDash val="solid"/>
          </a:ln>
        </p:spPr>
      </p:sp>
      <p:sp>
        <p:nvSpPr>
          <p:cNvPr id="29" name="Shape 27"/>
          <p:cNvSpPr/>
          <p:nvPr/>
        </p:nvSpPr>
        <p:spPr>
          <a:xfrm>
            <a:off x="5468112" y="3936862"/>
            <a:ext cx="115824" cy="11515"/>
          </a:xfrm>
          <a:prstGeom prst="line">
            <a:avLst/>
          </a:prstGeom>
          <a:noFill/>
          <a:ln w="31750">
            <a:solidFill>
              <a:srgbClr val="234782"/>
            </a:solidFill>
            <a:prstDash val="solid"/>
          </a:ln>
        </p:spPr>
      </p:sp>
      <p:sp>
        <p:nvSpPr>
          <p:cNvPr id="30" name="Shape 28"/>
          <p:cNvSpPr/>
          <p:nvPr/>
        </p:nvSpPr>
        <p:spPr>
          <a:xfrm>
            <a:off x="5583936" y="3948377"/>
            <a:ext cx="115824" cy="9982"/>
          </a:xfrm>
          <a:prstGeom prst="line">
            <a:avLst/>
          </a:prstGeom>
          <a:noFill/>
          <a:ln w="31750">
            <a:solidFill>
              <a:srgbClr val="234782"/>
            </a:solidFill>
            <a:prstDash val="solid"/>
          </a:ln>
        </p:spPr>
      </p:sp>
      <p:sp>
        <p:nvSpPr>
          <p:cNvPr id="31" name="Shape 29"/>
          <p:cNvSpPr/>
          <p:nvPr/>
        </p:nvSpPr>
        <p:spPr>
          <a:xfrm>
            <a:off x="5699760" y="3958359"/>
            <a:ext cx="115824" cy="8653"/>
          </a:xfrm>
          <a:prstGeom prst="line">
            <a:avLst/>
          </a:prstGeom>
          <a:noFill/>
          <a:ln w="31750">
            <a:solidFill>
              <a:srgbClr val="234782"/>
            </a:solidFill>
            <a:prstDash val="solid"/>
          </a:ln>
        </p:spPr>
      </p:sp>
      <p:sp>
        <p:nvSpPr>
          <p:cNvPr id="32" name="Shape 30"/>
          <p:cNvSpPr/>
          <p:nvPr/>
        </p:nvSpPr>
        <p:spPr>
          <a:xfrm>
            <a:off x="5815584" y="3967012"/>
            <a:ext cx="115824" cy="7501"/>
          </a:xfrm>
          <a:prstGeom prst="line">
            <a:avLst/>
          </a:prstGeom>
          <a:noFill/>
          <a:ln w="31750">
            <a:solidFill>
              <a:srgbClr val="234782"/>
            </a:solidFill>
            <a:prstDash val="solid"/>
          </a:ln>
        </p:spPr>
      </p:sp>
      <p:sp>
        <p:nvSpPr>
          <p:cNvPr id="33" name="Shape 31"/>
          <p:cNvSpPr/>
          <p:nvPr/>
        </p:nvSpPr>
        <p:spPr>
          <a:xfrm>
            <a:off x="5931408" y="3974513"/>
            <a:ext cx="115824" cy="6503"/>
          </a:xfrm>
          <a:prstGeom prst="line">
            <a:avLst/>
          </a:prstGeom>
          <a:noFill/>
          <a:ln w="31750">
            <a:solidFill>
              <a:srgbClr val="234782"/>
            </a:solidFill>
            <a:prstDash val="solid"/>
          </a:ln>
        </p:spPr>
      </p:sp>
      <p:sp>
        <p:nvSpPr>
          <p:cNvPr id="34" name="Shape 32"/>
          <p:cNvSpPr/>
          <p:nvPr/>
        </p:nvSpPr>
        <p:spPr>
          <a:xfrm>
            <a:off x="6047232" y="3981016"/>
            <a:ext cx="115824" cy="5637"/>
          </a:xfrm>
          <a:prstGeom prst="line">
            <a:avLst/>
          </a:prstGeom>
          <a:noFill/>
          <a:ln w="31750">
            <a:solidFill>
              <a:srgbClr val="234782"/>
            </a:solidFill>
            <a:prstDash val="solid"/>
          </a:ln>
        </p:spPr>
      </p:sp>
      <p:sp>
        <p:nvSpPr>
          <p:cNvPr id="35" name="Shape 33"/>
          <p:cNvSpPr/>
          <p:nvPr/>
        </p:nvSpPr>
        <p:spPr>
          <a:xfrm>
            <a:off x="6163056" y="3986653"/>
            <a:ext cx="115824" cy="4887"/>
          </a:xfrm>
          <a:prstGeom prst="line">
            <a:avLst/>
          </a:prstGeom>
          <a:noFill/>
          <a:ln w="31750">
            <a:solidFill>
              <a:srgbClr val="234782"/>
            </a:solidFill>
            <a:prstDash val="solid"/>
          </a:ln>
        </p:spPr>
      </p:sp>
      <p:sp>
        <p:nvSpPr>
          <p:cNvPr id="36" name="Shape 34"/>
          <p:cNvSpPr/>
          <p:nvPr/>
        </p:nvSpPr>
        <p:spPr>
          <a:xfrm>
            <a:off x="6278880" y="3991539"/>
            <a:ext cx="115824" cy="4236"/>
          </a:xfrm>
          <a:prstGeom prst="line">
            <a:avLst/>
          </a:prstGeom>
          <a:noFill/>
          <a:ln w="31750">
            <a:solidFill>
              <a:srgbClr val="234782"/>
            </a:solidFill>
            <a:prstDash val="solid"/>
          </a:ln>
        </p:spPr>
      </p:sp>
      <p:sp>
        <p:nvSpPr>
          <p:cNvPr id="37" name="Shape 35"/>
          <p:cNvSpPr/>
          <p:nvPr/>
        </p:nvSpPr>
        <p:spPr>
          <a:xfrm>
            <a:off x="6394704" y="3995775"/>
            <a:ext cx="115824" cy="3672"/>
          </a:xfrm>
          <a:prstGeom prst="line">
            <a:avLst/>
          </a:prstGeom>
          <a:noFill/>
          <a:ln w="31750">
            <a:solidFill>
              <a:srgbClr val="234782"/>
            </a:solidFill>
            <a:prstDash val="solid"/>
          </a:ln>
        </p:spPr>
      </p:sp>
      <p:sp>
        <p:nvSpPr>
          <p:cNvPr id="38" name="Shape 36"/>
          <p:cNvSpPr/>
          <p:nvPr/>
        </p:nvSpPr>
        <p:spPr>
          <a:xfrm>
            <a:off x="3154680" y="2011680"/>
            <a:ext cx="914" cy="2011680"/>
          </a:xfrm>
          <a:prstGeom prst="line">
            <a:avLst/>
          </a:prstGeom>
          <a:noFill/>
          <a:ln w="12700">
            <a:solidFill>
              <a:srgbClr val="0086CA"/>
            </a:solidFill>
            <a:prstDash val="dash"/>
          </a:ln>
        </p:spPr>
      </p:sp>
      <p:sp>
        <p:nvSpPr>
          <p:cNvPr id="39" name="Shape 37"/>
          <p:cNvSpPr/>
          <p:nvPr/>
        </p:nvSpPr>
        <p:spPr>
          <a:xfrm>
            <a:off x="3520440" y="2011680"/>
            <a:ext cx="914" cy="2011680"/>
          </a:xfrm>
          <a:prstGeom prst="line">
            <a:avLst/>
          </a:prstGeom>
          <a:noFill/>
          <a:ln w="12700">
            <a:solidFill>
              <a:srgbClr val="0086CA"/>
            </a:solidFill>
            <a:prstDash val="dash"/>
          </a:ln>
        </p:spPr>
      </p:sp>
      <p:sp>
        <p:nvSpPr>
          <p:cNvPr id="40" name="Text 38"/>
          <p:cNvSpPr txBox="1"/>
          <p:nvPr/>
        </p:nvSpPr>
        <p:spPr>
          <a:xfrm>
            <a:off x="3154680" y="4050792"/>
            <a:ext cx="365760" cy="274320"/>
          </a:xfrm>
          <a:prstGeom prst="rect">
            <a:avLst/>
          </a:prstGeom>
          <a:noFill/>
          <a:ln/>
        </p:spPr>
        <p:txBody>
          <a:bodyPr wrap="square" lIns="508" tIns="508" rIns="508" bIns="508" rtlCol="0" anchor="t"/>
          <a:lstStyle/>
          <a:p>
            <a:pPr algn="ctr" indent="0" marL="0">
              <a:buNone/>
            </a:pPr>
            <a:r>
              <a:rPr lang="en-US" sz="1200" b="1" dirty="0">
                <a:solidFill>
                  <a:srgbClr val="0086CA"/>
                </a:solidFill>
                <a:latin typeface="Tahoma" pitchFamily="34" charset="0"/>
                <a:ea typeface="Tahoma" pitchFamily="34" charset="-122"/>
                <a:cs typeface="Tahoma" pitchFamily="34" charset="-120"/>
              </a:rPr>
              <a:t>W1</a:t>
            </a:r>
            <a:endParaRPr lang="en-US" sz="1200" dirty="0"/>
          </a:p>
        </p:txBody>
      </p:sp>
      <p:sp>
        <p:nvSpPr>
          <p:cNvPr id="41" name="Shape 39"/>
          <p:cNvSpPr/>
          <p:nvPr/>
        </p:nvSpPr>
        <p:spPr>
          <a:xfrm>
            <a:off x="3520440" y="2011680"/>
            <a:ext cx="914" cy="2011680"/>
          </a:xfrm>
          <a:prstGeom prst="line">
            <a:avLst/>
          </a:prstGeom>
          <a:noFill/>
          <a:ln w="12700">
            <a:solidFill>
              <a:srgbClr val="0086CA"/>
            </a:solidFill>
            <a:prstDash val="dash"/>
          </a:ln>
        </p:spPr>
      </p:sp>
      <p:sp>
        <p:nvSpPr>
          <p:cNvPr id="42" name="Shape 40"/>
          <p:cNvSpPr/>
          <p:nvPr/>
        </p:nvSpPr>
        <p:spPr>
          <a:xfrm>
            <a:off x="4160520" y="2011680"/>
            <a:ext cx="914" cy="2011680"/>
          </a:xfrm>
          <a:prstGeom prst="line">
            <a:avLst/>
          </a:prstGeom>
          <a:noFill/>
          <a:ln w="12700">
            <a:solidFill>
              <a:srgbClr val="0086CA"/>
            </a:solidFill>
            <a:prstDash val="dash"/>
          </a:ln>
        </p:spPr>
      </p:sp>
      <p:sp>
        <p:nvSpPr>
          <p:cNvPr id="43" name="Text 41"/>
          <p:cNvSpPr txBox="1"/>
          <p:nvPr/>
        </p:nvSpPr>
        <p:spPr>
          <a:xfrm>
            <a:off x="3520440" y="4050792"/>
            <a:ext cx="640080" cy="274320"/>
          </a:xfrm>
          <a:prstGeom prst="rect">
            <a:avLst/>
          </a:prstGeom>
          <a:noFill/>
          <a:ln/>
        </p:spPr>
        <p:txBody>
          <a:bodyPr wrap="square" lIns="508" tIns="508" rIns="508" bIns="508" rtlCol="0" anchor="t"/>
          <a:lstStyle/>
          <a:p>
            <a:pPr algn="ctr" indent="0" marL="0">
              <a:buNone/>
            </a:pPr>
            <a:r>
              <a:rPr lang="en-US" sz="1200" b="1" dirty="0">
                <a:solidFill>
                  <a:srgbClr val="0086CA"/>
                </a:solidFill>
                <a:latin typeface="Tahoma" pitchFamily="34" charset="0"/>
                <a:ea typeface="Tahoma" pitchFamily="34" charset="-122"/>
                <a:cs typeface="Tahoma" pitchFamily="34" charset="-120"/>
              </a:rPr>
              <a:t>W2</a:t>
            </a:r>
            <a:endParaRPr lang="en-US" sz="1200" dirty="0"/>
          </a:p>
        </p:txBody>
      </p:sp>
      <p:sp>
        <p:nvSpPr>
          <p:cNvPr id="44" name="Shape 42"/>
          <p:cNvSpPr/>
          <p:nvPr/>
        </p:nvSpPr>
        <p:spPr>
          <a:xfrm>
            <a:off x="4160520" y="2011680"/>
            <a:ext cx="914" cy="2011680"/>
          </a:xfrm>
          <a:prstGeom prst="line">
            <a:avLst/>
          </a:prstGeom>
          <a:noFill/>
          <a:ln w="12700">
            <a:solidFill>
              <a:srgbClr val="0086CA"/>
            </a:solidFill>
            <a:prstDash val="dash"/>
          </a:ln>
        </p:spPr>
      </p:sp>
      <p:sp>
        <p:nvSpPr>
          <p:cNvPr id="45" name="Shape 43"/>
          <p:cNvSpPr/>
          <p:nvPr/>
        </p:nvSpPr>
        <p:spPr>
          <a:xfrm>
            <a:off x="5394960" y="2011680"/>
            <a:ext cx="914" cy="2011680"/>
          </a:xfrm>
          <a:prstGeom prst="line">
            <a:avLst/>
          </a:prstGeom>
          <a:noFill/>
          <a:ln w="12700">
            <a:solidFill>
              <a:srgbClr val="0086CA"/>
            </a:solidFill>
            <a:prstDash val="dash"/>
          </a:ln>
        </p:spPr>
      </p:sp>
      <p:sp>
        <p:nvSpPr>
          <p:cNvPr id="46" name="Text 44"/>
          <p:cNvSpPr txBox="1"/>
          <p:nvPr/>
        </p:nvSpPr>
        <p:spPr>
          <a:xfrm>
            <a:off x="4160520" y="4050792"/>
            <a:ext cx="1234440" cy="274320"/>
          </a:xfrm>
          <a:prstGeom prst="rect">
            <a:avLst/>
          </a:prstGeom>
          <a:noFill/>
          <a:ln/>
        </p:spPr>
        <p:txBody>
          <a:bodyPr wrap="square" lIns="508" tIns="508" rIns="508" bIns="508" rtlCol="0" anchor="t"/>
          <a:lstStyle/>
          <a:p>
            <a:pPr algn="ctr" indent="0" marL="0">
              <a:buNone/>
            </a:pPr>
            <a:r>
              <a:rPr lang="en-US" sz="1200" b="1" dirty="0">
                <a:solidFill>
                  <a:srgbClr val="0086CA"/>
                </a:solidFill>
                <a:latin typeface="Tahoma" pitchFamily="34" charset="0"/>
                <a:ea typeface="Tahoma" pitchFamily="34" charset="-122"/>
                <a:cs typeface="Tahoma" pitchFamily="34" charset="-120"/>
              </a:rPr>
              <a:t>W3</a:t>
            </a:r>
            <a:endParaRPr lang="en-US" sz="1200" dirty="0"/>
          </a:p>
        </p:txBody>
      </p:sp>
      <p:sp>
        <p:nvSpPr>
          <p:cNvPr id="47" name="Text 45"/>
          <p:cNvSpPr txBox="1"/>
          <p:nvPr/>
        </p:nvSpPr>
        <p:spPr>
          <a:xfrm>
            <a:off x="960120" y="1280160"/>
            <a:ext cx="1828800" cy="320040"/>
          </a:xfrm>
          <a:prstGeom prst="rect">
            <a:avLst/>
          </a:prstGeom>
          <a:noFill/>
          <a:ln/>
        </p:spPr>
        <p:txBody>
          <a:bodyPr wrap="square" lIns="508" tIns="508" rIns="508" bIns="508" rtlCol="0" anchor="t"/>
          <a:lstStyle/>
          <a:p>
            <a:pPr indent="0" marL="0">
              <a:buNone/>
            </a:pPr>
            <a:r>
              <a:rPr lang="en-US" sz="1300" dirty="0">
                <a:solidFill>
                  <a:srgbClr val="234782"/>
                </a:solidFill>
                <a:latin typeface="Tahoma" pitchFamily="34" charset="0"/>
                <a:ea typeface="Tahoma" pitchFamily="34" charset="-122"/>
                <a:cs typeface="Tahoma" pitchFamily="34" charset="-120"/>
              </a:rPr>
              <a:t>dòng bật: V₀</a:t>
            </a:r>
            <a:endParaRPr lang="en-US" sz="1300" dirty="0"/>
          </a:p>
        </p:txBody>
      </p:sp>
      <p:sp>
        <p:nvSpPr>
          <p:cNvPr id="48" name="Text 46"/>
          <p:cNvSpPr txBox="1"/>
          <p:nvPr/>
        </p:nvSpPr>
        <p:spPr>
          <a:xfrm>
            <a:off x="4297680" y="1828800"/>
            <a:ext cx="2926080" cy="320040"/>
          </a:xfrm>
          <a:prstGeom prst="rect">
            <a:avLst/>
          </a:prstGeom>
          <a:noFill/>
          <a:ln/>
        </p:spPr>
        <p:txBody>
          <a:bodyPr wrap="square" lIns="508" tIns="508" rIns="508" bIns="508" rtlCol="0" anchor="t"/>
          <a:lstStyle/>
          <a:p>
            <a:pPr indent="0" marL="0">
              <a:buNone/>
            </a:pPr>
            <a:r>
              <a:rPr lang="en-US" sz="1300" dirty="0">
                <a:solidFill>
                  <a:srgbClr val="234782"/>
                </a:solidFill>
                <a:latin typeface="Tahoma" pitchFamily="34" charset="0"/>
                <a:ea typeface="Tahoma" pitchFamily="34" charset="-122"/>
                <a:cs typeface="Tahoma" pitchFamily="34" charset="-120"/>
              </a:rPr>
              <a:t>ngắt dòng → điện thế suy giảm</a:t>
            </a:r>
            <a:endParaRPr lang="en-US" sz="1300" dirty="0"/>
          </a:p>
        </p:txBody>
      </p:sp>
      <p:sp>
        <p:nvSpPr>
          <p:cNvPr id="49" name="Text 47"/>
          <p:cNvSpPr txBox="1"/>
          <p:nvPr/>
        </p:nvSpPr>
        <p:spPr>
          <a:xfrm>
            <a:off x="640080" y="4434840"/>
            <a:ext cx="6400800" cy="292608"/>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Hình 7. Đường suy giảm điện thế sau khi ngắt dòng và các cửa sổ đo</a:t>
            </a:r>
            <a:endParaRPr lang="en-US" sz="1200" dirty="0"/>
          </a:p>
        </p:txBody>
      </p:sp>
      <p:sp>
        <p:nvSpPr>
          <p:cNvPr id="50" name="Shape 48"/>
          <p:cNvSpPr/>
          <p:nvPr/>
        </p:nvSpPr>
        <p:spPr>
          <a:xfrm>
            <a:off x="640080" y="4846320"/>
            <a:ext cx="6400800" cy="685800"/>
          </a:xfrm>
          <a:prstGeom prst="roundRect">
            <a:avLst>
              <a:gd name="adj" fmla="val 10667"/>
            </a:avLst>
          </a:prstGeom>
          <a:solidFill>
            <a:srgbClr val="FFFFFF"/>
          </a:solidFill>
          <a:ln w="15875">
            <a:solidFill>
              <a:srgbClr val="0086CA"/>
            </a:solidFill>
            <a:prstDash val="solid"/>
          </a:ln>
        </p:spPr>
      </p:sp>
      <p:sp>
        <p:nvSpPr>
          <p:cNvPr id="51" name="Text 49"/>
          <p:cNvSpPr txBox="1"/>
          <p:nvPr/>
        </p:nvSpPr>
        <p:spPr>
          <a:xfrm>
            <a:off x="731520" y="4892040"/>
            <a:ext cx="6217920" cy="594360"/>
          </a:xfrm>
          <a:prstGeom prst="rect">
            <a:avLst/>
          </a:prstGeom>
          <a:noFill/>
          <a:ln/>
        </p:spPr>
        <p:txBody>
          <a:bodyPr wrap="square" lIns="508" tIns="508" rIns="508" bIns="508" rtlCol="0" anchor="ctr"/>
          <a:lstStyle/>
          <a:p>
            <a:pPr algn="ctr" indent="0" marL="0">
              <a:buNone/>
            </a:pPr>
            <a:r>
              <a:rPr lang="en-US" sz="1800" b="1" dirty="0">
                <a:solidFill>
                  <a:srgbClr val="234782"/>
                </a:solidFill>
                <a:latin typeface="Tahoma" pitchFamily="34" charset="0"/>
                <a:ea typeface="Tahoma" pitchFamily="34" charset="-122"/>
                <a:cs typeface="Tahoma" pitchFamily="34" charset="-120"/>
              </a:rPr>
              <a:t>M = (1/V₀) ∫ V(t) dt   (ms hoặc mV/V)</a:t>
            </a:r>
            <a:endParaRPr lang="en-US" sz="1800" dirty="0"/>
          </a:p>
        </p:txBody>
      </p:sp>
      <p:sp>
        <p:nvSpPr>
          <p:cNvPr id="52" name="Shape 50"/>
          <p:cNvSpPr/>
          <p:nvPr/>
        </p:nvSpPr>
        <p:spPr>
          <a:xfrm>
            <a:off x="7315200" y="960120"/>
            <a:ext cx="4233672" cy="5349240"/>
          </a:xfrm>
          <a:prstGeom prst="roundRect">
            <a:avLst>
              <a:gd name="adj" fmla="val 2592"/>
            </a:avLst>
          </a:prstGeom>
          <a:solidFill>
            <a:srgbClr val="ECF3FA"/>
          </a:solidFill>
          <a:ln w="12700">
            <a:solidFill>
              <a:srgbClr val="ECF3FA"/>
            </a:solidFill>
            <a:prstDash val="solid"/>
          </a:ln>
        </p:spPr>
      </p:sp>
      <p:sp>
        <p:nvSpPr>
          <p:cNvPr id="53" name="Text 51"/>
          <p:cNvSpPr txBox="1"/>
          <p:nvPr/>
        </p:nvSpPr>
        <p:spPr>
          <a:xfrm>
            <a:off x="7589520" y="1143000"/>
            <a:ext cx="3776472" cy="411480"/>
          </a:xfrm>
          <a:prstGeom prst="rect">
            <a:avLst/>
          </a:prstGeom>
          <a:noFill/>
          <a:ln/>
        </p:spPr>
        <p:txBody>
          <a:bodyPr wrap="square" lIns="508" tIns="508" rIns="508" bIns="508" rtlCol="0" anchor="ctr"/>
          <a:lstStyle/>
          <a:p>
            <a:pPr indent="0" marL="0">
              <a:buNone/>
            </a:pPr>
            <a:r>
              <a:rPr lang="en-US" sz="1700" b="1" dirty="0">
                <a:solidFill>
                  <a:srgbClr val="234782"/>
                </a:solidFill>
                <a:latin typeface="Tahoma" pitchFamily="34" charset="0"/>
                <a:ea typeface="Tahoma" pitchFamily="34" charset="-122"/>
                <a:cs typeface="Tahoma" pitchFamily="34" charset="-120"/>
              </a:rPr>
              <a:t>Cài đặt IP [4]</a:t>
            </a:r>
            <a:endParaRPr lang="en-US" sz="1700" dirty="0"/>
          </a:p>
        </p:txBody>
      </p:sp>
      <p:sp>
        <p:nvSpPr>
          <p:cNvPr id="54" name="Text 52"/>
          <p:cNvSpPr txBox="1"/>
          <p:nvPr/>
        </p:nvSpPr>
        <p:spPr>
          <a:xfrm>
            <a:off x="7589520" y="1737360"/>
            <a:ext cx="3730752" cy="4434840"/>
          </a:xfrm>
          <a:prstGeom prst="rect">
            <a:avLst/>
          </a:prstGeom>
          <a:noFill/>
          <a:ln/>
        </p:spPr>
        <p:txBody>
          <a:bodyPr wrap="square" lIns="254" tIns="254" rIns="254" bIns="254" rtlCol="0" anchor="t"/>
          <a:lstStyle/>
          <a:p>
            <a:pPr marL="177800" indent="-177800">
              <a:spcAft>
                <a:spcPts val="800"/>
              </a:spcAft>
              <a:buSzPct val="100000"/>
              <a:buChar char="•"/>
            </a:pPr>
            <a:r>
              <a:rPr lang="en-US" sz="1400" dirty="0">
                <a:solidFill>
                  <a:srgbClr val="1F1F1F"/>
                </a:solidFill>
                <a:latin typeface="Tahoma" pitchFamily="34" charset="0"/>
                <a:ea typeface="Tahoma" pitchFamily="34" charset="-122"/>
                <a:cs typeface="Tahoma" pitchFamily="34" charset="-120"/>
              </a:rPr>
              <a:t>Chu kỳ </a:t>
            </a:r>
            <a:r>
              <a:rPr lang="en-US" sz="1400" b="1" dirty="0">
                <a:solidFill>
                  <a:srgbClr val="1F1F1F"/>
                </a:solidFill>
                <a:latin typeface="Tahoma" pitchFamily="34" charset="0"/>
                <a:ea typeface="Tahoma" pitchFamily="34" charset="-122"/>
                <a:cs typeface="Tahoma" pitchFamily="34" charset="-120"/>
              </a:rPr>
              <a:t>+ 0 − 0</a:t>
            </a:r>
            <a:r>
              <a:rPr lang="en-US" sz="1400" dirty="0">
                <a:solidFill>
                  <a:srgbClr val="1F1F1F"/>
                </a:solidFill>
                <a:latin typeface="Tahoma" pitchFamily="34" charset="0"/>
                <a:ea typeface="Tahoma" pitchFamily="34" charset="-122"/>
                <a:cs typeface="Tahoma" pitchFamily="34" charset="-120"/>
              </a:rPr>
              <a:t>, thời gian bật = tắt (1; 1,5; 2… s)</a:t>
            </a:r>
            <a:endParaRPr lang="en-US" sz="1400" dirty="0"/>
          </a:p>
          <a:p>
            <a:pPr marL="177800" indent="-177800">
              <a:spcAft>
                <a:spcPts val="800"/>
              </a:spcAft>
              <a:buSzPct val="100000"/>
              <a:buChar char="•"/>
            </a:pPr>
            <a:r>
              <a:rPr lang="en-US" sz="1400" dirty="0">
                <a:solidFill>
                  <a:srgbClr val="1F1F1F"/>
                </a:solidFill>
                <a:latin typeface="Tahoma" pitchFamily="34" charset="0"/>
                <a:ea typeface="Tahoma" pitchFamily="34" charset="-122"/>
                <a:cs typeface="Tahoma" pitchFamily="34" charset="-120"/>
              </a:rPr>
              <a:t>Trễ đầu mặc định 10 ms, bước 10 ms</a:t>
            </a:r>
            <a:endParaRPr lang="en-US" sz="1400" dirty="0"/>
          </a:p>
          <a:p>
            <a:pPr marL="177800" indent="-177800">
              <a:spcAft>
                <a:spcPts val="800"/>
              </a:spcAft>
              <a:buSzPct val="100000"/>
              <a:buChar char="•"/>
            </a:pPr>
            <a:r>
              <a:rPr lang="en-US" sz="1400" dirty="0">
                <a:solidFill>
                  <a:srgbClr val="1F1F1F"/>
                </a:solidFill>
                <a:latin typeface="Tahoma" pitchFamily="34" charset="0"/>
                <a:ea typeface="Tahoma" pitchFamily="34" charset="-122"/>
                <a:cs typeface="Tahoma" pitchFamily="34" charset="-120"/>
              </a:rPr>
              <a:t>1 – 10 cửa sổ, tổng ≤ 8 s; tᵢ = n·t₀·fⁱ⁻¹, t₀ = 20 ms (50 Hz)</a:t>
            </a:r>
            <a:endParaRPr lang="en-US" sz="1400" dirty="0"/>
          </a:p>
          <a:p>
            <a:pPr marL="177800" indent="-177800">
              <a:spcAft>
                <a:spcPts val="800"/>
              </a:spcAft>
              <a:buSzPct val="100000"/>
              <a:buChar char="•"/>
            </a:pPr>
            <a:r>
              <a:rPr lang="en-US" sz="1400" dirty="0">
                <a:solidFill>
                  <a:srgbClr val="1F1F1F"/>
                </a:solidFill>
                <a:latin typeface="Tahoma" pitchFamily="34" charset="0"/>
                <a:ea typeface="Tahoma" pitchFamily="34" charset="-122"/>
                <a:cs typeface="Tahoma" pitchFamily="34" charset="-120"/>
              </a:rPr>
              <a:t>Dùng dòng </a:t>
            </a:r>
            <a:r>
              <a:rPr lang="en-US" sz="1400" b="1" dirty="0">
                <a:solidFill>
                  <a:srgbClr val="1F1F1F"/>
                </a:solidFill>
                <a:latin typeface="Tahoma" pitchFamily="34" charset="0"/>
                <a:ea typeface="Tahoma" pitchFamily="34" charset="-122"/>
                <a:cs typeface="Tahoma" pitchFamily="34" charset="-120"/>
              </a:rPr>
              <a:t>AUTO</a:t>
            </a:r>
            <a:r>
              <a:rPr lang="en-US" sz="1400" dirty="0">
                <a:solidFill>
                  <a:srgbClr val="1F1F1F"/>
                </a:solidFill>
                <a:latin typeface="Tahoma" pitchFamily="34" charset="0"/>
                <a:ea typeface="Tahoma" pitchFamily="34" charset="-122"/>
                <a:cs typeface="Tahoma" pitchFamily="34" charset="-120"/>
              </a:rPr>
              <a:t> (dòng lớn), cực thu không phân cực</a:t>
            </a:r>
            <a:endParaRPr lang="en-US" sz="1400" dirty="0"/>
          </a:p>
          <a:p>
            <a:pPr marL="177800" indent="-177800">
              <a:spcAft>
                <a:spcPts val="800"/>
              </a:spcAft>
              <a:buSzPct val="100000"/>
              <a:buChar char="•"/>
            </a:pPr>
            <a:r>
              <a:rPr lang="en-US" sz="1400" dirty="0">
                <a:solidFill>
                  <a:srgbClr val="1F1F1F"/>
                </a:solidFill>
                <a:latin typeface="Tahoma" pitchFamily="34" charset="0"/>
                <a:ea typeface="Tahoma" pitchFamily="34" charset="-122"/>
                <a:cs typeface="Tahoma" pitchFamily="34" charset="-120"/>
              </a:rPr>
              <a:t>Quặng sulfide xâm tán, sét cho M lớn</a:t>
            </a:r>
            <a:endParaRPr lang="en-US" sz="14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5. Chế độ điện thế tự nhiên (SP)</a:t>
            </a:r>
            <a:endParaRPr lang="en-US" sz="2800" dirty="0"/>
          </a:p>
        </p:txBody>
      </p:sp>
      <p:sp>
        <p:nvSpPr>
          <p:cNvPr id="3" name="Shape 1"/>
          <p:cNvSpPr/>
          <p:nvPr/>
        </p:nvSpPr>
        <p:spPr>
          <a:xfrm>
            <a:off x="640080" y="960120"/>
            <a:ext cx="2590038" cy="3200400"/>
          </a:xfrm>
          <a:prstGeom prst="roundRect">
            <a:avLst>
              <a:gd name="adj" fmla="val 3530"/>
            </a:avLst>
          </a:prstGeom>
          <a:solidFill>
            <a:srgbClr val="ECF3FA"/>
          </a:solidFill>
          <a:ln w="12700">
            <a:solidFill>
              <a:srgbClr val="ECF3FA"/>
            </a:solidFill>
            <a:prstDash val="solid"/>
          </a:ln>
        </p:spPr>
      </p:sp>
      <p:sp>
        <p:nvSpPr>
          <p:cNvPr id="4" name="Shape 2"/>
          <p:cNvSpPr/>
          <p:nvPr/>
        </p:nvSpPr>
        <p:spPr>
          <a:xfrm>
            <a:off x="1605915" y="1161288"/>
            <a:ext cx="658368" cy="658368"/>
          </a:xfrm>
          <a:prstGeom prst="ellipse">
            <a:avLst/>
          </a:prstGeom>
          <a:solidFill>
            <a:srgbClr val="234782"/>
          </a:solidFill>
          <a:ln w="12700">
            <a:solidFill>
              <a:srgbClr val="234782"/>
            </a:solidFill>
            <a:prstDash val="solid"/>
          </a:ln>
        </p:spPr>
      </p:sp>
      <p:pic>
        <p:nvPicPr>
          <p:cNvPr id="5" name="Image 0" descr="preencoded.png">    </p:cNvPr>
          <p:cNvPicPr>
            <a:picLocks noChangeAspect="1"/>
          </p:cNvPicPr>
          <p:nvPr/>
        </p:nvPicPr>
        <p:blipFill>
          <a:blip r:embed="rId1"/>
          <a:stretch>
            <a:fillRect/>
          </a:stretch>
        </p:blipFill>
        <p:spPr>
          <a:xfrm>
            <a:off x="1750756" y="1306129"/>
            <a:ext cx="368686" cy="368686"/>
          </a:xfrm>
          <a:prstGeom prst="rect">
            <a:avLst/>
          </a:prstGeom>
        </p:spPr>
      </p:pic>
      <p:sp>
        <p:nvSpPr>
          <p:cNvPr id="6" name="Text 3"/>
          <p:cNvSpPr txBox="1"/>
          <p:nvPr/>
        </p:nvSpPr>
        <p:spPr>
          <a:xfrm>
            <a:off x="777240" y="1892808"/>
            <a:ext cx="2315718" cy="594360"/>
          </a:xfrm>
          <a:prstGeom prst="rect">
            <a:avLst/>
          </a:prstGeom>
          <a:noFill/>
          <a:ln/>
        </p:spPr>
        <p:txBody>
          <a:bodyPr wrap="square" lIns="508" tIns="508" rIns="508" bIns="508" rtlCol="0" anchor="ctr"/>
          <a:lstStyle/>
          <a:p>
            <a:pPr algn="ctr" indent="0" marL="0">
              <a:buNone/>
            </a:pPr>
            <a:r>
              <a:rPr lang="en-US" sz="1600" b="1" dirty="0">
                <a:solidFill>
                  <a:srgbClr val="234782"/>
                </a:solidFill>
                <a:latin typeface="Tahoma" pitchFamily="34" charset="0"/>
                <a:ea typeface="Tahoma" pitchFamily="34" charset="-122"/>
                <a:cs typeface="Tahoma" pitchFamily="34" charset="-120"/>
              </a:rPr>
              <a:t>Không phát dòng</a:t>
            </a:r>
            <a:endParaRPr lang="en-US" sz="1600" dirty="0"/>
          </a:p>
        </p:txBody>
      </p:sp>
      <p:sp>
        <p:nvSpPr>
          <p:cNvPr id="7" name="Text 4"/>
          <p:cNvSpPr txBox="1"/>
          <p:nvPr/>
        </p:nvSpPr>
        <p:spPr>
          <a:xfrm>
            <a:off x="822960" y="2532888"/>
            <a:ext cx="2224278" cy="1536192"/>
          </a:xfrm>
          <a:prstGeom prst="rect">
            <a:avLst/>
          </a:prstGeom>
          <a:noFill/>
          <a:ln/>
        </p:spPr>
        <p:txBody>
          <a:bodyPr wrap="square" lIns="508" tIns="508" rIns="508" bIns="508" rtlCol="0" anchor="t"/>
          <a:lstStyle/>
          <a:p>
            <a:pPr algn="ctr" indent="0" marL="0">
              <a:buNone/>
            </a:pPr>
            <a:r>
              <a:rPr lang="en-US" sz="1400" dirty="0">
                <a:solidFill>
                  <a:srgbClr val="1F1F1F"/>
                </a:solidFill>
                <a:latin typeface="Tahoma" pitchFamily="34" charset="0"/>
                <a:ea typeface="Tahoma" pitchFamily="34" charset="-122"/>
                <a:cs typeface="Tahoma" pitchFamily="34" charset="-120"/>
              </a:rPr>
              <a:t>Chỉ đo hiệu điện thế tự nhiên giữa hai cực thu</a:t>
            </a:r>
            <a:endParaRPr lang="en-US" sz="1400" dirty="0"/>
          </a:p>
        </p:txBody>
      </p:sp>
      <p:sp>
        <p:nvSpPr>
          <p:cNvPr id="8" name="Shape 5"/>
          <p:cNvSpPr/>
          <p:nvPr/>
        </p:nvSpPr>
        <p:spPr>
          <a:xfrm>
            <a:off x="3412998" y="960120"/>
            <a:ext cx="2590038" cy="3200400"/>
          </a:xfrm>
          <a:prstGeom prst="roundRect">
            <a:avLst>
              <a:gd name="adj" fmla="val 3530"/>
            </a:avLst>
          </a:prstGeom>
          <a:solidFill>
            <a:srgbClr val="ECF3FA"/>
          </a:solidFill>
          <a:ln w="12700">
            <a:solidFill>
              <a:srgbClr val="ECF3FA"/>
            </a:solidFill>
            <a:prstDash val="solid"/>
          </a:ln>
        </p:spPr>
      </p:sp>
      <p:sp>
        <p:nvSpPr>
          <p:cNvPr id="9" name="Shape 6"/>
          <p:cNvSpPr/>
          <p:nvPr/>
        </p:nvSpPr>
        <p:spPr>
          <a:xfrm>
            <a:off x="4378833" y="1161288"/>
            <a:ext cx="658368" cy="658368"/>
          </a:xfrm>
          <a:prstGeom prst="ellipse">
            <a:avLst/>
          </a:prstGeom>
          <a:solidFill>
            <a:srgbClr val="234782"/>
          </a:solidFill>
          <a:ln w="12700">
            <a:solidFill>
              <a:srgbClr val="234782"/>
            </a:solidFill>
            <a:prstDash val="solid"/>
          </a:ln>
        </p:spPr>
      </p:sp>
      <p:pic>
        <p:nvPicPr>
          <p:cNvPr id="10" name="Image 1" descr="preencoded.png">    </p:cNvPr>
          <p:cNvPicPr>
            <a:picLocks noChangeAspect="1"/>
          </p:cNvPicPr>
          <p:nvPr/>
        </p:nvPicPr>
        <p:blipFill>
          <a:blip r:embed="rId2"/>
          <a:stretch>
            <a:fillRect/>
          </a:stretch>
        </p:blipFill>
        <p:spPr>
          <a:xfrm>
            <a:off x="4523674" y="1306129"/>
            <a:ext cx="368686" cy="368686"/>
          </a:xfrm>
          <a:prstGeom prst="rect">
            <a:avLst/>
          </a:prstGeom>
        </p:spPr>
      </p:pic>
      <p:sp>
        <p:nvSpPr>
          <p:cNvPr id="11" name="Text 7"/>
          <p:cNvSpPr txBox="1"/>
          <p:nvPr/>
        </p:nvSpPr>
        <p:spPr>
          <a:xfrm>
            <a:off x="3550158" y="1892808"/>
            <a:ext cx="2315718" cy="594360"/>
          </a:xfrm>
          <a:prstGeom prst="rect">
            <a:avLst/>
          </a:prstGeom>
          <a:noFill/>
          <a:ln/>
        </p:spPr>
        <p:txBody>
          <a:bodyPr wrap="square" lIns="508" tIns="508" rIns="508" bIns="508" rtlCol="0" anchor="ctr"/>
          <a:lstStyle/>
          <a:p>
            <a:pPr algn="ctr" indent="0" marL="0">
              <a:buNone/>
            </a:pPr>
            <a:r>
              <a:rPr lang="en-US" sz="1600" b="1" dirty="0">
                <a:solidFill>
                  <a:srgbClr val="234782"/>
                </a:solidFill>
                <a:latin typeface="Tahoma" pitchFamily="34" charset="0"/>
                <a:ea typeface="Tahoma" pitchFamily="34" charset="-122"/>
                <a:cs typeface="Tahoma" pitchFamily="34" charset="-120"/>
              </a:rPr>
              <a:t>Cách nối</a:t>
            </a:r>
            <a:endParaRPr lang="en-US" sz="1600" dirty="0"/>
          </a:p>
        </p:txBody>
      </p:sp>
      <p:sp>
        <p:nvSpPr>
          <p:cNvPr id="12" name="Text 8"/>
          <p:cNvSpPr txBox="1"/>
          <p:nvPr/>
        </p:nvSpPr>
        <p:spPr>
          <a:xfrm>
            <a:off x="3595878" y="2532888"/>
            <a:ext cx="2224278" cy="1536192"/>
          </a:xfrm>
          <a:prstGeom prst="rect">
            <a:avLst/>
          </a:prstGeom>
          <a:noFill/>
          <a:ln/>
        </p:spPr>
        <p:txBody>
          <a:bodyPr wrap="square" lIns="508" tIns="508" rIns="508" bIns="508" rtlCol="0" anchor="t"/>
          <a:lstStyle/>
          <a:p>
            <a:pPr algn="ctr" indent="0" marL="0">
              <a:buNone/>
            </a:pPr>
            <a:r>
              <a:rPr lang="en-US" sz="1400" dirty="0">
                <a:solidFill>
                  <a:srgbClr val="1F1F1F"/>
                </a:solidFill>
                <a:latin typeface="Tahoma" pitchFamily="34" charset="0"/>
                <a:ea typeface="Tahoma" pitchFamily="34" charset="-122"/>
                <a:cs typeface="Tahoma" pitchFamily="34" charset="-120"/>
              </a:rPr>
              <a:t>Nối điện áp vào P1 (−) và P2 (+); chọn SP, xoay MEASURE [4]</a:t>
            </a:r>
            <a:endParaRPr lang="en-US" sz="1400" dirty="0"/>
          </a:p>
        </p:txBody>
      </p:sp>
      <p:sp>
        <p:nvSpPr>
          <p:cNvPr id="13" name="Shape 9"/>
          <p:cNvSpPr/>
          <p:nvPr/>
        </p:nvSpPr>
        <p:spPr>
          <a:xfrm>
            <a:off x="6185916" y="960120"/>
            <a:ext cx="2590038" cy="3200400"/>
          </a:xfrm>
          <a:prstGeom prst="roundRect">
            <a:avLst>
              <a:gd name="adj" fmla="val 3530"/>
            </a:avLst>
          </a:prstGeom>
          <a:solidFill>
            <a:srgbClr val="ECF3FA"/>
          </a:solidFill>
          <a:ln w="12700">
            <a:solidFill>
              <a:srgbClr val="ECF3FA"/>
            </a:solidFill>
            <a:prstDash val="solid"/>
          </a:ln>
        </p:spPr>
      </p:sp>
      <p:sp>
        <p:nvSpPr>
          <p:cNvPr id="14" name="Shape 10"/>
          <p:cNvSpPr/>
          <p:nvPr/>
        </p:nvSpPr>
        <p:spPr>
          <a:xfrm>
            <a:off x="7151751" y="1161288"/>
            <a:ext cx="658368" cy="658368"/>
          </a:xfrm>
          <a:prstGeom prst="ellipse">
            <a:avLst/>
          </a:prstGeom>
          <a:solidFill>
            <a:srgbClr val="234782"/>
          </a:solidFill>
          <a:ln w="12700">
            <a:solidFill>
              <a:srgbClr val="234782"/>
            </a:solidFill>
            <a:prstDash val="solid"/>
          </a:ln>
        </p:spPr>
      </p:sp>
      <p:pic>
        <p:nvPicPr>
          <p:cNvPr id="15" name="Image 2" descr="preencoded.png">    </p:cNvPr>
          <p:cNvPicPr>
            <a:picLocks noChangeAspect="1"/>
          </p:cNvPicPr>
          <p:nvPr/>
        </p:nvPicPr>
        <p:blipFill>
          <a:blip r:embed="rId3"/>
          <a:stretch>
            <a:fillRect/>
          </a:stretch>
        </p:blipFill>
        <p:spPr>
          <a:xfrm>
            <a:off x="7296592" y="1306129"/>
            <a:ext cx="368686" cy="368686"/>
          </a:xfrm>
          <a:prstGeom prst="rect">
            <a:avLst/>
          </a:prstGeom>
        </p:spPr>
      </p:pic>
      <p:sp>
        <p:nvSpPr>
          <p:cNvPr id="16" name="Text 11"/>
          <p:cNvSpPr txBox="1"/>
          <p:nvPr/>
        </p:nvSpPr>
        <p:spPr>
          <a:xfrm>
            <a:off x="6323076" y="1892808"/>
            <a:ext cx="2315718" cy="594360"/>
          </a:xfrm>
          <a:prstGeom prst="rect">
            <a:avLst/>
          </a:prstGeom>
          <a:noFill/>
          <a:ln/>
        </p:spPr>
        <p:txBody>
          <a:bodyPr wrap="square" lIns="508" tIns="508" rIns="508" bIns="508" rtlCol="0" anchor="ctr"/>
          <a:lstStyle/>
          <a:p>
            <a:pPr algn="ctr" indent="0" marL="0">
              <a:buNone/>
            </a:pPr>
            <a:r>
              <a:rPr lang="en-US" sz="1600" b="1" dirty="0">
                <a:solidFill>
                  <a:srgbClr val="234782"/>
                </a:solidFill>
                <a:latin typeface="Tahoma" pitchFamily="34" charset="0"/>
                <a:ea typeface="Tahoma" pitchFamily="34" charset="-122"/>
                <a:cs typeface="Tahoma" pitchFamily="34" charset="-120"/>
              </a:rPr>
              <a:t>Cực không phân cực</a:t>
            </a:r>
            <a:endParaRPr lang="en-US" sz="1600" dirty="0"/>
          </a:p>
        </p:txBody>
      </p:sp>
      <p:sp>
        <p:nvSpPr>
          <p:cNvPr id="17" name="Text 12"/>
          <p:cNvSpPr txBox="1"/>
          <p:nvPr/>
        </p:nvSpPr>
        <p:spPr>
          <a:xfrm>
            <a:off x="6368796" y="2532888"/>
            <a:ext cx="2224278" cy="1536192"/>
          </a:xfrm>
          <a:prstGeom prst="rect">
            <a:avLst/>
          </a:prstGeom>
          <a:noFill/>
          <a:ln/>
        </p:spPr>
        <p:txBody>
          <a:bodyPr wrap="square" lIns="508" tIns="508" rIns="508" bIns="508" rtlCol="0" anchor="t"/>
          <a:lstStyle/>
          <a:p>
            <a:pPr algn="ctr" indent="0" marL="0">
              <a:buNone/>
            </a:pPr>
            <a:r>
              <a:rPr lang="en-US" sz="1400" dirty="0">
                <a:solidFill>
                  <a:srgbClr val="1F1F1F"/>
                </a:solidFill>
                <a:latin typeface="Tahoma" pitchFamily="34" charset="0"/>
                <a:ea typeface="Tahoma" pitchFamily="34" charset="-122"/>
                <a:cs typeface="Tahoma" pitchFamily="34" charset="-120"/>
              </a:rPr>
              <a:t>Cu/CuSO₄; điện cực thép tự sinh thế, làm sai số đọc</a:t>
            </a:r>
            <a:endParaRPr lang="en-US" sz="1400" dirty="0"/>
          </a:p>
        </p:txBody>
      </p:sp>
      <p:sp>
        <p:nvSpPr>
          <p:cNvPr id="18" name="Shape 13"/>
          <p:cNvSpPr/>
          <p:nvPr/>
        </p:nvSpPr>
        <p:spPr>
          <a:xfrm>
            <a:off x="8958834" y="960120"/>
            <a:ext cx="2590038" cy="3200400"/>
          </a:xfrm>
          <a:prstGeom prst="roundRect">
            <a:avLst>
              <a:gd name="adj" fmla="val 3530"/>
            </a:avLst>
          </a:prstGeom>
          <a:solidFill>
            <a:srgbClr val="ECF3FA"/>
          </a:solidFill>
          <a:ln w="12700">
            <a:solidFill>
              <a:srgbClr val="ECF3FA"/>
            </a:solidFill>
            <a:prstDash val="solid"/>
          </a:ln>
        </p:spPr>
      </p:sp>
      <p:sp>
        <p:nvSpPr>
          <p:cNvPr id="19" name="Shape 14"/>
          <p:cNvSpPr/>
          <p:nvPr/>
        </p:nvSpPr>
        <p:spPr>
          <a:xfrm>
            <a:off x="9924669" y="1161288"/>
            <a:ext cx="658368" cy="658368"/>
          </a:xfrm>
          <a:prstGeom prst="ellipse">
            <a:avLst/>
          </a:prstGeom>
          <a:solidFill>
            <a:srgbClr val="234782"/>
          </a:solidFill>
          <a:ln w="12700">
            <a:solidFill>
              <a:srgbClr val="234782"/>
            </a:solidFill>
            <a:prstDash val="solid"/>
          </a:ln>
        </p:spPr>
      </p:sp>
      <p:pic>
        <p:nvPicPr>
          <p:cNvPr id="20" name="Image 3" descr="preencoded.png">    </p:cNvPr>
          <p:cNvPicPr>
            <a:picLocks noChangeAspect="1"/>
          </p:cNvPicPr>
          <p:nvPr/>
        </p:nvPicPr>
        <p:blipFill>
          <a:blip r:embed="rId4"/>
          <a:stretch>
            <a:fillRect/>
          </a:stretch>
        </p:blipFill>
        <p:spPr>
          <a:xfrm>
            <a:off x="10069510" y="1306129"/>
            <a:ext cx="368686" cy="368686"/>
          </a:xfrm>
          <a:prstGeom prst="rect">
            <a:avLst/>
          </a:prstGeom>
        </p:spPr>
      </p:pic>
      <p:sp>
        <p:nvSpPr>
          <p:cNvPr id="21" name="Text 15"/>
          <p:cNvSpPr txBox="1"/>
          <p:nvPr/>
        </p:nvSpPr>
        <p:spPr>
          <a:xfrm>
            <a:off x="9095994" y="1892808"/>
            <a:ext cx="2315718" cy="594360"/>
          </a:xfrm>
          <a:prstGeom prst="rect">
            <a:avLst/>
          </a:prstGeom>
          <a:noFill/>
          <a:ln/>
        </p:spPr>
        <p:txBody>
          <a:bodyPr wrap="square" lIns="508" tIns="508" rIns="508" bIns="508" rtlCol="0" anchor="ctr"/>
          <a:lstStyle/>
          <a:p>
            <a:pPr algn="ctr" indent="0" marL="0">
              <a:buNone/>
            </a:pPr>
            <a:r>
              <a:rPr lang="en-US" sz="1600" b="1" dirty="0">
                <a:solidFill>
                  <a:srgbClr val="234782"/>
                </a:solidFill>
                <a:latin typeface="Tahoma" pitchFamily="34" charset="0"/>
                <a:ea typeface="Tahoma" pitchFamily="34" charset="-122"/>
                <a:cs typeface="Tahoma" pitchFamily="34" charset="-120"/>
              </a:rPr>
              <a:t>Ứng dụng</a:t>
            </a:r>
            <a:endParaRPr lang="en-US" sz="1600" dirty="0"/>
          </a:p>
        </p:txBody>
      </p:sp>
      <p:sp>
        <p:nvSpPr>
          <p:cNvPr id="22" name="Text 16"/>
          <p:cNvSpPr txBox="1"/>
          <p:nvPr/>
        </p:nvSpPr>
        <p:spPr>
          <a:xfrm>
            <a:off x="9141714" y="2532888"/>
            <a:ext cx="2224278" cy="1536192"/>
          </a:xfrm>
          <a:prstGeom prst="rect">
            <a:avLst/>
          </a:prstGeom>
          <a:noFill/>
          <a:ln/>
        </p:spPr>
        <p:txBody>
          <a:bodyPr wrap="square" lIns="508" tIns="508" rIns="508" bIns="508" rtlCol="0" anchor="t"/>
          <a:lstStyle/>
          <a:p>
            <a:pPr algn="ctr" indent="0" marL="0">
              <a:buNone/>
            </a:pPr>
            <a:r>
              <a:rPr lang="en-US" sz="1400" dirty="0">
                <a:solidFill>
                  <a:srgbClr val="1F1F1F"/>
                </a:solidFill>
                <a:latin typeface="Tahoma" pitchFamily="34" charset="0"/>
                <a:ea typeface="Tahoma" pitchFamily="34" charset="-122"/>
                <a:cs typeface="Tahoma" pitchFamily="34" charset="-120"/>
              </a:rPr>
              <a:t>Dòng thấm qua đê đập, quặng sulfide, ô nhiễm</a:t>
            </a:r>
            <a:endParaRPr lang="en-US" sz="1400" dirty="0"/>
          </a:p>
        </p:txBody>
      </p:sp>
      <p:sp>
        <p:nvSpPr>
          <p:cNvPr id="23" name="Shape 17"/>
          <p:cNvSpPr/>
          <p:nvPr/>
        </p:nvSpPr>
        <p:spPr>
          <a:xfrm>
            <a:off x="640080" y="4389120"/>
            <a:ext cx="10908792" cy="1737360"/>
          </a:xfrm>
          <a:prstGeom prst="roundRect">
            <a:avLst>
              <a:gd name="adj" fmla="val 6316"/>
            </a:avLst>
          </a:prstGeom>
          <a:solidFill>
            <a:srgbClr val="ECF3FA"/>
          </a:solidFill>
          <a:ln w="12700">
            <a:solidFill>
              <a:srgbClr val="ECF3FA"/>
            </a:solidFill>
            <a:prstDash val="solid"/>
          </a:ln>
        </p:spPr>
      </p:sp>
      <p:sp>
        <p:nvSpPr>
          <p:cNvPr id="24" name="Text 18"/>
          <p:cNvSpPr txBox="1"/>
          <p:nvPr/>
        </p:nvSpPr>
        <p:spPr>
          <a:xfrm>
            <a:off x="914400" y="4572000"/>
            <a:ext cx="10451592" cy="411480"/>
          </a:xfrm>
          <a:prstGeom prst="rect">
            <a:avLst/>
          </a:prstGeom>
          <a:noFill/>
          <a:ln/>
        </p:spPr>
        <p:txBody>
          <a:bodyPr wrap="square" lIns="508" tIns="508" rIns="508" bIns="508" rtlCol="0" anchor="ctr"/>
          <a:lstStyle/>
          <a:p>
            <a:pPr indent="0" marL="0">
              <a:buNone/>
            </a:pPr>
            <a:r>
              <a:rPr lang="en-US" sz="1700" b="1" dirty="0">
                <a:solidFill>
                  <a:srgbClr val="234782"/>
                </a:solidFill>
                <a:latin typeface="Tahoma" pitchFamily="34" charset="0"/>
                <a:ea typeface="Tahoma" pitchFamily="34" charset="-122"/>
                <a:cs typeface="Tahoma" pitchFamily="34" charset="-120"/>
              </a:rPr>
              <a:t>Lưu ý an toàn khi chuẩn bị cực không phân cực</a:t>
            </a:r>
            <a:endParaRPr lang="en-US" sz="1700" dirty="0"/>
          </a:p>
        </p:txBody>
      </p:sp>
      <p:sp>
        <p:nvSpPr>
          <p:cNvPr id="25" name="Text 19"/>
          <p:cNvSpPr txBox="1"/>
          <p:nvPr/>
        </p:nvSpPr>
        <p:spPr>
          <a:xfrm>
            <a:off x="914400" y="5166360"/>
            <a:ext cx="10405872" cy="822960"/>
          </a:xfrm>
          <a:prstGeom prst="rect">
            <a:avLst/>
          </a:prstGeom>
          <a:noFill/>
          <a:ln/>
        </p:spPr>
        <p:txBody>
          <a:bodyPr wrap="square" lIns="254" tIns="254" rIns="254" bIns="254" rtlCol="0" anchor="t"/>
          <a:lstStyle/>
          <a:p>
            <a:pPr marL="177800" indent="-177800">
              <a:spcAft>
                <a:spcPts val="800"/>
              </a:spcAft>
              <a:buSzPct val="100000"/>
              <a:buChar char="•"/>
            </a:pPr>
            <a:r>
              <a:rPr lang="en-US" sz="1400" dirty="0">
                <a:solidFill>
                  <a:srgbClr val="1F1F1F"/>
                </a:solidFill>
                <a:latin typeface="Tahoma" pitchFamily="34" charset="0"/>
                <a:ea typeface="Tahoma" pitchFamily="34" charset="-122"/>
                <a:cs typeface="Tahoma" pitchFamily="34" charset="-120"/>
              </a:rPr>
              <a:t>Thạch cao trong cực có chì clorua: đeo găng, rửa tay sau khi dùng, để xa trẻ em [4]</a:t>
            </a:r>
            <a:endParaRPr lang="en-US" sz="14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6. Quy trình đo sâu điện (VES)</a:t>
            </a:r>
            <a:endParaRPr lang="en-US" sz="2800" dirty="0"/>
          </a:p>
        </p:txBody>
      </p:sp>
      <p:sp>
        <p:nvSpPr>
          <p:cNvPr id="3" name="Shape 1"/>
          <p:cNvSpPr/>
          <p:nvPr/>
        </p:nvSpPr>
        <p:spPr>
          <a:xfrm>
            <a:off x="640080" y="1498092"/>
            <a:ext cx="2418588" cy="1496568"/>
          </a:xfrm>
          <a:prstGeom prst="roundRect">
            <a:avLst>
              <a:gd name="adj" fmla="val 4888"/>
            </a:avLst>
          </a:prstGeom>
          <a:solidFill>
            <a:srgbClr val="DCE8F7"/>
          </a:solidFill>
          <a:ln w="12700">
            <a:solidFill>
              <a:srgbClr val="7FA6D6"/>
            </a:solidFill>
            <a:prstDash val="solid"/>
          </a:ln>
        </p:spPr>
      </p:sp>
      <p:sp>
        <p:nvSpPr>
          <p:cNvPr id="4" name="Text 2"/>
          <p:cNvSpPr txBox="1"/>
          <p:nvPr/>
        </p:nvSpPr>
        <p:spPr>
          <a:xfrm>
            <a:off x="749808" y="1749552"/>
            <a:ext cx="2199132" cy="472440"/>
          </a:xfrm>
          <a:prstGeom prst="rect">
            <a:avLst/>
          </a:prstGeom>
          <a:noFill/>
          <a:ln/>
        </p:spPr>
        <p:txBody>
          <a:bodyPr wrap="square" lIns="508" tIns="508" rIns="508" bIns="508" rtlCol="0" anchor="ctr"/>
          <a:lstStyle/>
          <a:p>
            <a:pPr algn="ctr" indent="0" marL="0">
              <a:buNone/>
            </a:pPr>
            <a:r>
              <a:rPr lang="en-US" sz="1400" b="1" dirty="0">
                <a:solidFill>
                  <a:srgbClr val="234782"/>
                </a:solidFill>
                <a:latin typeface="Tahoma" pitchFamily="34" charset="0"/>
                <a:ea typeface="Tahoma" pitchFamily="34" charset="-122"/>
                <a:cs typeface="Tahoma" pitchFamily="34" charset="-120"/>
              </a:rPr>
              <a:t>1. Chọn tâm, căng thước</a:t>
            </a:r>
            <a:endParaRPr lang="en-US" sz="1400" dirty="0"/>
          </a:p>
        </p:txBody>
      </p:sp>
      <p:sp>
        <p:nvSpPr>
          <p:cNvPr id="5" name="Text 3"/>
          <p:cNvSpPr txBox="1"/>
          <p:nvPr/>
        </p:nvSpPr>
        <p:spPr>
          <a:xfrm>
            <a:off x="749808" y="2331720"/>
            <a:ext cx="2199132" cy="411480"/>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Máy đặt giữa M và N</a:t>
            </a:r>
            <a:endParaRPr lang="en-US" sz="1200" dirty="0"/>
          </a:p>
        </p:txBody>
      </p:sp>
      <p:sp>
        <p:nvSpPr>
          <p:cNvPr id="6" name="Shape 4"/>
          <p:cNvSpPr/>
          <p:nvPr/>
        </p:nvSpPr>
        <p:spPr>
          <a:xfrm>
            <a:off x="3113532" y="2246376"/>
            <a:ext cx="301752" cy="0"/>
          </a:xfrm>
          <a:prstGeom prst="line">
            <a:avLst/>
          </a:prstGeom>
          <a:noFill/>
          <a:ln w="38100">
            <a:solidFill>
              <a:srgbClr val="234782"/>
            </a:solidFill>
            <a:prstDash val="solid"/>
            <a:tailEnd type="triangle"/>
          </a:ln>
        </p:spPr>
      </p:sp>
      <p:sp>
        <p:nvSpPr>
          <p:cNvPr id="7" name="Shape 5"/>
          <p:cNvSpPr/>
          <p:nvPr/>
        </p:nvSpPr>
        <p:spPr>
          <a:xfrm>
            <a:off x="3470148" y="1498092"/>
            <a:ext cx="2418588" cy="1496568"/>
          </a:xfrm>
          <a:prstGeom prst="roundRect">
            <a:avLst>
              <a:gd name="adj" fmla="val 4888"/>
            </a:avLst>
          </a:prstGeom>
          <a:solidFill>
            <a:srgbClr val="DCE8F7"/>
          </a:solidFill>
          <a:ln w="12700">
            <a:solidFill>
              <a:srgbClr val="7FA6D6"/>
            </a:solidFill>
            <a:prstDash val="solid"/>
          </a:ln>
        </p:spPr>
      </p:sp>
      <p:sp>
        <p:nvSpPr>
          <p:cNvPr id="8" name="Text 6"/>
          <p:cNvSpPr txBox="1"/>
          <p:nvPr/>
        </p:nvSpPr>
        <p:spPr>
          <a:xfrm>
            <a:off x="3579876" y="1749552"/>
            <a:ext cx="2199132" cy="472440"/>
          </a:xfrm>
          <a:prstGeom prst="rect">
            <a:avLst/>
          </a:prstGeom>
          <a:noFill/>
          <a:ln/>
        </p:spPr>
        <p:txBody>
          <a:bodyPr wrap="square" lIns="508" tIns="508" rIns="508" bIns="508" rtlCol="0" anchor="ctr"/>
          <a:lstStyle/>
          <a:p>
            <a:pPr algn="ctr" indent="0" marL="0">
              <a:buNone/>
            </a:pPr>
            <a:r>
              <a:rPr lang="en-US" sz="1400" b="1" dirty="0">
                <a:solidFill>
                  <a:srgbClr val="234782"/>
                </a:solidFill>
                <a:latin typeface="Tahoma" pitchFamily="34" charset="0"/>
                <a:ea typeface="Tahoma" pitchFamily="34" charset="-122"/>
                <a:cs typeface="Tahoma" pitchFamily="34" charset="-120"/>
              </a:rPr>
              <a:t>2. Đóng cực</a:t>
            </a:r>
            <a:endParaRPr lang="en-US" sz="1400" dirty="0"/>
          </a:p>
        </p:txBody>
      </p:sp>
      <p:sp>
        <p:nvSpPr>
          <p:cNvPr id="9" name="Text 7"/>
          <p:cNvSpPr txBox="1"/>
          <p:nvPr/>
        </p:nvSpPr>
        <p:spPr>
          <a:xfrm>
            <a:off x="3579876" y="2331720"/>
            <a:ext cx="2199132" cy="411480"/>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Đất khô: tưới nước muối quanh cực</a:t>
            </a:r>
            <a:endParaRPr lang="en-US" sz="1200" dirty="0"/>
          </a:p>
        </p:txBody>
      </p:sp>
      <p:sp>
        <p:nvSpPr>
          <p:cNvPr id="10" name="Shape 8"/>
          <p:cNvSpPr/>
          <p:nvPr/>
        </p:nvSpPr>
        <p:spPr>
          <a:xfrm>
            <a:off x="5943600" y="2246376"/>
            <a:ext cx="301752" cy="0"/>
          </a:xfrm>
          <a:prstGeom prst="line">
            <a:avLst/>
          </a:prstGeom>
          <a:noFill/>
          <a:ln w="38100">
            <a:solidFill>
              <a:srgbClr val="234782"/>
            </a:solidFill>
            <a:prstDash val="solid"/>
            <a:tailEnd type="triangle"/>
          </a:ln>
        </p:spPr>
      </p:sp>
      <p:sp>
        <p:nvSpPr>
          <p:cNvPr id="11" name="Shape 9"/>
          <p:cNvSpPr/>
          <p:nvPr/>
        </p:nvSpPr>
        <p:spPr>
          <a:xfrm>
            <a:off x="6300216" y="1498092"/>
            <a:ext cx="2418588" cy="1496568"/>
          </a:xfrm>
          <a:prstGeom prst="roundRect">
            <a:avLst>
              <a:gd name="adj" fmla="val 4888"/>
            </a:avLst>
          </a:prstGeom>
          <a:solidFill>
            <a:srgbClr val="DCE8F7"/>
          </a:solidFill>
          <a:ln w="12700">
            <a:solidFill>
              <a:srgbClr val="7FA6D6"/>
            </a:solidFill>
            <a:prstDash val="solid"/>
          </a:ln>
        </p:spPr>
      </p:sp>
      <p:sp>
        <p:nvSpPr>
          <p:cNvPr id="12" name="Text 10"/>
          <p:cNvSpPr txBox="1"/>
          <p:nvPr/>
        </p:nvSpPr>
        <p:spPr>
          <a:xfrm>
            <a:off x="6409944" y="1749552"/>
            <a:ext cx="2199132" cy="472440"/>
          </a:xfrm>
          <a:prstGeom prst="rect">
            <a:avLst/>
          </a:prstGeom>
          <a:noFill/>
          <a:ln/>
        </p:spPr>
        <p:txBody>
          <a:bodyPr wrap="square" lIns="508" tIns="508" rIns="508" bIns="508" rtlCol="0" anchor="ctr"/>
          <a:lstStyle/>
          <a:p>
            <a:pPr algn="ctr" indent="0" marL="0">
              <a:buNone/>
            </a:pPr>
            <a:r>
              <a:rPr lang="en-US" sz="1400" b="1" dirty="0">
                <a:solidFill>
                  <a:srgbClr val="234782"/>
                </a:solidFill>
                <a:latin typeface="Tahoma" pitchFamily="34" charset="0"/>
                <a:ea typeface="Tahoma" pitchFamily="34" charset="-122"/>
                <a:cs typeface="Tahoma" pitchFamily="34" charset="-120"/>
              </a:rPr>
              <a:t>3. Nối cáp</a:t>
            </a:r>
            <a:endParaRPr lang="en-US" sz="1400" dirty="0"/>
          </a:p>
        </p:txBody>
      </p:sp>
      <p:sp>
        <p:nvSpPr>
          <p:cNvPr id="13" name="Text 11"/>
          <p:cNvSpPr txBox="1"/>
          <p:nvPr/>
        </p:nvSpPr>
        <p:spPr>
          <a:xfrm>
            <a:off x="6409944" y="2331720"/>
            <a:ext cx="2199132" cy="411480"/>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A–C1, B–C2, M–P1, N–P2; ắc quy 12 V</a:t>
            </a:r>
            <a:endParaRPr lang="en-US" sz="1200" dirty="0"/>
          </a:p>
        </p:txBody>
      </p:sp>
      <p:sp>
        <p:nvSpPr>
          <p:cNvPr id="14" name="Shape 12"/>
          <p:cNvSpPr/>
          <p:nvPr/>
        </p:nvSpPr>
        <p:spPr>
          <a:xfrm>
            <a:off x="8773668" y="2246376"/>
            <a:ext cx="301752" cy="0"/>
          </a:xfrm>
          <a:prstGeom prst="line">
            <a:avLst/>
          </a:prstGeom>
          <a:noFill/>
          <a:ln w="38100">
            <a:solidFill>
              <a:srgbClr val="234782"/>
            </a:solidFill>
            <a:prstDash val="solid"/>
            <a:tailEnd type="triangle"/>
          </a:ln>
        </p:spPr>
      </p:sp>
      <p:sp>
        <p:nvSpPr>
          <p:cNvPr id="15" name="Shape 13"/>
          <p:cNvSpPr/>
          <p:nvPr/>
        </p:nvSpPr>
        <p:spPr>
          <a:xfrm>
            <a:off x="9130284" y="1498092"/>
            <a:ext cx="2418588" cy="1496568"/>
          </a:xfrm>
          <a:prstGeom prst="roundRect">
            <a:avLst>
              <a:gd name="adj" fmla="val 4888"/>
            </a:avLst>
          </a:prstGeom>
          <a:solidFill>
            <a:srgbClr val="DCE8F7"/>
          </a:solidFill>
          <a:ln w="12700">
            <a:solidFill>
              <a:srgbClr val="7FA6D6"/>
            </a:solidFill>
            <a:prstDash val="solid"/>
          </a:ln>
        </p:spPr>
      </p:sp>
      <p:sp>
        <p:nvSpPr>
          <p:cNvPr id="16" name="Text 14"/>
          <p:cNvSpPr txBox="1"/>
          <p:nvPr/>
        </p:nvSpPr>
        <p:spPr>
          <a:xfrm>
            <a:off x="9240012" y="1749552"/>
            <a:ext cx="2199132" cy="472440"/>
          </a:xfrm>
          <a:prstGeom prst="rect">
            <a:avLst/>
          </a:prstGeom>
          <a:noFill/>
          <a:ln/>
        </p:spPr>
        <p:txBody>
          <a:bodyPr wrap="square" lIns="508" tIns="508" rIns="508" bIns="508" rtlCol="0" anchor="ctr"/>
          <a:lstStyle/>
          <a:p>
            <a:pPr algn="ctr" indent="0" marL="0">
              <a:buNone/>
            </a:pPr>
            <a:r>
              <a:rPr lang="en-US" sz="1400" b="1" dirty="0">
                <a:solidFill>
                  <a:srgbClr val="234782"/>
                </a:solidFill>
                <a:latin typeface="Tahoma" pitchFamily="34" charset="0"/>
                <a:ea typeface="Tahoma" pitchFamily="34" charset="-122"/>
                <a:cs typeface="Tahoma" pitchFamily="34" charset="-120"/>
              </a:rPr>
              <a:t>4. Cài đặt</a:t>
            </a:r>
            <a:endParaRPr lang="en-US" sz="1400" dirty="0"/>
          </a:p>
        </p:txBody>
      </p:sp>
      <p:sp>
        <p:nvSpPr>
          <p:cNvPr id="17" name="Text 15"/>
          <p:cNvSpPr txBox="1"/>
          <p:nvPr/>
        </p:nvSpPr>
        <p:spPr>
          <a:xfrm>
            <a:off x="9240012" y="2331720"/>
            <a:ext cx="2199132" cy="411480"/>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Sounding, Schlumberger; dòng, số lần cộng</a:t>
            </a:r>
            <a:endParaRPr lang="en-US" sz="1200" dirty="0"/>
          </a:p>
        </p:txBody>
      </p:sp>
      <p:sp>
        <p:nvSpPr>
          <p:cNvPr id="18" name="Shape 16"/>
          <p:cNvSpPr/>
          <p:nvPr/>
        </p:nvSpPr>
        <p:spPr>
          <a:xfrm>
            <a:off x="10339578" y="3067812"/>
            <a:ext cx="0" cy="585216"/>
          </a:xfrm>
          <a:prstGeom prst="line">
            <a:avLst/>
          </a:prstGeom>
          <a:noFill/>
          <a:ln w="38100">
            <a:solidFill>
              <a:srgbClr val="234782"/>
            </a:solidFill>
            <a:prstDash val="solid"/>
            <a:tailEnd type="triangle"/>
          </a:ln>
        </p:spPr>
      </p:sp>
      <p:sp>
        <p:nvSpPr>
          <p:cNvPr id="19" name="Shape 17"/>
          <p:cNvSpPr/>
          <p:nvPr/>
        </p:nvSpPr>
        <p:spPr>
          <a:xfrm>
            <a:off x="9130284" y="3726180"/>
            <a:ext cx="2418588" cy="1496568"/>
          </a:xfrm>
          <a:prstGeom prst="roundRect">
            <a:avLst>
              <a:gd name="adj" fmla="val 4888"/>
            </a:avLst>
          </a:prstGeom>
          <a:solidFill>
            <a:srgbClr val="E6F3E9"/>
          </a:solidFill>
          <a:ln w="12700">
            <a:solidFill>
              <a:srgbClr val="8CC49A"/>
            </a:solidFill>
            <a:prstDash val="solid"/>
          </a:ln>
        </p:spPr>
      </p:sp>
      <p:sp>
        <p:nvSpPr>
          <p:cNvPr id="20" name="Text 18"/>
          <p:cNvSpPr txBox="1"/>
          <p:nvPr/>
        </p:nvSpPr>
        <p:spPr>
          <a:xfrm>
            <a:off x="9240012" y="3977640"/>
            <a:ext cx="2199132" cy="472440"/>
          </a:xfrm>
          <a:prstGeom prst="rect">
            <a:avLst/>
          </a:prstGeom>
          <a:noFill/>
          <a:ln/>
        </p:spPr>
        <p:txBody>
          <a:bodyPr wrap="square" lIns="508" tIns="508" rIns="508" bIns="508" rtlCol="0" anchor="ctr"/>
          <a:lstStyle/>
          <a:p>
            <a:pPr algn="ctr" indent="0" marL="0">
              <a:buNone/>
            </a:pPr>
            <a:r>
              <a:rPr lang="en-US" sz="1400" b="1" dirty="0">
                <a:solidFill>
                  <a:srgbClr val="234782"/>
                </a:solidFill>
                <a:latin typeface="Tahoma" pitchFamily="34" charset="0"/>
                <a:ea typeface="Tahoma" pitchFamily="34" charset="-122"/>
                <a:cs typeface="Tahoma" pitchFamily="34" charset="-120"/>
              </a:rPr>
              <a:t>5. Đo</a:t>
            </a:r>
            <a:endParaRPr lang="en-US" sz="1400" dirty="0"/>
          </a:p>
        </p:txBody>
      </p:sp>
      <p:sp>
        <p:nvSpPr>
          <p:cNvPr id="21" name="Text 19"/>
          <p:cNvSpPr txBox="1"/>
          <p:nvPr/>
        </p:nvSpPr>
        <p:spPr>
          <a:xfrm>
            <a:off x="9240012" y="4559808"/>
            <a:ext cx="2199132" cy="411480"/>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Xoay MEASURE; S.Dev &lt; 1%; R âm → kiểm tra cực tính</a:t>
            </a:r>
            <a:endParaRPr lang="en-US" sz="1200" dirty="0"/>
          </a:p>
        </p:txBody>
      </p:sp>
      <p:sp>
        <p:nvSpPr>
          <p:cNvPr id="22" name="Shape 20"/>
          <p:cNvSpPr/>
          <p:nvPr/>
        </p:nvSpPr>
        <p:spPr>
          <a:xfrm flipH="1">
            <a:off x="8773668" y="4474464"/>
            <a:ext cx="301752" cy="0"/>
          </a:xfrm>
          <a:prstGeom prst="line">
            <a:avLst/>
          </a:prstGeom>
          <a:noFill/>
          <a:ln w="38100">
            <a:solidFill>
              <a:srgbClr val="234782"/>
            </a:solidFill>
            <a:prstDash val="solid"/>
            <a:tailEnd type="triangle"/>
          </a:ln>
        </p:spPr>
      </p:sp>
      <p:sp>
        <p:nvSpPr>
          <p:cNvPr id="23" name="Shape 21"/>
          <p:cNvSpPr/>
          <p:nvPr/>
        </p:nvSpPr>
        <p:spPr>
          <a:xfrm>
            <a:off x="6300216" y="3726180"/>
            <a:ext cx="2418588" cy="1496568"/>
          </a:xfrm>
          <a:prstGeom prst="roundRect">
            <a:avLst>
              <a:gd name="adj" fmla="val 4888"/>
            </a:avLst>
          </a:prstGeom>
          <a:solidFill>
            <a:srgbClr val="E6F3E9"/>
          </a:solidFill>
          <a:ln w="12700">
            <a:solidFill>
              <a:srgbClr val="8CC49A"/>
            </a:solidFill>
            <a:prstDash val="solid"/>
          </a:ln>
        </p:spPr>
      </p:sp>
      <p:sp>
        <p:nvSpPr>
          <p:cNvPr id="24" name="Text 22"/>
          <p:cNvSpPr txBox="1"/>
          <p:nvPr/>
        </p:nvSpPr>
        <p:spPr>
          <a:xfrm>
            <a:off x="6409944" y="3977640"/>
            <a:ext cx="2199132" cy="472440"/>
          </a:xfrm>
          <a:prstGeom prst="rect">
            <a:avLst/>
          </a:prstGeom>
          <a:noFill/>
          <a:ln/>
        </p:spPr>
        <p:txBody>
          <a:bodyPr wrap="square" lIns="508" tIns="508" rIns="508" bIns="508" rtlCol="0" anchor="ctr"/>
          <a:lstStyle/>
          <a:p>
            <a:pPr algn="ctr" indent="0" marL="0">
              <a:buNone/>
            </a:pPr>
            <a:r>
              <a:rPr lang="en-US" sz="1400" b="1" dirty="0">
                <a:solidFill>
                  <a:srgbClr val="234782"/>
                </a:solidFill>
                <a:latin typeface="Tahoma" pitchFamily="34" charset="0"/>
                <a:ea typeface="Tahoma" pitchFamily="34" charset="-122"/>
                <a:cs typeface="Tahoma" pitchFamily="34" charset="-120"/>
              </a:rPr>
              <a:t>6. Tăng AB/2</a:t>
            </a:r>
            <a:endParaRPr lang="en-US" sz="1400" dirty="0"/>
          </a:p>
        </p:txBody>
      </p:sp>
      <p:sp>
        <p:nvSpPr>
          <p:cNvPr id="25" name="Text 23"/>
          <p:cNvSpPr txBox="1"/>
          <p:nvPr/>
        </p:nvSpPr>
        <p:spPr>
          <a:xfrm>
            <a:off x="6409944" y="4559808"/>
            <a:ext cx="2199132" cy="411480"/>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1,5 – 2 – 3 – 5 – 7 – 10 – 15 – 20… m; MN ≤ AB/5</a:t>
            </a:r>
            <a:endParaRPr lang="en-US" sz="1200" dirty="0"/>
          </a:p>
        </p:txBody>
      </p:sp>
      <p:sp>
        <p:nvSpPr>
          <p:cNvPr id="26" name="Shape 24"/>
          <p:cNvSpPr/>
          <p:nvPr/>
        </p:nvSpPr>
        <p:spPr>
          <a:xfrm flipH="1">
            <a:off x="5943600" y="4474464"/>
            <a:ext cx="301752" cy="0"/>
          </a:xfrm>
          <a:prstGeom prst="line">
            <a:avLst/>
          </a:prstGeom>
          <a:noFill/>
          <a:ln w="38100">
            <a:solidFill>
              <a:srgbClr val="234782"/>
            </a:solidFill>
            <a:prstDash val="solid"/>
            <a:tailEnd type="triangle"/>
          </a:ln>
        </p:spPr>
      </p:sp>
      <p:sp>
        <p:nvSpPr>
          <p:cNvPr id="27" name="Shape 25"/>
          <p:cNvSpPr/>
          <p:nvPr/>
        </p:nvSpPr>
        <p:spPr>
          <a:xfrm>
            <a:off x="3470148" y="3726180"/>
            <a:ext cx="2418588" cy="1496568"/>
          </a:xfrm>
          <a:prstGeom prst="roundRect">
            <a:avLst>
              <a:gd name="adj" fmla="val 4888"/>
            </a:avLst>
          </a:prstGeom>
          <a:solidFill>
            <a:srgbClr val="E6F3E9"/>
          </a:solidFill>
          <a:ln w="12700">
            <a:solidFill>
              <a:srgbClr val="8CC49A"/>
            </a:solidFill>
            <a:prstDash val="solid"/>
          </a:ln>
        </p:spPr>
      </p:sp>
      <p:sp>
        <p:nvSpPr>
          <p:cNvPr id="28" name="Text 26"/>
          <p:cNvSpPr txBox="1"/>
          <p:nvPr/>
        </p:nvSpPr>
        <p:spPr>
          <a:xfrm>
            <a:off x="3579876" y="3977640"/>
            <a:ext cx="2199132" cy="472440"/>
          </a:xfrm>
          <a:prstGeom prst="rect">
            <a:avLst/>
          </a:prstGeom>
          <a:noFill/>
          <a:ln/>
        </p:spPr>
        <p:txBody>
          <a:bodyPr wrap="square" lIns="508" tIns="508" rIns="508" bIns="508" rtlCol="0" anchor="ctr"/>
          <a:lstStyle/>
          <a:p>
            <a:pPr algn="ctr" indent="0" marL="0">
              <a:buNone/>
            </a:pPr>
            <a:r>
              <a:rPr lang="en-US" sz="1400" b="1" dirty="0">
                <a:solidFill>
                  <a:srgbClr val="234782"/>
                </a:solidFill>
                <a:latin typeface="Tahoma" pitchFamily="34" charset="0"/>
                <a:ea typeface="Tahoma" pitchFamily="34" charset="-122"/>
                <a:cs typeface="Tahoma" pitchFamily="34" charset="-120"/>
              </a:rPr>
              <a:t>7. Vẽ đường cong</a:t>
            </a:r>
            <a:endParaRPr lang="en-US" sz="1400" dirty="0"/>
          </a:p>
        </p:txBody>
      </p:sp>
      <p:sp>
        <p:nvSpPr>
          <p:cNvPr id="29" name="Text 27"/>
          <p:cNvSpPr txBox="1"/>
          <p:nvPr/>
        </p:nvSpPr>
        <p:spPr>
          <a:xfrm>
            <a:off x="3579876" y="4559808"/>
            <a:ext cx="2199132" cy="411480"/>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ρa – AB/2 trên giấy log-log tại hiện trường</a:t>
            </a:r>
            <a:endParaRPr lang="en-US" sz="1200" dirty="0"/>
          </a:p>
        </p:txBody>
      </p:sp>
      <p:sp>
        <p:nvSpPr>
          <p:cNvPr id="30" name="Shape 28"/>
          <p:cNvSpPr/>
          <p:nvPr/>
        </p:nvSpPr>
        <p:spPr>
          <a:xfrm flipH="1">
            <a:off x="3113532" y="4474464"/>
            <a:ext cx="301752" cy="0"/>
          </a:xfrm>
          <a:prstGeom prst="line">
            <a:avLst/>
          </a:prstGeom>
          <a:noFill/>
          <a:ln w="38100">
            <a:solidFill>
              <a:srgbClr val="234782"/>
            </a:solidFill>
            <a:prstDash val="solid"/>
            <a:tailEnd type="triangle"/>
          </a:ln>
        </p:spPr>
      </p:sp>
      <p:sp>
        <p:nvSpPr>
          <p:cNvPr id="31" name="Shape 29"/>
          <p:cNvSpPr/>
          <p:nvPr/>
        </p:nvSpPr>
        <p:spPr>
          <a:xfrm>
            <a:off x="640080" y="3726180"/>
            <a:ext cx="2418588" cy="1496568"/>
          </a:xfrm>
          <a:prstGeom prst="roundRect">
            <a:avLst>
              <a:gd name="adj" fmla="val 4888"/>
            </a:avLst>
          </a:prstGeom>
          <a:solidFill>
            <a:srgbClr val="E6F3E9"/>
          </a:solidFill>
          <a:ln w="12700">
            <a:solidFill>
              <a:srgbClr val="8CC49A"/>
            </a:solidFill>
            <a:prstDash val="solid"/>
          </a:ln>
        </p:spPr>
      </p:sp>
      <p:sp>
        <p:nvSpPr>
          <p:cNvPr id="32" name="Text 30"/>
          <p:cNvSpPr txBox="1"/>
          <p:nvPr/>
        </p:nvSpPr>
        <p:spPr>
          <a:xfrm>
            <a:off x="749808" y="3977640"/>
            <a:ext cx="2199132" cy="472440"/>
          </a:xfrm>
          <a:prstGeom prst="rect">
            <a:avLst/>
          </a:prstGeom>
          <a:noFill/>
          <a:ln/>
        </p:spPr>
        <p:txBody>
          <a:bodyPr wrap="square" lIns="508" tIns="508" rIns="508" bIns="508" rtlCol="0" anchor="ctr"/>
          <a:lstStyle/>
          <a:p>
            <a:pPr algn="ctr" indent="0" marL="0">
              <a:buNone/>
            </a:pPr>
            <a:r>
              <a:rPr lang="en-US" sz="1400" b="1" dirty="0">
                <a:solidFill>
                  <a:srgbClr val="234782"/>
                </a:solidFill>
                <a:latin typeface="Tahoma" pitchFamily="34" charset="0"/>
                <a:ea typeface="Tahoma" pitchFamily="34" charset="-122"/>
                <a:cs typeface="Tahoma" pitchFamily="34" charset="-120"/>
              </a:rPr>
              <a:t>8. Giải ngược</a:t>
            </a:r>
            <a:endParaRPr lang="en-US" sz="1400" dirty="0"/>
          </a:p>
        </p:txBody>
      </p:sp>
      <p:sp>
        <p:nvSpPr>
          <p:cNvPr id="33" name="Text 31"/>
          <p:cNvSpPr txBox="1"/>
          <p:nvPr/>
        </p:nvSpPr>
        <p:spPr>
          <a:xfrm>
            <a:off x="749808" y="4559808"/>
            <a:ext cx="2199132" cy="411480"/>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IPI2Win → mô hình lớp (ρ, h)</a:t>
            </a:r>
            <a:endParaRPr lang="en-US" sz="1200" dirty="0"/>
          </a:p>
        </p:txBody>
      </p:sp>
      <p:sp>
        <p:nvSpPr>
          <p:cNvPr id="34" name="Text 32"/>
          <p:cNvSpPr txBox="1"/>
          <p:nvPr/>
        </p:nvSpPr>
        <p:spPr>
          <a:xfrm>
            <a:off x="640080" y="5359908"/>
            <a:ext cx="10908792" cy="292608"/>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Quy trình theo sổ tay Terrameter [4]; cáp dòng đi song song, đối xứng hai bên</a:t>
            </a:r>
            <a:endParaRPr lang="en-US" sz="12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6. Đường cong đo sâu hai lớp</a:t>
            </a:r>
            <a:endParaRPr lang="en-US" sz="2800" dirty="0"/>
          </a:p>
        </p:txBody>
      </p:sp>
      <p:graphicFrame>
        <p:nvGraphicFramePr>
          <p:cNvPr id="3" name="Chart 0" descr=""/>
          <p:cNvGraphicFramePr/>
          <p:nvPr/>
        </p:nvGraphicFramePr>
        <p:xfrm>
          <a:off x="640080" y="914400"/>
          <a:ext cx="667512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40080" y="5760720"/>
            <a:ext cx="6675120" cy="292608"/>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Hình 8. Hệ Wenner, lớp 1 dày 5 m, ρ₁ = 100 Ω·m; tính bằng công thức chuỗi ảnh [1]</a:t>
            </a:r>
            <a:endParaRPr lang="en-US" sz="1200" dirty="0"/>
          </a:p>
        </p:txBody>
      </p:sp>
      <p:sp>
        <p:nvSpPr>
          <p:cNvPr id="5" name="Shape 2"/>
          <p:cNvSpPr/>
          <p:nvPr/>
        </p:nvSpPr>
        <p:spPr>
          <a:xfrm>
            <a:off x="7589520" y="914400"/>
            <a:ext cx="3959352" cy="5394960"/>
          </a:xfrm>
          <a:prstGeom prst="roundRect">
            <a:avLst>
              <a:gd name="adj" fmla="val 2771"/>
            </a:avLst>
          </a:prstGeom>
          <a:solidFill>
            <a:srgbClr val="ECF3FA"/>
          </a:solidFill>
          <a:ln w="12700">
            <a:solidFill>
              <a:srgbClr val="ECF3FA"/>
            </a:solidFill>
            <a:prstDash val="solid"/>
          </a:ln>
        </p:spPr>
      </p:sp>
      <p:sp>
        <p:nvSpPr>
          <p:cNvPr id="6" name="Text 3"/>
          <p:cNvSpPr txBox="1"/>
          <p:nvPr/>
        </p:nvSpPr>
        <p:spPr>
          <a:xfrm>
            <a:off x="7863840" y="1097280"/>
            <a:ext cx="3502152" cy="411480"/>
          </a:xfrm>
          <a:prstGeom prst="rect">
            <a:avLst/>
          </a:prstGeom>
          <a:noFill/>
          <a:ln/>
        </p:spPr>
        <p:txBody>
          <a:bodyPr wrap="square" lIns="508" tIns="508" rIns="508" bIns="508" rtlCol="0" anchor="ctr"/>
          <a:lstStyle/>
          <a:p>
            <a:pPr indent="0" marL="0">
              <a:buNone/>
            </a:pPr>
            <a:r>
              <a:rPr lang="en-US" sz="1700" b="1" dirty="0">
                <a:solidFill>
                  <a:srgbClr val="234782"/>
                </a:solidFill>
                <a:latin typeface="Tahoma" pitchFamily="34" charset="0"/>
                <a:ea typeface="Tahoma" pitchFamily="34" charset="-122"/>
                <a:cs typeface="Tahoma" pitchFamily="34" charset="-120"/>
              </a:rPr>
              <a:t>Đọc đường cong</a:t>
            </a:r>
            <a:endParaRPr lang="en-US" sz="1700" dirty="0"/>
          </a:p>
        </p:txBody>
      </p:sp>
      <p:sp>
        <p:nvSpPr>
          <p:cNvPr id="7" name="Text 4"/>
          <p:cNvSpPr txBox="1"/>
          <p:nvPr/>
        </p:nvSpPr>
        <p:spPr>
          <a:xfrm>
            <a:off x="7863840" y="1691640"/>
            <a:ext cx="3456432" cy="4480560"/>
          </a:xfrm>
          <a:prstGeom prst="rect">
            <a:avLst/>
          </a:prstGeom>
          <a:noFill/>
          <a:ln/>
        </p:spPr>
        <p:txBody>
          <a:bodyPr wrap="square" lIns="254" tIns="254" rIns="254" bIns="254" rtlCol="0" anchor="t"/>
          <a:lstStyle/>
          <a:p>
            <a:pPr marL="177800" indent="-177800">
              <a:spcAft>
                <a:spcPts val="800"/>
              </a:spcAft>
              <a:buSzPct val="100000"/>
              <a:buChar char="•"/>
            </a:pPr>
            <a:r>
              <a:rPr lang="en-US" sz="1400" dirty="0">
                <a:solidFill>
                  <a:srgbClr val="1F1F1F"/>
                </a:solidFill>
                <a:latin typeface="Tahoma" pitchFamily="34" charset="0"/>
                <a:ea typeface="Tahoma" pitchFamily="34" charset="-122"/>
                <a:cs typeface="Tahoma" pitchFamily="34" charset="-120"/>
              </a:rPr>
              <a:t>a nhỏ: ρa ≈ ρ₁ = 100 Ω·m</a:t>
            </a:r>
            <a:endParaRPr lang="en-US" sz="1400" dirty="0"/>
          </a:p>
          <a:p>
            <a:pPr marL="177800" indent="-177800">
              <a:spcAft>
                <a:spcPts val="800"/>
              </a:spcAft>
              <a:buSzPct val="100000"/>
              <a:buChar char="•"/>
            </a:pPr>
            <a:r>
              <a:rPr lang="en-US" sz="1400" dirty="0">
                <a:solidFill>
                  <a:srgbClr val="1F1F1F"/>
                </a:solidFill>
                <a:latin typeface="Tahoma" pitchFamily="34" charset="0"/>
                <a:ea typeface="Tahoma" pitchFamily="34" charset="-122"/>
                <a:cs typeface="Tahoma" pitchFamily="34" charset="-120"/>
              </a:rPr>
              <a:t>a lớn: ρa tiến về ρ₂ của lớp dưới</a:t>
            </a:r>
            <a:endParaRPr lang="en-US" sz="1400" dirty="0"/>
          </a:p>
          <a:p>
            <a:pPr marL="177800" indent="-177800">
              <a:spcAft>
                <a:spcPts val="800"/>
              </a:spcAft>
              <a:buSzPct val="100000"/>
              <a:buChar char="•"/>
            </a:pPr>
            <a:r>
              <a:rPr lang="en-US" sz="1400" dirty="0">
                <a:solidFill>
                  <a:srgbClr val="1F1F1F"/>
                </a:solidFill>
                <a:latin typeface="Tahoma" pitchFamily="34" charset="0"/>
                <a:ea typeface="Tahoma" pitchFamily="34" charset="-122"/>
                <a:cs typeface="Tahoma" pitchFamily="34" charset="-120"/>
              </a:rPr>
              <a:t>a = 10 m: 225 Ω·m (đá gốc) hoặc 34 Ω·m (sét)</a:t>
            </a:r>
            <a:endParaRPr lang="en-US" sz="1400" dirty="0"/>
          </a:p>
          <a:p>
            <a:pPr marL="177800" indent="-177800">
              <a:spcAft>
                <a:spcPts val="800"/>
              </a:spcAft>
              <a:buSzPct val="100000"/>
              <a:buChar char="•"/>
            </a:pPr>
            <a:r>
              <a:rPr lang="en-US" sz="1400" dirty="0">
                <a:solidFill>
                  <a:srgbClr val="1F1F1F"/>
                </a:solidFill>
                <a:latin typeface="Tahoma" pitchFamily="34" charset="0"/>
                <a:ea typeface="Tahoma" pitchFamily="34" charset="-122"/>
                <a:cs typeface="Tahoma" pitchFamily="34" charset="-120"/>
              </a:rPr>
              <a:t>Điểm uốn cho biết độ sâu ranh giới</a:t>
            </a:r>
            <a:endParaRPr lang="en-US" sz="1400" dirty="0"/>
          </a:p>
          <a:p>
            <a:pPr marL="177800" indent="-177800">
              <a:spcAft>
                <a:spcPts val="800"/>
              </a:spcAft>
              <a:buSzPct val="100000"/>
              <a:buChar char="•"/>
            </a:pPr>
            <a:r>
              <a:rPr lang="en-US" sz="1400" dirty="0">
                <a:solidFill>
                  <a:srgbClr val="1F1F1F"/>
                </a:solidFill>
                <a:latin typeface="Tahoma" pitchFamily="34" charset="0"/>
                <a:ea typeface="Tahoma" pitchFamily="34" charset="-122"/>
                <a:cs typeface="Tahoma" pitchFamily="34" charset="-120"/>
              </a:rPr>
              <a:t>Giải ngược: tìm ρ₁, ρ₂, h khớp đường cong đo</a:t>
            </a:r>
            <a:endParaRPr lang="en-US" sz="14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6. Đo ảnh điện 2D với hệ LUND</a:t>
            </a:r>
            <a:endParaRPr lang="en-US" sz="2800" dirty="0"/>
          </a:p>
        </p:txBody>
      </p:sp>
      <p:sp>
        <p:nvSpPr>
          <p:cNvPr id="3" name="Shape 1"/>
          <p:cNvSpPr/>
          <p:nvPr/>
        </p:nvSpPr>
        <p:spPr>
          <a:xfrm>
            <a:off x="640080" y="1940052"/>
            <a:ext cx="3361944" cy="1283208"/>
          </a:xfrm>
          <a:prstGeom prst="roundRect">
            <a:avLst>
              <a:gd name="adj" fmla="val 5701"/>
            </a:avLst>
          </a:prstGeom>
          <a:solidFill>
            <a:srgbClr val="DCE8F7"/>
          </a:solidFill>
          <a:ln w="12700">
            <a:solidFill>
              <a:srgbClr val="7FA6D6"/>
            </a:solidFill>
            <a:prstDash val="solid"/>
          </a:ln>
        </p:spPr>
      </p:sp>
      <p:sp>
        <p:nvSpPr>
          <p:cNvPr id="4" name="Text 2"/>
          <p:cNvSpPr txBox="1"/>
          <p:nvPr/>
        </p:nvSpPr>
        <p:spPr>
          <a:xfrm>
            <a:off x="749808" y="2191512"/>
            <a:ext cx="3142488" cy="259080"/>
          </a:xfrm>
          <a:prstGeom prst="rect">
            <a:avLst/>
          </a:prstGeom>
          <a:noFill/>
          <a:ln/>
        </p:spPr>
        <p:txBody>
          <a:bodyPr wrap="square" lIns="508" tIns="508" rIns="508" bIns="508" rtlCol="0" anchor="ctr"/>
          <a:lstStyle/>
          <a:p>
            <a:pPr algn="ctr" indent="0" marL="0">
              <a:buNone/>
            </a:pPr>
            <a:r>
              <a:rPr lang="en-US" sz="1400" b="1" dirty="0">
                <a:solidFill>
                  <a:srgbClr val="234782"/>
                </a:solidFill>
                <a:latin typeface="Tahoma" pitchFamily="34" charset="0"/>
                <a:ea typeface="Tahoma" pitchFamily="34" charset="-122"/>
                <a:cs typeface="Tahoma" pitchFamily="34" charset="-120"/>
              </a:rPr>
              <a:t>1. Rải cáp</a:t>
            </a:r>
            <a:endParaRPr lang="en-US" sz="1400" dirty="0"/>
          </a:p>
        </p:txBody>
      </p:sp>
      <p:sp>
        <p:nvSpPr>
          <p:cNvPr id="5" name="Text 3"/>
          <p:cNvSpPr txBox="1"/>
          <p:nvPr/>
        </p:nvSpPr>
        <p:spPr>
          <a:xfrm>
            <a:off x="749808" y="2560320"/>
            <a:ext cx="3142488" cy="411480"/>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4 cáp × 21 điểm nối; máy giữa cáp 2 và 3</a:t>
            </a:r>
            <a:endParaRPr lang="en-US" sz="1200" dirty="0"/>
          </a:p>
        </p:txBody>
      </p:sp>
      <p:sp>
        <p:nvSpPr>
          <p:cNvPr id="6" name="Shape 4"/>
          <p:cNvSpPr/>
          <p:nvPr/>
        </p:nvSpPr>
        <p:spPr>
          <a:xfrm>
            <a:off x="4056888" y="2581656"/>
            <a:ext cx="301752" cy="0"/>
          </a:xfrm>
          <a:prstGeom prst="line">
            <a:avLst/>
          </a:prstGeom>
          <a:noFill/>
          <a:ln w="38100">
            <a:solidFill>
              <a:srgbClr val="234782"/>
            </a:solidFill>
            <a:prstDash val="solid"/>
            <a:tailEnd type="triangle"/>
          </a:ln>
        </p:spPr>
      </p:sp>
      <p:sp>
        <p:nvSpPr>
          <p:cNvPr id="7" name="Shape 5"/>
          <p:cNvSpPr/>
          <p:nvPr/>
        </p:nvSpPr>
        <p:spPr>
          <a:xfrm>
            <a:off x="4413504" y="1940052"/>
            <a:ext cx="3361944" cy="1283208"/>
          </a:xfrm>
          <a:prstGeom prst="roundRect">
            <a:avLst>
              <a:gd name="adj" fmla="val 5701"/>
            </a:avLst>
          </a:prstGeom>
          <a:solidFill>
            <a:srgbClr val="DCE8F7"/>
          </a:solidFill>
          <a:ln w="12700">
            <a:solidFill>
              <a:srgbClr val="7FA6D6"/>
            </a:solidFill>
            <a:prstDash val="solid"/>
          </a:ln>
        </p:spPr>
      </p:sp>
      <p:sp>
        <p:nvSpPr>
          <p:cNvPr id="8" name="Text 6"/>
          <p:cNvSpPr txBox="1"/>
          <p:nvPr/>
        </p:nvSpPr>
        <p:spPr>
          <a:xfrm>
            <a:off x="4523232" y="2191512"/>
            <a:ext cx="3142488" cy="259080"/>
          </a:xfrm>
          <a:prstGeom prst="rect">
            <a:avLst/>
          </a:prstGeom>
          <a:noFill/>
          <a:ln/>
        </p:spPr>
        <p:txBody>
          <a:bodyPr wrap="square" lIns="508" tIns="508" rIns="508" bIns="508" rtlCol="0" anchor="ctr"/>
          <a:lstStyle/>
          <a:p>
            <a:pPr algn="ctr" indent="0" marL="0">
              <a:buNone/>
            </a:pPr>
            <a:r>
              <a:rPr lang="en-US" sz="1400" b="1" dirty="0">
                <a:solidFill>
                  <a:srgbClr val="234782"/>
                </a:solidFill>
                <a:latin typeface="Tahoma" pitchFamily="34" charset="0"/>
                <a:ea typeface="Tahoma" pitchFamily="34" charset="-122"/>
                <a:cs typeface="Tahoma" pitchFamily="34" charset="-120"/>
              </a:rPr>
              <a:t>2. Cắm cực</a:t>
            </a:r>
            <a:endParaRPr lang="en-US" sz="1400" dirty="0"/>
          </a:p>
        </p:txBody>
      </p:sp>
      <p:sp>
        <p:nvSpPr>
          <p:cNvPr id="9" name="Text 7"/>
          <p:cNvSpPr txBox="1"/>
          <p:nvPr/>
        </p:nvSpPr>
        <p:spPr>
          <a:xfrm>
            <a:off x="4523232" y="2560320"/>
            <a:ext cx="3142488" cy="411480"/>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Khoảng cách đều, ví dụ 2 m; kẹp vào cáp</a:t>
            </a:r>
            <a:endParaRPr lang="en-US" sz="1200" dirty="0"/>
          </a:p>
        </p:txBody>
      </p:sp>
      <p:sp>
        <p:nvSpPr>
          <p:cNvPr id="10" name="Shape 8"/>
          <p:cNvSpPr/>
          <p:nvPr/>
        </p:nvSpPr>
        <p:spPr>
          <a:xfrm>
            <a:off x="7830312" y="2581656"/>
            <a:ext cx="301752" cy="0"/>
          </a:xfrm>
          <a:prstGeom prst="line">
            <a:avLst/>
          </a:prstGeom>
          <a:noFill/>
          <a:ln w="38100">
            <a:solidFill>
              <a:srgbClr val="234782"/>
            </a:solidFill>
            <a:prstDash val="solid"/>
            <a:tailEnd type="triangle"/>
          </a:ln>
        </p:spPr>
      </p:sp>
      <p:sp>
        <p:nvSpPr>
          <p:cNvPr id="11" name="Shape 9"/>
          <p:cNvSpPr/>
          <p:nvPr/>
        </p:nvSpPr>
        <p:spPr>
          <a:xfrm>
            <a:off x="8186928" y="1940052"/>
            <a:ext cx="3361944" cy="1283208"/>
          </a:xfrm>
          <a:prstGeom prst="roundRect">
            <a:avLst>
              <a:gd name="adj" fmla="val 5701"/>
            </a:avLst>
          </a:prstGeom>
          <a:solidFill>
            <a:srgbClr val="DCE8F7"/>
          </a:solidFill>
          <a:ln w="12700">
            <a:solidFill>
              <a:srgbClr val="7FA6D6"/>
            </a:solidFill>
            <a:prstDash val="solid"/>
          </a:ln>
        </p:spPr>
      </p:sp>
      <p:sp>
        <p:nvSpPr>
          <p:cNvPr id="12" name="Text 10"/>
          <p:cNvSpPr txBox="1"/>
          <p:nvPr/>
        </p:nvSpPr>
        <p:spPr>
          <a:xfrm>
            <a:off x="8296656" y="2191512"/>
            <a:ext cx="3142488" cy="259080"/>
          </a:xfrm>
          <a:prstGeom prst="rect">
            <a:avLst/>
          </a:prstGeom>
          <a:noFill/>
          <a:ln/>
        </p:spPr>
        <p:txBody>
          <a:bodyPr wrap="square" lIns="508" tIns="508" rIns="508" bIns="508" rtlCol="0" anchor="ctr"/>
          <a:lstStyle/>
          <a:p>
            <a:pPr algn="ctr" indent="0" marL="0">
              <a:buNone/>
            </a:pPr>
            <a:r>
              <a:rPr lang="en-US" sz="1400" b="1" dirty="0">
                <a:solidFill>
                  <a:srgbClr val="234782"/>
                </a:solidFill>
                <a:latin typeface="Tahoma" pitchFamily="34" charset="0"/>
                <a:ea typeface="Tahoma" pitchFamily="34" charset="-122"/>
                <a:cs typeface="Tahoma" pitchFamily="34" charset="-120"/>
              </a:rPr>
              <a:t>3. Kiểm tra tiếp đất</a:t>
            </a:r>
            <a:endParaRPr lang="en-US" sz="1400" dirty="0"/>
          </a:p>
        </p:txBody>
      </p:sp>
      <p:sp>
        <p:nvSpPr>
          <p:cNvPr id="13" name="Text 11"/>
          <p:cNvSpPr txBox="1"/>
          <p:nvPr/>
        </p:nvSpPr>
        <p:spPr>
          <a:xfrm>
            <a:off x="8296656" y="2560320"/>
            <a:ext cx="3142488" cy="411480"/>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Electrode test từng cặp cực</a:t>
            </a:r>
            <a:endParaRPr lang="en-US" sz="1200" dirty="0"/>
          </a:p>
        </p:txBody>
      </p:sp>
      <p:sp>
        <p:nvSpPr>
          <p:cNvPr id="14" name="Shape 12"/>
          <p:cNvSpPr/>
          <p:nvPr/>
        </p:nvSpPr>
        <p:spPr>
          <a:xfrm>
            <a:off x="9867900" y="3296412"/>
            <a:ext cx="0" cy="585216"/>
          </a:xfrm>
          <a:prstGeom prst="line">
            <a:avLst/>
          </a:prstGeom>
          <a:noFill/>
          <a:ln w="38100">
            <a:solidFill>
              <a:srgbClr val="234782"/>
            </a:solidFill>
            <a:prstDash val="solid"/>
            <a:tailEnd type="triangle"/>
          </a:ln>
        </p:spPr>
      </p:sp>
      <p:sp>
        <p:nvSpPr>
          <p:cNvPr id="15" name="Shape 13"/>
          <p:cNvSpPr/>
          <p:nvPr/>
        </p:nvSpPr>
        <p:spPr>
          <a:xfrm>
            <a:off x="8186928" y="3954780"/>
            <a:ext cx="3361944" cy="1283208"/>
          </a:xfrm>
          <a:prstGeom prst="roundRect">
            <a:avLst>
              <a:gd name="adj" fmla="val 5701"/>
            </a:avLst>
          </a:prstGeom>
          <a:solidFill>
            <a:srgbClr val="E6F3E9"/>
          </a:solidFill>
          <a:ln w="12700">
            <a:solidFill>
              <a:srgbClr val="8CC49A"/>
            </a:solidFill>
            <a:prstDash val="solid"/>
          </a:ln>
        </p:spPr>
      </p:sp>
      <p:sp>
        <p:nvSpPr>
          <p:cNvPr id="16" name="Text 14"/>
          <p:cNvSpPr txBox="1"/>
          <p:nvPr/>
        </p:nvSpPr>
        <p:spPr>
          <a:xfrm>
            <a:off x="8296656" y="4206240"/>
            <a:ext cx="3142488" cy="259080"/>
          </a:xfrm>
          <a:prstGeom prst="rect">
            <a:avLst/>
          </a:prstGeom>
          <a:noFill/>
          <a:ln/>
        </p:spPr>
        <p:txBody>
          <a:bodyPr wrap="square" lIns="508" tIns="508" rIns="508" bIns="508" rtlCol="0" anchor="ctr"/>
          <a:lstStyle/>
          <a:p>
            <a:pPr algn="ctr" indent="0" marL="0">
              <a:buNone/>
            </a:pPr>
            <a:r>
              <a:rPr lang="en-US" sz="1400" b="1" dirty="0">
                <a:solidFill>
                  <a:srgbClr val="234782"/>
                </a:solidFill>
                <a:latin typeface="Tahoma" pitchFamily="34" charset="0"/>
                <a:ea typeface="Tahoma" pitchFamily="34" charset="-122"/>
                <a:cs typeface="Tahoma" pitchFamily="34" charset="-120"/>
              </a:rPr>
              <a:t>4. Chọn protocol</a:t>
            </a:r>
            <a:endParaRPr lang="en-US" sz="1400" dirty="0"/>
          </a:p>
        </p:txBody>
      </p:sp>
      <p:sp>
        <p:nvSpPr>
          <p:cNvPr id="17" name="Text 15"/>
          <p:cNvSpPr txBox="1"/>
          <p:nvPr/>
        </p:nvSpPr>
        <p:spPr>
          <a:xfrm>
            <a:off x="8296656" y="4575048"/>
            <a:ext cx="3142488" cy="411480"/>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WENNER_L, GRAD4L8…; dòng ≥ 20 mA</a:t>
            </a:r>
            <a:endParaRPr lang="en-US" sz="1200" dirty="0"/>
          </a:p>
        </p:txBody>
      </p:sp>
      <p:sp>
        <p:nvSpPr>
          <p:cNvPr id="18" name="Shape 16"/>
          <p:cNvSpPr/>
          <p:nvPr/>
        </p:nvSpPr>
        <p:spPr>
          <a:xfrm flipH="1">
            <a:off x="7830312" y="4596384"/>
            <a:ext cx="301752" cy="0"/>
          </a:xfrm>
          <a:prstGeom prst="line">
            <a:avLst/>
          </a:prstGeom>
          <a:noFill/>
          <a:ln w="38100">
            <a:solidFill>
              <a:srgbClr val="234782"/>
            </a:solidFill>
            <a:prstDash val="solid"/>
            <a:tailEnd type="triangle"/>
          </a:ln>
        </p:spPr>
      </p:sp>
      <p:sp>
        <p:nvSpPr>
          <p:cNvPr id="19" name="Shape 17"/>
          <p:cNvSpPr/>
          <p:nvPr/>
        </p:nvSpPr>
        <p:spPr>
          <a:xfrm>
            <a:off x="4413504" y="3954780"/>
            <a:ext cx="3361944" cy="1283208"/>
          </a:xfrm>
          <a:prstGeom prst="roundRect">
            <a:avLst>
              <a:gd name="adj" fmla="val 5701"/>
            </a:avLst>
          </a:prstGeom>
          <a:solidFill>
            <a:srgbClr val="E6F3E9"/>
          </a:solidFill>
          <a:ln w="12700">
            <a:solidFill>
              <a:srgbClr val="8CC49A"/>
            </a:solidFill>
            <a:prstDash val="solid"/>
          </a:ln>
        </p:spPr>
      </p:sp>
      <p:sp>
        <p:nvSpPr>
          <p:cNvPr id="20" name="Text 18"/>
          <p:cNvSpPr txBox="1"/>
          <p:nvPr/>
        </p:nvSpPr>
        <p:spPr>
          <a:xfrm>
            <a:off x="4523232" y="4206240"/>
            <a:ext cx="3142488" cy="259080"/>
          </a:xfrm>
          <a:prstGeom prst="rect">
            <a:avLst/>
          </a:prstGeom>
          <a:noFill/>
          <a:ln/>
        </p:spPr>
        <p:txBody>
          <a:bodyPr wrap="square" lIns="508" tIns="508" rIns="508" bIns="508" rtlCol="0" anchor="ctr"/>
          <a:lstStyle/>
          <a:p>
            <a:pPr algn="ctr" indent="0" marL="0">
              <a:buNone/>
            </a:pPr>
            <a:r>
              <a:rPr lang="en-US" sz="1400" b="1" dirty="0">
                <a:solidFill>
                  <a:srgbClr val="234782"/>
                </a:solidFill>
                <a:latin typeface="Tahoma" pitchFamily="34" charset="0"/>
                <a:ea typeface="Tahoma" pitchFamily="34" charset="-122"/>
                <a:cs typeface="Tahoma" pitchFamily="34" charset="-120"/>
              </a:rPr>
              <a:t>5. Đo tự động</a:t>
            </a:r>
            <a:endParaRPr lang="en-US" sz="1400" dirty="0"/>
          </a:p>
        </p:txBody>
      </p:sp>
      <p:sp>
        <p:nvSpPr>
          <p:cNvPr id="21" name="Text 19"/>
          <p:cNvSpPr txBox="1"/>
          <p:nvPr/>
        </p:nvSpPr>
        <p:spPr>
          <a:xfrm>
            <a:off x="4523232" y="4575048"/>
            <a:ext cx="3142488" cy="411480"/>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Máy tự chuyển cực, lưu dữ liệu</a:t>
            </a:r>
            <a:endParaRPr lang="en-US" sz="1200" dirty="0"/>
          </a:p>
        </p:txBody>
      </p:sp>
      <p:sp>
        <p:nvSpPr>
          <p:cNvPr id="22" name="Shape 20"/>
          <p:cNvSpPr/>
          <p:nvPr/>
        </p:nvSpPr>
        <p:spPr>
          <a:xfrm flipH="1">
            <a:off x="4056888" y="4596384"/>
            <a:ext cx="301752" cy="0"/>
          </a:xfrm>
          <a:prstGeom prst="line">
            <a:avLst/>
          </a:prstGeom>
          <a:noFill/>
          <a:ln w="38100">
            <a:solidFill>
              <a:srgbClr val="234782"/>
            </a:solidFill>
            <a:prstDash val="solid"/>
            <a:tailEnd type="triangle"/>
          </a:ln>
        </p:spPr>
      </p:sp>
      <p:sp>
        <p:nvSpPr>
          <p:cNvPr id="23" name="Shape 21"/>
          <p:cNvSpPr/>
          <p:nvPr/>
        </p:nvSpPr>
        <p:spPr>
          <a:xfrm>
            <a:off x="640080" y="3954780"/>
            <a:ext cx="3361944" cy="1283208"/>
          </a:xfrm>
          <a:prstGeom prst="roundRect">
            <a:avLst>
              <a:gd name="adj" fmla="val 5701"/>
            </a:avLst>
          </a:prstGeom>
          <a:solidFill>
            <a:srgbClr val="E6F3E9"/>
          </a:solidFill>
          <a:ln w="12700">
            <a:solidFill>
              <a:srgbClr val="8CC49A"/>
            </a:solidFill>
            <a:prstDash val="solid"/>
          </a:ln>
        </p:spPr>
      </p:sp>
      <p:sp>
        <p:nvSpPr>
          <p:cNvPr id="24" name="Text 22"/>
          <p:cNvSpPr txBox="1"/>
          <p:nvPr/>
        </p:nvSpPr>
        <p:spPr>
          <a:xfrm>
            <a:off x="749808" y="4206240"/>
            <a:ext cx="3142488" cy="259080"/>
          </a:xfrm>
          <a:prstGeom prst="rect">
            <a:avLst/>
          </a:prstGeom>
          <a:noFill/>
          <a:ln/>
        </p:spPr>
        <p:txBody>
          <a:bodyPr wrap="square" lIns="508" tIns="508" rIns="508" bIns="508" rtlCol="0" anchor="ctr"/>
          <a:lstStyle/>
          <a:p>
            <a:pPr algn="ctr" indent="0" marL="0">
              <a:buNone/>
            </a:pPr>
            <a:r>
              <a:rPr lang="en-US" sz="1400" b="1" dirty="0">
                <a:solidFill>
                  <a:srgbClr val="234782"/>
                </a:solidFill>
                <a:latin typeface="Tahoma" pitchFamily="34" charset="0"/>
                <a:ea typeface="Tahoma" pitchFamily="34" charset="-122"/>
                <a:cs typeface="Tahoma" pitchFamily="34" charset="-120"/>
              </a:rPr>
              <a:t>6. Cuốn chiếu</a:t>
            </a:r>
            <a:endParaRPr lang="en-US" sz="1400" dirty="0"/>
          </a:p>
        </p:txBody>
      </p:sp>
      <p:sp>
        <p:nvSpPr>
          <p:cNvPr id="25" name="Text 23"/>
          <p:cNvSpPr txBox="1"/>
          <p:nvPr/>
        </p:nvSpPr>
        <p:spPr>
          <a:xfrm>
            <a:off x="749808" y="4575048"/>
            <a:ext cx="3142488" cy="411480"/>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Roll-along khi tuyến dài hơn 4 cáp</a:t>
            </a:r>
            <a:endParaRPr lang="en-US" sz="1200" dirty="0"/>
          </a:p>
        </p:txBody>
      </p:sp>
      <p:sp>
        <p:nvSpPr>
          <p:cNvPr id="26" name="Text 24"/>
          <p:cNvSpPr txBox="1"/>
          <p:nvPr/>
        </p:nvSpPr>
        <p:spPr>
          <a:xfrm>
            <a:off x="640080" y="5394960"/>
            <a:ext cx="10908792" cy="640080"/>
          </a:xfrm>
          <a:prstGeom prst="rect">
            <a:avLst/>
          </a:prstGeom>
          <a:noFill/>
          <a:ln/>
        </p:spPr>
        <p:txBody>
          <a:bodyPr wrap="square" lIns="508" tIns="508" rIns="508" bIns="508" rtlCol="0" anchor="ctr"/>
          <a:lstStyle/>
          <a:p>
            <a:pPr indent="0" marL="0">
              <a:buNone/>
            </a:pPr>
            <a:r>
              <a:rPr lang="en-US" sz="1600" b="1" dirty="0">
                <a:solidFill>
                  <a:srgbClr val="0086CA"/>
                </a:solidFill>
                <a:latin typeface="Tahoma" pitchFamily="34" charset="0"/>
                <a:ea typeface="Tahoma" pitchFamily="34" charset="-122"/>
                <a:cs typeface="Tahoma" pitchFamily="34" charset="-120"/>
              </a:rPr>
              <a:t>→ Kết quả là mặt cắt ρa giả theo độ sâu; giải ngược bằng RES2DINV ra mặt cắt điện trở suất thật [6]</a:t>
            </a:r>
            <a:endParaRPr lang="en-US" sz="16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7. Xử lý số liệu</a:t>
            </a:r>
            <a:endParaRPr lang="en-US" sz="2800" dirty="0"/>
          </a:p>
        </p:txBody>
      </p:sp>
      <p:sp>
        <p:nvSpPr>
          <p:cNvPr id="3" name="Shape 1"/>
          <p:cNvSpPr/>
          <p:nvPr/>
        </p:nvSpPr>
        <p:spPr>
          <a:xfrm>
            <a:off x="640080" y="1005840"/>
            <a:ext cx="566928" cy="566928"/>
          </a:xfrm>
          <a:prstGeom prst="ellipse">
            <a:avLst/>
          </a:prstGeom>
          <a:solidFill>
            <a:srgbClr val="234782"/>
          </a:solidFill>
          <a:ln w="12700">
            <a:solidFill>
              <a:srgbClr val="234782"/>
            </a:solidFill>
            <a:prstDash val="solid"/>
          </a:ln>
        </p:spPr>
      </p:sp>
      <p:pic>
        <p:nvPicPr>
          <p:cNvPr id="4" name="Image 0" descr="preencoded.png">    </p:cNvPr>
          <p:cNvPicPr>
            <a:picLocks noChangeAspect="1"/>
          </p:cNvPicPr>
          <p:nvPr/>
        </p:nvPicPr>
        <p:blipFill>
          <a:blip r:embed="rId1"/>
          <a:stretch>
            <a:fillRect/>
          </a:stretch>
        </p:blipFill>
        <p:spPr>
          <a:xfrm>
            <a:off x="764804" y="1130564"/>
            <a:ext cx="317480" cy="317480"/>
          </a:xfrm>
          <a:prstGeom prst="rect">
            <a:avLst/>
          </a:prstGeom>
        </p:spPr>
      </p:pic>
      <p:sp>
        <p:nvSpPr>
          <p:cNvPr id="5" name="Text 2"/>
          <p:cNvSpPr txBox="1"/>
          <p:nvPr/>
        </p:nvSpPr>
        <p:spPr>
          <a:xfrm>
            <a:off x="1435608" y="960120"/>
            <a:ext cx="4965192" cy="292608"/>
          </a:xfrm>
          <a:prstGeom prst="rect">
            <a:avLst/>
          </a:prstGeom>
          <a:noFill/>
          <a:ln/>
        </p:spPr>
        <p:txBody>
          <a:bodyPr wrap="square" lIns="508" tIns="508" rIns="508" bIns="508" rtlCol="0" anchor="t"/>
          <a:lstStyle/>
          <a:p>
            <a:pPr indent="0" marL="0">
              <a:buNone/>
            </a:pPr>
            <a:r>
              <a:rPr lang="en-US" sz="1400" b="1" dirty="0">
                <a:solidFill>
                  <a:srgbClr val="234782"/>
                </a:solidFill>
                <a:latin typeface="Tahoma" pitchFamily="34" charset="0"/>
                <a:ea typeface="Tahoma" pitchFamily="34" charset="-122"/>
                <a:cs typeface="Tahoma" pitchFamily="34" charset="-120"/>
              </a:rPr>
              <a:t>Tải dữ liệu</a:t>
            </a:r>
            <a:endParaRPr lang="en-US" sz="1400" dirty="0"/>
          </a:p>
        </p:txBody>
      </p:sp>
      <p:sp>
        <p:nvSpPr>
          <p:cNvPr id="6" name="Text 3"/>
          <p:cNvSpPr txBox="1"/>
          <p:nvPr/>
        </p:nvSpPr>
        <p:spPr>
          <a:xfrm>
            <a:off x="1435608" y="1252728"/>
            <a:ext cx="4965192" cy="685800"/>
          </a:xfrm>
          <a:prstGeom prst="rect">
            <a:avLst/>
          </a:prstGeom>
          <a:noFill/>
          <a:ln/>
        </p:spPr>
        <p:txBody>
          <a:bodyPr wrap="square" lIns="508" tIns="508" rIns="508" bIns="508" rtlCol="0" anchor="t"/>
          <a:lstStyle/>
          <a:p>
            <a:pPr indent="0" marL="0">
              <a:buNone/>
            </a:pPr>
            <a:r>
              <a:rPr lang="en-US" sz="1400" dirty="0">
                <a:solidFill>
                  <a:srgbClr val="1F1F1F"/>
                </a:solidFill>
                <a:latin typeface="Tahoma" pitchFamily="34" charset="0"/>
                <a:ea typeface="Tahoma" pitchFamily="34" charset="-122"/>
                <a:cs typeface="Tahoma" pitchFamily="34" charset="-120"/>
              </a:rPr>
              <a:t>Qua RS-232/USB vào máy tính</a:t>
            </a:r>
            <a:endParaRPr lang="en-US" sz="1400" dirty="0"/>
          </a:p>
        </p:txBody>
      </p:sp>
      <p:sp>
        <p:nvSpPr>
          <p:cNvPr id="7" name="Shape 4"/>
          <p:cNvSpPr/>
          <p:nvPr/>
        </p:nvSpPr>
        <p:spPr>
          <a:xfrm>
            <a:off x="640080" y="2057400"/>
            <a:ext cx="566928" cy="566928"/>
          </a:xfrm>
          <a:prstGeom prst="ellipse">
            <a:avLst/>
          </a:prstGeom>
          <a:solidFill>
            <a:srgbClr val="234782"/>
          </a:solidFill>
          <a:ln w="12700">
            <a:solidFill>
              <a:srgbClr val="234782"/>
            </a:solidFill>
            <a:prstDash val="solid"/>
          </a:ln>
        </p:spPr>
      </p:sp>
      <p:pic>
        <p:nvPicPr>
          <p:cNvPr id="8" name="Image 1" descr="preencoded.png">    </p:cNvPr>
          <p:cNvPicPr>
            <a:picLocks noChangeAspect="1"/>
          </p:cNvPicPr>
          <p:nvPr/>
        </p:nvPicPr>
        <p:blipFill>
          <a:blip r:embed="rId2"/>
          <a:stretch>
            <a:fillRect/>
          </a:stretch>
        </p:blipFill>
        <p:spPr>
          <a:xfrm>
            <a:off x="764804" y="2182124"/>
            <a:ext cx="317480" cy="317480"/>
          </a:xfrm>
          <a:prstGeom prst="rect">
            <a:avLst/>
          </a:prstGeom>
        </p:spPr>
      </p:pic>
      <p:sp>
        <p:nvSpPr>
          <p:cNvPr id="9" name="Text 5"/>
          <p:cNvSpPr txBox="1"/>
          <p:nvPr/>
        </p:nvSpPr>
        <p:spPr>
          <a:xfrm>
            <a:off x="1435608" y="2011680"/>
            <a:ext cx="4965192" cy="292608"/>
          </a:xfrm>
          <a:prstGeom prst="rect">
            <a:avLst/>
          </a:prstGeom>
          <a:noFill/>
          <a:ln/>
        </p:spPr>
        <p:txBody>
          <a:bodyPr wrap="square" lIns="508" tIns="508" rIns="508" bIns="508" rtlCol="0" anchor="t"/>
          <a:lstStyle/>
          <a:p>
            <a:pPr indent="0" marL="0">
              <a:buNone/>
            </a:pPr>
            <a:r>
              <a:rPr lang="en-US" sz="1400" b="1" dirty="0">
                <a:solidFill>
                  <a:srgbClr val="234782"/>
                </a:solidFill>
                <a:latin typeface="Tahoma" pitchFamily="34" charset="0"/>
                <a:ea typeface="Tahoma" pitchFamily="34" charset="-122"/>
                <a:cs typeface="Tahoma" pitchFamily="34" charset="-120"/>
              </a:rPr>
              <a:t>Lọc</a:t>
            </a:r>
            <a:endParaRPr lang="en-US" sz="1400" dirty="0"/>
          </a:p>
        </p:txBody>
      </p:sp>
      <p:sp>
        <p:nvSpPr>
          <p:cNvPr id="10" name="Text 6"/>
          <p:cNvSpPr txBox="1"/>
          <p:nvPr/>
        </p:nvSpPr>
        <p:spPr>
          <a:xfrm>
            <a:off x="1435608" y="2304288"/>
            <a:ext cx="4965192" cy="685800"/>
          </a:xfrm>
          <a:prstGeom prst="rect">
            <a:avLst/>
          </a:prstGeom>
          <a:noFill/>
          <a:ln/>
        </p:spPr>
        <p:txBody>
          <a:bodyPr wrap="square" lIns="508" tIns="508" rIns="508" bIns="508" rtlCol="0" anchor="t"/>
          <a:lstStyle/>
          <a:p>
            <a:pPr indent="0" marL="0">
              <a:buNone/>
            </a:pPr>
            <a:r>
              <a:rPr lang="en-US" sz="1400" dirty="0">
                <a:solidFill>
                  <a:srgbClr val="1F1F1F"/>
                </a:solidFill>
                <a:latin typeface="Tahoma" pitchFamily="34" charset="0"/>
                <a:ea typeface="Tahoma" pitchFamily="34" charset="-122"/>
                <a:cs typeface="Tahoma" pitchFamily="34" charset="-120"/>
              </a:rPr>
              <a:t>Bỏ điểm S.Dev lớn, R âm, điểm lệch hẳn đường cong</a:t>
            </a:r>
            <a:endParaRPr lang="en-US" sz="1400" dirty="0"/>
          </a:p>
        </p:txBody>
      </p:sp>
      <p:sp>
        <p:nvSpPr>
          <p:cNvPr id="11" name="Shape 7"/>
          <p:cNvSpPr/>
          <p:nvPr/>
        </p:nvSpPr>
        <p:spPr>
          <a:xfrm>
            <a:off x="640080" y="3108960"/>
            <a:ext cx="566928" cy="566928"/>
          </a:xfrm>
          <a:prstGeom prst="ellipse">
            <a:avLst/>
          </a:prstGeom>
          <a:solidFill>
            <a:srgbClr val="234782"/>
          </a:solidFill>
          <a:ln w="12700">
            <a:solidFill>
              <a:srgbClr val="234782"/>
            </a:solidFill>
            <a:prstDash val="solid"/>
          </a:ln>
        </p:spPr>
      </p:sp>
      <p:pic>
        <p:nvPicPr>
          <p:cNvPr id="12" name="Image 2" descr="preencoded.png">    </p:cNvPr>
          <p:cNvPicPr>
            <a:picLocks noChangeAspect="1"/>
          </p:cNvPicPr>
          <p:nvPr/>
        </p:nvPicPr>
        <p:blipFill>
          <a:blip r:embed="rId3"/>
          <a:stretch>
            <a:fillRect/>
          </a:stretch>
        </p:blipFill>
        <p:spPr>
          <a:xfrm>
            <a:off x="764804" y="3233684"/>
            <a:ext cx="317480" cy="317480"/>
          </a:xfrm>
          <a:prstGeom prst="rect">
            <a:avLst/>
          </a:prstGeom>
        </p:spPr>
      </p:pic>
      <p:sp>
        <p:nvSpPr>
          <p:cNvPr id="13" name="Text 8"/>
          <p:cNvSpPr txBox="1"/>
          <p:nvPr/>
        </p:nvSpPr>
        <p:spPr>
          <a:xfrm>
            <a:off x="1435608" y="3063240"/>
            <a:ext cx="4965192" cy="292608"/>
          </a:xfrm>
          <a:prstGeom prst="rect">
            <a:avLst/>
          </a:prstGeom>
          <a:noFill/>
          <a:ln/>
        </p:spPr>
        <p:txBody>
          <a:bodyPr wrap="square" lIns="508" tIns="508" rIns="508" bIns="508" rtlCol="0" anchor="t"/>
          <a:lstStyle/>
          <a:p>
            <a:pPr indent="0" marL="0">
              <a:buNone/>
            </a:pPr>
            <a:r>
              <a:rPr lang="en-US" sz="1400" b="1" dirty="0">
                <a:solidFill>
                  <a:srgbClr val="234782"/>
                </a:solidFill>
                <a:latin typeface="Tahoma" pitchFamily="34" charset="0"/>
                <a:ea typeface="Tahoma" pitchFamily="34" charset="-122"/>
                <a:cs typeface="Tahoma" pitchFamily="34" charset="-120"/>
              </a:rPr>
              <a:t>VES</a:t>
            </a:r>
            <a:endParaRPr lang="en-US" sz="1400" dirty="0"/>
          </a:p>
        </p:txBody>
      </p:sp>
      <p:sp>
        <p:nvSpPr>
          <p:cNvPr id="14" name="Text 9"/>
          <p:cNvSpPr txBox="1"/>
          <p:nvPr/>
        </p:nvSpPr>
        <p:spPr>
          <a:xfrm>
            <a:off x="1435608" y="3355848"/>
            <a:ext cx="4965192" cy="685800"/>
          </a:xfrm>
          <a:prstGeom prst="rect">
            <a:avLst/>
          </a:prstGeom>
          <a:noFill/>
          <a:ln/>
        </p:spPr>
        <p:txBody>
          <a:bodyPr wrap="square" lIns="508" tIns="508" rIns="508" bIns="508" rtlCol="0" anchor="t"/>
          <a:lstStyle/>
          <a:p>
            <a:pPr indent="0" marL="0">
              <a:buNone/>
            </a:pPr>
            <a:r>
              <a:rPr lang="en-US" sz="1400" dirty="0">
                <a:solidFill>
                  <a:srgbClr val="1F1F1F"/>
                </a:solidFill>
                <a:latin typeface="Tahoma" pitchFamily="34" charset="0"/>
                <a:ea typeface="Tahoma" pitchFamily="34" charset="-122"/>
                <a:cs typeface="Tahoma" pitchFamily="34" charset="-120"/>
              </a:rPr>
              <a:t>IPI2Win: giải ngược đường cong → mô hình lớp (ρ, h)</a:t>
            </a:r>
            <a:endParaRPr lang="en-US" sz="1400" dirty="0"/>
          </a:p>
        </p:txBody>
      </p:sp>
      <p:sp>
        <p:nvSpPr>
          <p:cNvPr id="15" name="Shape 10"/>
          <p:cNvSpPr/>
          <p:nvPr/>
        </p:nvSpPr>
        <p:spPr>
          <a:xfrm>
            <a:off x="640080" y="4160520"/>
            <a:ext cx="566928" cy="566928"/>
          </a:xfrm>
          <a:prstGeom prst="ellipse">
            <a:avLst/>
          </a:prstGeom>
          <a:solidFill>
            <a:srgbClr val="234782"/>
          </a:solidFill>
          <a:ln w="12700">
            <a:solidFill>
              <a:srgbClr val="234782"/>
            </a:solidFill>
            <a:prstDash val="solid"/>
          </a:ln>
        </p:spPr>
      </p:sp>
      <p:pic>
        <p:nvPicPr>
          <p:cNvPr id="16" name="Image 3" descr="preencoded.png">    </p:cNvPr>
          <p:cNvPicPr>
            <a:picLocks noChangeAspect="1"/>
          </p:cNvPicPr>
          <p:nvPr/>
        </p:nvPicPr>
        <p:blipFill>
          <a:blip r:embed="rId4"/>
          <a:stretch>
            <a:fillRect/>
          </a:stretch>
        </p:blipFill>
        <p:spPr>
          <a:xfrm>
            <a:off x="764804" y="4285244"/>
            <a:ext cx="317480" cy="317480"/>
          </a:xfrm>
          <a:prstGeom prst="rect">
            <a:avLst/>
          </a:prstGeom>
        </p:spPr>
      </p:pic>
      <p:sp>
        <p:nvSpPr>
          <p:cNvPr id="17" name="Text 11"/>
          <p:cNvSpPr txBox="1"/>
          <p:nvPr/>
        </p:nvSpPr>
        <p:spPr>
          <a:xfrm>
            <a:off x="1435608" y="4114800"/>
            <a:ext cx="4965192" cy="292608"/>
          </a:xfrm>
          <a:prstGeom prst="rect">
            <a:avLst/>
          </a:prstGeom>
          <a:noFill/>
          <a:ln/>
        </p:spPr>
        <p:txBody>
          <a:bodyPr wrap="square" lIns="508" tIns="508" rIns="508" bIns="508" rtlCol="0" anchor="t"/>
          <a:lstStyle/>
          <a:p>
            <a:pPr indent="0" marL="0">
              <a:buNone/>
            </a:pPr>
            <a:r>
              <a:rPr lang="en-US" sz="1400" b="1" dirty="0">
                <a:solidFill>
                  <a:srgbClr val="234782"/>
                </a:solidFill>
                <a:latin typeface="Tahoma" pitchFamily="34" charset="0"/>
                <a:ea typeface="Tahoma" pitchFamily="34" charset="-122"/>
                <a:cs typeface="Tahoma" pitchFamily="34" charset="-120"/>
              </a:rPr>
              <a:t>2D/3D</a:t>
            </a:r>
            <a:endParaRPr lang="en-US" sz="1400" dirty="0"/>
          </a:p>
        </p:txBody>
      </p:sp>
      <p:sp>
        <p:nvSpPr>
          <p:cNvPr id="18" name="Text 12"/>
          <p:cNvSpPr txBox="1"/>
          <p:nvPr/>
        </p:nvSpPr>
        <p:spPr>
          <a:xfrm>
            <a:off x="1435608" y="4407408"/>
            <a:ext cx="4965192" cy="685800"/>
          </a:xfrm>
          <a:prstGeom prst="rect">
            <a:avLst/>
          </a:prstGeom>
          <a:noFill/>
          <a:ln/>
        </p:spPr>
        <p:txBody>
          <a:bodyPr wrap="square" lIns="508" tIns="508" rIns="508" bIns="508" rtlCol="0" anchor="t"/>
          <a:lstStyle/>
          <a:p>
            <a:pPr indent="0" marL="0">
              <a:buNone/>
            </a:pPr>
            <a:r>
              <a:rPr lang="en-US" sz="1400" dirty="0">
                <a:solidFill>
                  <a:srgbClr val="1F1F1F"/>
                </a:solidFill>
                <a:latin typeface="Tahoma" pitchFamily="34" charset="0"/>
                <a:ea typeface="Tahoma" pitchFamily="34" charset="-122"/>
                <a:cs typeface="Tahoma" pitchFamily="34" charset="-120"/>
              </a:rPr>
              <a:t>RES2DINV / RES3DINV: mặt cắt ρ thật [6]</a:t>
            </a:r>
            <a:endParaRPr lang="en-US" sz="1400" dirty="0"/>
          </a:p>
        </p:txBody>
      </p:sp>
      <p:sp>
        <p:nvSpPr>
          <p:cNvPr id="19" name="Shape 13"/>
          <p:cNvSpPr/>
          <p:nvPr/>
        </p:nvSpPr>
        <p:spPr>
          <a:xfrm>
            <a:off x="640080" y="5212080"/>
            <a:ext cx="566928" cy="566928"/>
          </a:xfrm>
          <a:prstGeom prst="ellipse">
            <a:avLst/>
          </a:prstGeom>
          <a:solidFill>
            <a:srgbClr val="234782"/>
          </a:solidFill>
          <a:ln w="12700">
            <a:solidFill>
              <a:srgbClr val="234782"/>
            </a:solidFill>
            <a:prstDash val="solid"/>
          </a:ln>
        </p:spPr>
      </p:sp>
      <p:pic>
        <p:nvPicPr>
          <p:cNvPr id="20" name="Image 4" descr="preencoded.png">    </p:cNvPr>
          <p:cNvPicPr>
            <a:picLocks noChangeAspect="1"/>
          </p:cNvPicPr>
          <p:nvPr/>
        </p:nvPicPr>
        <p:blipFill>
          <a:blip r:embed="rId5"/>
          <a:stretch>
            <a:fillRect/>
          </a:stretch>
        </p:blipFill>
        <p:spPr>
          <a:xfrm>
            <a:off x="764804" y="5336804"/>
            <a:ext cx="317480" cy="317480"/>
          </a:xfrm>
          <a:prstGeom prst="rect">
            <a:avLst/>
          </a:prstGeom>
        </p:spPr>
      </p:pic>
      <p:sp>
        <p:nvSpPr>
          <p:cNvPr id="21" name="Text 14"/>
          <p:cNvSpPr txBox="1"/>
          <p:nvPr/>
        </p:nvSpPr>
        <p:spPr>
          <a:xfrm>
            <a:off x="1435608" y="5166360"/>
            <a:ext cx="4965192" cy="292608"/>
          </a:xfrm>
          <a:prstGeom prst="rect">
            <a:avLst/>
          </a:prstGeom>
          <a:noFill/>
          <a:ln/>
        </p:spPr>
        <p:txBody>
          <a:bodyPr wrap="square" lIns="508" tIns="508" rIns="508" bIns="508" rtlCol="0" anchor="t"/>
          <a:lstStyle/>
          <a:p>
            <a:pPr indent="0" marL="0">
              <a:buNone/>
            </a:pPr>
            <a:r>
              <a:rPr lang="en-US" sz="1400" b="1" dirty="0">
                <a:solidFill>
                  <a:srgbClr val="234782"/>
                </a:solidFill>
                <a:latin typeface="Tahoma" pitchFamily="34" charset="0"/>
                <a:ea typeface="Tahoma" pitchFamily="34" charset="-122"/>
                <a:cs typeface="Tahoma" pitchFamily="34" charset="-120"/>
              </a:rPr>
              <a:t>Minh giải</a:t>
            </a:r>
            <a:endParaRPr lang="en-US" sz="1400" dirty="0"/>
          </a:p>
        </p:txBody>
      </p:sp>
      <p:sp>
        <p:nvSpPr>
          <p:cNvPr id="22" name="Text 15"/>
          <p:cNvSpPr txBox="1"/>
          <p:nvPr/>
        </p:nvSpPr>
        <p:spPr>
          <a:xfrm>
            <a:off x="1435608" y="5458968"/>
            <a:ext cx="4965192" cy="685800"/>
          </a:xfrm>
          <a:prstGeom prst="rect">
            <a:avLst/>
          </a:prstGeom>
          <a:noFill/>
          <a:ln/>
        </p:spPr>
        <p:txBody>
          <a:bodyPr wrap="square" lIns="508" tIns="508" rIns="508" bIns="508" rtlCol="0" anchor="t"/>
          <a:lstStyle/>
          <a:p>
            <a:pPr indent="0" marL="0">
              <a:buNone/>
            </a:pPr>
            <a:r>
              <a:rPr lang="en-US" sz="1400" dirty="0">
                <a:solidFill>
                  <a:srgbClr val="1F1F1F"/>
                </a:solidFill>
                <a:latin typeface="Tahoma" pitchFamily="34" charset="0"/>
                <a:ea typeface="Tahoma" pitchFamily="34" charset="-122"/>
                <a:cs typeface="Tahoma" pitchFamily="34" charset="-120"/>
              </a:rPr>
              <a:t>Đối chiếu tài liệu khoan, địa chất</a:t>
            </a:r>
            <a:endParaRPr lang="en-US" sz="1400" dirty="0"/>
          </a:p>
        </p:txBody>
      </p:sp>
      <p:sp>
        <p:nvSpPr>
          <p:cNvPr id="23" name="Shape 16"/>
          <p:cNvSpPr/>
          <p:nvPr/>
        </p:nvSpPr>
        <p:spPr>
          <a:xfrm>
            <a:off x="6675120" y="960120"/>
            <a:ext cx="4873752" cy="5349240"/>
          </a:xfrm>
          <a:prstGeom prst="roundRect">
            <a:avLst>
              <a:gd name="adj" fmla="val 2251"/>
            </a:avLst>
          </a:prstGeom>
          <a:solidFill>
            <a:srgbClr val="234782"/>
          </a:solidFill>
          <a:ln w="12700">
            <a:solidFill>
              <a:srgbClr val="234782"/>
            </a:solidFill>
            <a:prstDash val="solid"/>
          </a:ln>
        </p:spPr>
      </p:sp>
      <p:sp>
        <p:nvSpPr>
          <p:cNvPr id="24" name="Shape 17"/>
          <p:cNvSpPr/>
          <p:nvPr/>
        </p:nvSpPr>
        <p:spPr>
          <a:xfrm>
            <a:off x="6903720" y="1124712"/>
            <a:ext cx="457200" cy="457200"/>
          </a:xfrm>
          <a:prstGeom prst="ellipse">
            <a:avLst/>
          </a:prstGeom>
          <a:solidFill>
            <a:srgbClr val="234782"/>
          </a:solidFill>
          <a:ln w="19050">
            <a:solidFill>
              <a:srgbClr val="FFFFFF"/>
            </a:solidFill>
            <a:prstDash val="solid"/>
          </a:ln>
        </p:spPr>
      </p:sp>
      <p:pic>
        <p:nvPicPr>
          <p:cNvPr id="25" name="Image 5" descr="preencoded.png">    </p:cNvPr>
          <p:cNvPicPr>
            <a:picLocks noChangeAspect="1"/>
          </p:cNvPicPr>
          <p:nvPr/>
        </p:nvPicPr>
        <p:blipFill>
          <a:blip r:embed="rId6"/>
          <a:stretch>
            <a:fillRect/>
          </a:stretch>
        </p:blipFill>
        <p:spPr>
          <a:xfrm>
            <a:off x="7013448" y="1234440"/>
            <a:ext cx="237744" cy="237744"/>
          </a:xfrm>
          <a:prstGeom prst="rect">
            <a:avLst/>
          </a:prstGeom>
        </p:spPr>
      </p:pic>
      <p:sp>
        <p:nvSpPr>
          <p:cNvPr id="26" name="Text 18"/>
          <p:cNvSpPr txBox="1"/>
          <p:nvPr/>
        </p:nvSpPr>
        <p:spPr>
          <a:xfrm>
            <a:off x="7498080" y="1143000"/>
            <a:ext cx="3867912" cy="411480"/>
          </a:xfrm>
          <a:prstGeom prst="rect">
            <a:avLst/>
          </a:prstGeom>
          <a:noFill/>
          <a:ln/>
        </p:spPr>
        <p:txBody>
          <a:bodyPr wrap="square" lIns="508" tIns="508" rIns="508" bIns="508" rtlCol="0" anchor="ctr"/>
          <a:lstStyle/>
          <a:p>
            <a:pPr indent="0" marL="0">
              <a:buNone/>
            </a:pPr>
            <a:r>
              <a:rPr lang="en-US" sz="1700" b="1" dirty="0">
                <a:solidFill>
                  <a:srgbClr val="FFFFFF"/>
                </a:solidFill>
                <a:latin typeface="Tahoma" pitchFamily="34" charset="0"/>
                <a:ea typeface="Tahoma" pitchFamily="34" charset="-122"/>
                <a:cs typeface="Tahoma" pitchFamily="34" charset="-120"/>
              </a:rPr>
              <a:t>Tính đa nghiệm</a:t>
            </a:r>
            <a:endParaRPr lang="en-US" sz="1700" dirty="0"/>
          </a:p>
        </p:txBody>
      </p:sp>
      <p:sp>
        <p:nvSpPr>
          <p:cNvPr id="27" name="Text 19"/>
          <p:cNvSpPr txBox="1"/>
          <p:nvPr/>
        </p:nvSpPr>
        <p:spPr>
          <a:xfrm>
            <a:off x="6949440" y="1737360"/>
            <a:ext cx="4370832" cy="4434840"/>
          </a:xfrm>
          <a:prstGeom prst="rect">
            <a:avLst/>
          </a:prstGeom>
          <a:noFill/>
          <a:ln/>
        </p:spPr>
        <p:txBody>
          <a:bodyPr wrap="square" lIns="254" tIns="254" rIns="254" bIns="254" rtlCol="0" anchor="t"/>
          <a:lstStyle/>
          <a:p>
            <a:pPr marL="177800" indent="-177800">
              <a:spcAft>
                <a:spcPts val="800"/>
              </a:spcAft>
              <a:buSzPct val="100000"/>
              <a:buChar char="•"/>
            </a:pPr>
            <a:r>
              <a:rPr lang="en-US" sz="1400" b="1" dirty="0">
                <a:solidFill>
                  <a:srgbClr val="FFFFFF"/>
                </a:solidFill>
                <a:latin typeface="Tahoma" pitchFamily="34" charset="0"/>
                <a:ea typeface="Tahoma" pitchFamily="34" charset="-122"/>
                <a:cs typeface="Tahoma" pitchFamily="34" charset="-120"/>
              </a:rPr>
              <a:t>Tương đương</a:t>
            </a:r>
            <a:r>
              <a:rPr lang="en-US" sz="1400" dirty="0">
                <a:solidFill>
                  <a:srgbClr val="FFFFFF"/>
                </a:solidFill>
                <a:latin typeface="Tahoma" pitchFamily="34" charset="0"/>
                <a:ea typeface="Tahoma" pitchFamily="34" charset="-122"/>
                <a:cs typeface="Tahoma" pitchFamily="34" charset="-120"/>
              </a:rPr>
              <a:t>: lớp mỏng dẫn điện cho cùng đường cong nếu tích h/ρ không đổi</a:t>
            </a:r>
            <a:endParaRPr lang="en-US" sz="1400" dirty="0"/>
          </a:p>
          <a:p>
            <a:pPr marL="177800" indent="-177800">
              <a:spcAft>
                <a:spcPts val="800"/>
              </a:spcAft>
              <a:buSzPct val="100000"/>
              <a:buChar char="•"/>
            </a:pPr>
            <a:r>
              <a:rPr lang="en-US" sz="1400" b="1" dirty="0">
                <a:solidFill>
                  <a:srgbClr val="FFFFFF"/>
                </a:solidFill>
                <a:latin typeface="Tahoma" pitchFamily="34" charset="0"/>
                <a:ea typeface="Tahoma" pitchFamily="34" charset="-122"/>
                <a:cs typeface="Tahoma" pitchFamily="34" charset="-120"/>
              </a:rPr>
              <a:t>Triệt tiêu</a:t>
            </a:r>
            <a:r>
              <a:rPr lang="en-US" sz="1400" dirty="0">
                <a:solidFill>
                  <a:srgbClr val="FFFFFF"/>
                </a:solidFill>
                <a:latin typeface="Tahoma" pitchFamily="34" charset="0"/>
                <a:ea typeface="Tahoma" pitchFamily="34" charset="-122"/>
                <a:cs typeface="Tahoma" pitchFamily="34" charset="-120"/>
              </a:rPr>
              <a:t>: lớp mỏng nằm giữa hai lớp có ρ gần nhau khó thấy</a:t>
            </a:r>
            <a:endParaRPr lang="en-US" sz="1400" dirty="0"/>
          </a:p>
          <a:p>
            <a:pPr marL="177800" indent="-177800">
              <a:spcAft>
                <a:spcPts val="800"/>
              </a:spcAft>
              <a:buSzPct val="100000"/>
              <a:buChar char="•"/>
            </a:pPr>
            <a:r>
              <a:rPr lang="en-US" sz="1400" dirty="0">
                <a:solidFill>
                  <a:srgbClr val="FFFFFF"/>
                </a:solidFill>
                <a:latin typeface="Tahoma" pitchFamily="34" charset="0"/>
                <a:ea typeface="Tahoma" pitchFamily="34" charset="-122"/>
                <a:cs typeface="Tahoma" pitchFamily="34" charset="-120"/>
              </a:rPr>
              <a:t>Cần tài liệu khoan hoặc phương pháp khác để ràng buộc [5]</a:t>
            </a:r>
            <a:endParaRPr lang="en-US" sz="14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7. Nguồn sai số và cách khắc phục</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960120"/>
          <a:ext cx="10908792" cy="914400"/>
        </p:xfrm>
        <a:graphic>
          <a:graphicData uri="http://schemas.openxmlformats.org/drawingml/2006/table">
            <a:tbl>
              <a:tblPr/>
              <a:tblGrid>
                <a:gridCol w="2743200"/>
                <a:gridCol w="4114800"/>
                <a:gridCol w="4050792"/>
              </a:tblGrid>
              <a:tr h="640080">
                <a:tc>
                  <a:txBody>
                    <a:bodyPr/>
                    <a:lstStyle/>
                    <a:p>
                      <a:pPr indent="0" marL="0">
                        <a:buNone/>
                      </a:pPr>
                      <a:r>
                        <a:rPr lang="en-US" sz="1400" b="1" dirty="0">
                          <a:solidFill>
                            <a:srgbClr val="FFFFFF"/>
                          </a:solidFill>
                          <a:latin typeface="Tahoma" pitchFamily="34" charset="0"/>
                          <a:ea typeface="Tahoma" pitchFamily="34" charset="-122"/>
                          <a:cs typeface="Tahoma" pitchFamily="34" charset="-120"/>
                        </a:rPr>
                        <a:t>Hiện tượng</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c>
                  <a:txBody>
                    <a:bodyPr/>
                    <a:lstStyle/>
                    <a:p>
                      <a:pPr indent="0" marL="0">
                        <a:buNone/>
                      </a:pPr>
                      <a:r>
                        <a:rPr lang="en-US" sz="1400" b="1" dirty="0">
                          <a:solidFill>
                            <a:srgbClr val="FFFFFF"/>
                          </a:solidFill>
                          <a:latin typeface="Tahoma" pitchFamily="34" charset="0"/>
                          <a:ea typeface="Tahoma" pitchFamily="34" charset="-122"/>
                          <a:cs typeface="Tahoma" pitchFamily="34" charset="-120"/>
                        </a:rPr>
                        <a:t>Nguyên nhân</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c>
                  <a:txBody>
                    <a:bodyPr/>
                    <a:lstStyle/>
                    <a:p>
                      <a:pPr indent="0" marL="0">
                        <a:buNone/>
                      </a:pPr>
                      <a:r>
                        <a:rPr lang="en-US" sz="1400" b="1" dirty="0">
                          <a:solidFill>
                            <a:srgbClr val="FFFFFF"/>
                          </a:solidFill>
                          <a:latin typeface="Tahoma" pitchFamily="34" charset="0"/>
                          <a:ea typeface="Tahoma" pitchFamily="34" charset="-122"/>
                          <a:cs typeface="Tahoma" pitchFamily="34" charset="-120"/>
                        </a:rPr>
                        <a:t>Khắc phục</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r>
              <a:tr h="640080">
                <a:tc>
                  <a:txBody>
                    <a:bodyPr/>
                    <a:lstStyle/>
                    <a:p>
                      <a:pPr indent="0" marL="0">
                        <a:buNone/>
                      </a:pPr>
                      <a:r>
                        <a:rPr lang="en-US" sz="1400" dirty="0">
                          <a:solidFill>
                            <a:srgbClr val="1F1F1F"/>
                          </a:solidFill>
                          <a:latin typeface="Tahoma" pitchFamily="34" charset="0"/>
                          <a:ea typeface="Tahoma" pitchFamily="34" charset="-122"/>
                          <a:cs typeface="Tahoma" pitchFamily="34" charset="-120"/>
                        </a:rPr>
                        <a:t>Máy không phát đủ dòng</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Điện trở tiếp đất lớn (đất khô, cát)</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Tưới nước muối, đóng thêm cực song song</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1F1F1F"/>
                          </a:solidFill>
                          <a:latin typeface="Tahoma" pitchFamily="34" charset="0"/>
                          <a:ea typeface="Tahoma" pitchFamily="34" charset="-122"/>
                          <a:cs typeface="Tahoma" pitchFamily="34" charset="-120"/>
                        </a:rPr>
                        <a:t>R âm</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Nối ngược cực, tín hiệu quá nhỏ</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Kiểm tra cực tính, tăng dòng, nới MN</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r h="640080">
                <a:tc>
                  <a:txBody>
                    <a:bodyPr/>
                    <a:lstStyle/>
                    <a:p>
                      <a:pPr indent="0" marL="0">
                        <a:buNone/>
                      </a:pPr>
                      <a:r>
                        <a:rPr lang="en-US" sz="1400" dirty="0">
                          <a:solidFill>
                            <a:srgbClr val="1F1F1F"/>
                          </a:solidFill>
                          <a:latin typeface="Tahoma" pitchFamily="34" charset="0"/>
                          <a:ea typeface="Tahoma" pitchFamily="34" charset="-122"/>
                          <a:cs typeface="Tahoma" pitchFamily="34" charset="-120"/>
                        </a:rPr>
                        <a:t>S.Dev lớn</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Nhiễu điện lưới, rung, cáp rò</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Tăng số lần cộng, kiểm tra cáp, lọc 50 Hz</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1F1F1F"/>
                          </a:solidFill>
                          <a:latin typeface="Tahoma" pitchFamily="34" charset="0"/>
                          <a:ea typeface="Tahoma" pitchFamily="34" charset="-122"/>
                          <a:cs typeface="Tahoma" pitchFamily="34" charset="-120"/>
                        </a:rPr>
                        <a:t>Đường cong nhảy bậc</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Đổi MN giữa chừng, bất đồng nhất gần cực</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Đo chồng 2 giá trị MN tại điểm đổi</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r h="640080">
                <a:tc>
                  <a:txBody>
                    <a:bodyPr/>
                    <a:lstStyle/>
                    <a:p>
                      <a:pPr indent="0" marL="0">
                        <a:buNone/>
                      </a:pPr>
                      <a:r>
                        <a:rPr lang="en-US" sz="1400" dirty="0">
                          <a:solidFill>
                            <a:srgbClr val="1F1F1F"/>
                          </a:solidFill>
                          <a:latin typeface="Tahoma" pitchFamily="34" charset="0"/>
                          <a:ea typeface="Tahoma" pitchFamily="34" charset="-122"/>
                          <a:cs typeface="Tahoma" pitchFamily="34" charset="-120"/>
                        </a:rPr>
                        <a:t>Sai lệch hệ thống</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Cáp dòng đặt sát cáp thế</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Cáp dòng đi song song, đối xứng [4]</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1F1F1F"/>
                          </a:solidFill>
                          <a:latin typeface="Tahoma" pitchFamily="34" charset="0"/>
                          <a:ea typeface="Tahoma" pitchFamily="34" charset="-122"/>
                          <a:cs typeface="Tahoma" pitchFamily="34" charset="-120"/>
                        </a:rPr>
                        <a:t>Máy nóng, ngắt</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Phát dòng lớn lâu dưới nắng</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Che nắng, thông gió (có cầu chì nhiệt)</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bl>
          </a:graphicData>
        </a:graphic>
      </p:graphicFrame>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7. An toàn và bảo quản</a:t>
            </a:r>
            <a:endParaRPr lang="en-US" sz="2800" dirty="0"/>
          </a:p>
        </p:txBody>
      </p:sp>
      <p:sp>
        <p:nvSpPr>
          <p:cNvPr id="3" name="Shape 1"/>
          <p:cNvSpPr/>
          <p:nvPr/>
        </p:nvSpPr>
        <p:spPr>
          <a:xfrm>
            <a:off x="640080" y="914400"/>
            <a:ext cx="10908792" cy="914400"/>
          </a:xfrm>
          <a:prstGeom prst="roundRect">
            <a:avLst>
              <a:gd name="adj" fmla="val 8000"/>
            </a:avLst>
          </a:prstGeom>
          <a:solidFill>
            <a:srgbClr val="234782"/>
          </a:solidFill>
          <a:ln w="12700">
            <a:solidFill>
              <a:srgbClr val="234782"/>
            </a:solidFill>
            <a:prstDash val="solid"/>
          </a:ln>
        </p:spPr>
      </p:sp>
      <p:sp>
        <p:nvSpPr>
          <p:cNvPr id="4" name="Shape 2"/>
          <p:cNvSpPr/>
          <p:nvPr/>
        </p:nvSpPr>
        <p:spPr>
          <a:xfrm>
            <a:off x="868680" y="1088136"/>
            <a:ext cx="566928" cy="566928"/>
          </a:xfrm>
          <a:prstGeom prst="ellipse">
            <a:avLst/>
          </a:prstGeom>
          <a:solidFill>
            <a:srgbClr val="234782"/>
          </a:solidFill>
          <a:ln w="25400">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996696" y="1216152"/>
            <a:ext cx="310896" cy="310896"/>
          </a:xfrm>
          <a:prstGeom prst="rect">
            <a:avLst/>
          </a:prstGeom>
        </p:spPr>
      </p:pic>
      <p:sp>
        <p:nvSpPr>
          <p:cNvPr id="6" name="Text 3"/>
          <p:cNvSpPr txBox="1"/>
          <p:nvPr/>
        </p:nvSpPr>
        <p:spPr>
          <a:xfrm>
            <a:off x="1645920" y="987552"/>
            <a:ext cx="9628632" cy="768096"/>
          </a:xfrm>
          <a:prstGeom prst="rect">
            <a:avLst/>
          </a:prstGeom>
          <a:noFill/>
          <a:ln/>
        </p:spPr>
        <p:txBody>
          <a:bodyPr wrap="square" lIns="508" tIns="508" rIns="508" bIns="508" rtlCol="0" anchor="ctr"/>
          <a:lstStyle/>
          <a:p>
            <a:pPr indent="0" marL="0">
              <a:buNone/>
            </a:pPr>
            <a:r>
              <a:rPr lang="en-US" sz="1800" b="1" dirty="0">
                <a:solidFill>
                  <a:srgbClr val="FFFFFF"/>
                </a:solidFill>
                <a:latin typeface="Tahoma" pitchFamily="34" charset="0"/>
                <a:ea typeface="Tahoma" pitchFamily="34" charset="-122"/>
                <a:cs typeface="Tahoma" pitchFamily="34" charset="-120"/>
              </a:rPr>
              <a:t>Máy phát tới 400 V và 1 A: coi mọi cáp, điện cực là đang có điện [4]</a:t>
            </a:r>
            <a:endParaRPr lang="en-US" sz="1800" dirty="0"/>
          </a:p>
        </p:txBody>
      </p:sp>
      <p:sp>
        <p:nvSpPr>
          <p:cNvPr id="7" name="Shape 4"/>
          <p:cNvSpPr/>
          <p:nvPr/>
        </p:nvSpPr>
        <p:spPr>
          <a:xfrm>
            <a:off x="640080" y="2057400"/>
            <a:ext cx="2590038" cy="3108960"/>
          </a:xfrm>
          <a:prstGeom prst="roundRect">
            <a:avLst>
              <a:gd name="adj" fmla="val 3530"/>
            </a:avLst>
          </a:prstGeom>
          <a:solidFill>
            <a:srgbClr val="ECF3FA"/>
          </a:solidFill>
          <a:ln w="12700">
            <a:solidFill>
              <a:srgbClr val="ECF3FA"/>
            </a:solidFill>
            <a:prstDash val="solid"/>
          </a:ln>
        </p:spPr>
      </p:sp>
      <p:sp>
        <p:nvSpPr>
          <p:cNvPr id="8" name="Shape 5"/>
          <p:cNvSpPr/>
          <p:nvPr/>
        </p:nvSpPr>
        <p:spPr>
          <a:xfrm>
            <a:off x="1605915" y="2258568"/>
            <a:ext cx="658368" cy="658368"/>
          </a:xfrm>
          <a:prstGeom prst="ellipse">
            <a:avLst/>
          </a:prstGeom>
          <a:solidFill>
            <a:srgbClr val="234782"/>
          </a:solidFill>
          <a:ln w="12700">
            <a:solidFill>
              <a:srgbClr val="234782"/>
            </a:solidFill>
            <a:prstDash val="solid"/>
          </a:ln>
        </p:spPr>
      </p:sp>
      <p:pic>
        <p:nvPicPr>
          <p:cNvPr id="9" name="Image 1" descr="preencoded.png">    </p:cNvPr>
          <p:cNvPicPr>
            <a:picLocks noChangeAspect="1"/>
          </p:cNvPicPr>
          <p:nvPr/>
        </p:nvPicPr>
        <p:blipFill>
          <a:blip r:embed="rId2"/>
          <a:stretch>
            <a:fillRect/>
          </a:stretch>
        </p:blipFill>
        <p:spPr>
          <a:xfrm>
            <a:off x="1750756" y="2403409"/>
            <a:ext cx="368686" cy="368686"/>
          </a:xfrm>
          <a:prstGeom prst="rect">
            <a:avLst/>
          </a:prstGeom>
        </p:spPr>
      </p:pic>
      <p:sp>
        <p:nvSpPr>
          <p:cNvPr id="10" name="Text 6"/>
          <p:cNvSpPr txBox="1"/>
          <p:nvPr/>
        </p:nvSpPr>
        <p:spPr>
          <a:xfrm>
            <a:off x="777240" y="2990088"/>
            <a:ext cx="2315718" cy="594360"/>
          </a:xfrm>
          <a:prstGeom prst="rect">
            <a:avLst/>
          </a:prstGeom>
          <a:noFill/>
          <a:ln/>
        </p:spPr>
        <p:txBody>
          <a:bodyPr wrap="square" lIns="508" tIns="508" rIns="508" bIns="508" rtlCol="0" anchor="ctr"/>
          <a:lstStyle/>
          <a:p>
            <a:pPr algn="ctr" indent="0" marL="0">
              <a:buNone/>
            </a:pPr>
            <a:r>
              <a:rPr lang="en-US" sz="1600" b="1" dirty="0">
                <a:solidFill>
                  <a:srgbClr val="234782"/>
                </a:solidFill>
                <a:latin typeface="Tahoma" pitchFamily="34" charset="0"/>
                <a:ea typeface="Tahoma" pitchFamily="34" charset="-122"/>
                <a:cs typeface="Tahoma" pitchFamily="34" charset="-120"/>
              </a:rPr>
              <a:t>Bảo hộ</a:t>
            </a:r>
            <a:endParaRPr lang="en-US" sz="1600" dirty="0"/>
          </a:p>
        </p:txBody>
      </p:sp>
      <p:sp>
        <p:nvSpPr>
          <p:cNvPr id="11" name="Text 7"/>
          <p:cNvSpPr txBox="1"/>
          <p:nvPr/>
        </p:nvSpPr>
        <p:spPr>
          <a:xfrm>
            <a:off x="822960" y="3630168"/>
            <a:ext cx="2224278" cy="1444752"/>
          </a:xfrm>
          <a:prstGeom prst="rect">
            <a:avLst/>
          </a:prstGeom>
          <a:noFill/>
          <a:ln/>
        </p:spPr>
        <p:txBody>
          <a:bodyPr wrap="square" lIns="508" tIns="508" rIns="508" bIns="508" rtlCol="0" anchor="t"/>
          <a:lstStyle/>
          <a:p>
            <a:pPr algn="ctr" indent="0" marL="0">
              <a:buNone/>
            </a:pPr>
            <a:r>
              <a:rPr lang="en-US" sz="1400" dirty="0">
                <a:solidFill>
                  <a:srgbClr val="1F1F1F"/>
                </a:solidFill>
                <a:latin typeface="Tahoma" pitchFamily="34" charset="0"/>
                <a:ea typeface="Tahoma" pitchFamily="34" charset="-122"/>
                <a:cs typeface="Tahoma" pitchFamily="34" charset="-120"/>
              </a:rPr>
              <a:t>Đi ủng, đeo găng cách điện; cảnh giới người và gia súc</a:t>
            </a:r>
            <a:endParaRPr lang="en-US" sz="1400" dirty="0"/>
          </a:p>
        </p:txBody>
      </p:sp>
      <p:sp>
        <p:nvSpPr>
          <p:cNvPr id="12" name="Shape 8"/>
          <p:cNvSpPr/>
          <p:nvPr/>
        </p:nvSpPr>
        <p:spPr>
          <a:xfrm>
            <a:off x="3412998" y="2057400"/>
            <a:ext cx="2590038" cy="3108960"/>
          </a:xfrm>
          <a:prstGeom prst="roundRect">
            <a:avLst>
              <a:gd name="adj" fmla="val 3530"/>
            </a:avLst>
          </a:prstGeom>
          <a:solidFill>
            <a:srgbClr val="ECF3FA"/>
          </a:solidFill>
          <a:ln w="12700">
            <a:solidFill>
              <a:srgbClr val="ECF3FA"/>
            </a:solidFill>
            <a:prstDash val="solid"/>
          </a:ln>
        </p:spPr>
      </p:sp>
      <p:sp>
        <p:nvSpPr>
          <p:cNvPr id="13" name="Shape 9"/>
          <p:cNvSpPr/>
          <p:nvPr/>
        </p:nvSpPr>
        <p:spPr>
          <a:xfrm>
            <a:off x="4378833" y="2258568"/>
            <a:ext cx="658368" cy="658368"/>
          </a:xfrm>
          <a:prstGeom prst="ellipse">
            <a:avLst/>
          </a:prstGeom>
          <a:solidFill>
            <a:srgbClr val="234782"/>
          </a:solidFill>
          <a:ln w="12700">
            <a:solidFill>
              <a:srgbClr val="234782"/>
            </a:solidFill>
            <a:prstDash val="solid"/>
          </a:ln>
        </p:spPr>
      </p:sp>
      <p:pic>
        <p:nvPicPr>
          <p:cNvPr id="14" name="Image 2" descr="preencoded.png">    </p:cNvPr>
          <p:cNvPicPr>
            <a:picLocks noChangeAspect="1"/>
          </p:cNvPicPr>
          <p:nvPr/>
        </p:nvPicPr>
        <p:blipFill>
          <a:blip r:embed="rId3"/>
          <a:stretch>
            <a:fillRect/>
          </a:stretch>
        </p:blipFill>
        <p:spPr>
          <a:xfrm>
            <a:off x="4523674" y="2403409"/>
            <a:ext cx="368686" cy="368686"/>
          </a:xfrm>
          <a:prstGeom prst="rect">
            <a:avLst/>
          </a:prstGeom>
        </p:spPr>
      </p:pic>
      <p:sp>
        <p:nvSpPr>
          <p:cNvPr id="15" name="Text 10"/>
          <p:cNvSpPr txBox="1"/>
          <p:nvPr/>
        </p:nvSpPr>
        <p:spPr>
          <a:xfrm>
            <a:off x="3550158" y="2990088"/>
            <a:ext cx="2315718" cy="594360"/>
          </a:xfrm>
          <a:prstGeom prst="rect">
            <a:avLst/>
          </a:prstGeom>
          <a:noFill/>
          <a:ln/>
        </p:spPr>
        <p:txBody>
          <a:bodyPr wrap="square" lIns="508" tIns="508" rIns="508" bIns="508" rtlCol="0" anchor="ctr"/>
          <a:lstStyle/>
          <a:p>
            <a:pPr algn="ctr" indent="0" marL="0">
              <a:buNone/>
            </a:pPr>
            <a:r>
              <a:rPr lang="en-US" sz="1600" b="1" dirty="0">
                <a:solidFill>
                  <a:srgbClr val="234782"/>
                </a:solidFill>
                <a:latin typeface="Tahoma" pitchFamily="34" charset="0"/>
                <a:ea typeface="Tahoma" pitchFamily="34" charset="-122"/>
                <a:cs typeface="Tahoma" pitchFamily="34" charset="-120"/>
              </a:rPr>
              <a:t>Thao tác cực</a:t>
            </a:r>
            <a:endParaRPr lang="en-US" sz="1600" dirty="0"/>
          </a:p>
        </p:txBody>
      </p:sp>
      <p:sp>
        <p:nvSpPr>
          <p:cNvPr id="16" name="Text 11"/>
          <p:cNvSpPr txBox="1"/>
          <p:nvPr/>
        </p:nvSpPr>
        <p:spPr>
          <a:xfrm>
            <a:off x="3595878" y="3630168"/>
            <a:ext cx="2224278" cy="1444752"/>
          </a:xfrm>
          <a:prstGeom prst="rect">
            <a:avLst/>
          </a:prstGeom>
          <a:noFill/>
          <a:ln/>
        </p:spPr>
        <p:txBody>
          <a:bodyPr wrap="square" lIns="508" tIns="508" rIns="508" bIns="508" rtlCol="0" anchor="t"/>
          <a:lstStyle/>
          <a:p>
            <a:pPr algn="ctr" indent="0" marL="0">
              <a:buNone/>
            </a:pPr>
            <a:r>
              <a:rPr lang="en-US" sz="1400" dirty="0">
                <a:solidFill>
                  <a:srgbClr val="1F1F1F"/>
                </a:solidFill>
                <a:latin typeface="Tahoma" pitchFamily="34" charset="0"/>
                <a:ea typeface="Tahoma" pitchFamily="34" charset="-122"/>
                <a:cs typeface="Tahoma" pitchFamily="34" charset="-120"/>
              </a:rPr>
              <a:t>Ngắt cáp khỏi máy trước khi nối hoặc tháo cực</a:t>
            </a:r>
            <a:endParaRPr lang="en-US" sz="1400" dirty="0"/>
          </a:p>
        </p:txBody>
      </p:sp>
      <p:sp>
        <p:nvSpPr>
          <p:cNvPr id="17" name="Shape 12"/>
          <p:cNvSpPr/>
          <p:nvPr/>
        </p:nvSpPr>
        <p:spPr>
          <a:xfrm>
            <a:off x="6185916" y="2057400"/>
            <a:ext cx="2590038" cy="3108960"/>
          </a:xfrm>
          <a:prstGeom prst="roundRect">
            <a:avLst>
              <a:gd name="adj" fmla="val 3530"/>
            </a:avLst>
          </a:prstGeom>
          <a:solidFill>
            <a:srgbClr val="ECF3FA"/>
          </a:solidFill>
          <a:ln w="12700">
            <a:solidFill>
              <a:srgbClr val="ECF3FA"/>
            </a:solidFill>
            <a:prstDash val="solid"/>
          </a:ln>
        </p:spPr>
      </p:sp>
      <p:sp>
        <p:nvSpPr>
          <p:cNvPr id="18" name="Shape 13"/>
          <p:cNvSpPr/>
          <p:nvPr/>
        </p:nvSpPr>
        <p:spPr>
          <a:xfrm>
            <a:off x="7151751" y="2258568"/>
            <a:ext cx="658368" cy="658368"/>
          </a:xfrm>
          <a:prstGeom prst="ellipse">
            <a:avLst/>
          </a:prstGeom>
          <a:solidFill>
            <a:srgbClr val="234782"/>
          </a:solidFill>
          <a:ln w="12700">
            <a:solidFill>
              <a:srgbClr val="234782"/>
            </a:solidFill>
            <a:prstDash val="solid"/>
          </a:ln>
        </p:spPr>
      </p:sp>
      <p:pic>
        <p:nvPicPr>
          <p:cNvPr id="19" name="Image 3" descr="preencoded.png">    </p:cNvPr>
          <p:cNvPicPr>
            <a:picLocks noChangeAspect="1"/>
          </p:cNvPicPr>
          <p:nvPr/>
        </p:nvPicPr>
        <p:blipFill>
          <a:blip r:embed="rId4"/>
          <a:stretch>
            <a:fillRect/>
          </a:stretch>
        </p:blipFill>
        <p:spPr>
          <a:xfrm>
            <a:off x="7296592" y="2403409"/>
            <a:ext cx="368686" cy="368686"/>
          </a:xfrm>
          <a:prstGeom prst="rect">
            <a:avLst/>
          </a:prstGeom>
        </p:spPr>
      </p:pic>
      <p:sp>
        <p:nvSpPr>
          <p:cNvPr id="20" name="Text 14"/>
          <p:cNvSpPr txBox="1"/>
          <p:nvPr/>
        </p:nvSpPr>
        <p:spPr>
          <a:xfrm>
            <a:off x="6323076" y="2990088"/>
            <a:ext cx="2315718" cy="594360"/>
          </a:xfrm>
          <a:prstGeom prst="rect">
            <a:avLst/>
          </a:prstGeom>
          <a:noFill/>
          <a:ln/>
        </p:spPr>
        <p:txBody>
          <a:bodyPr wrap="square" lIns="508" tIns="508" rIns="508" bIns="508" rtlCol="0" anchor="ctr"/>
          <a:lstStyle/>
          <a:p>
            <a:pPr algn="ctr" indent="0" marL="0">
              <a:buNone/>
            </a:pPr>
            <a:r>
              <a:rPr lang="en-US" sz="1600" b="1" dirty="0">
                <a:solidFill>
                  <a:srgbClr val="234782"/>
                </a:solidFill>
                <a:latin typeface="Tahoma" pitchFamily="34" charset="0"/>
                <a:ea typeface="Tahoma" pitchFamily="34" charset="-122"/>
                <a:cs typeface="Tahoma" pitchFamily="34" charset="-120"/>
              </a:rPr>
              <a:t>Thời tiết</a:t>
            </a:r>
            <a:endParaRPr lang="en-US" sz="1600" dirty="0"/>
          </a:p>
        </p:txBody>
      </p:sp>
      <p:sp>
        <p:nvSpPr>
          <p:cNvPr id="21" name="Text 15"/>
          <p:cNvSpPr txBox="1"/>
          <p:nvPr/>
        </p:nvSpPr>
        <p:spPr>
          <a:xfrm>
            <a:off x="6368796" y="3630168"/>
            <a:ext cx="2224278" cy="1444752"/>
          </a:xfrm>
          <a:prstGeom prst="rect">
            <a:avLst/>
          </a:prstGeom>
          <a:noFill/>
          <a:ln/>
        </p:spPr>
        <p:txBody>
          <a:bodyPr wrap="square" lIns="508" tIns="508" rIns="508" bIns="508" rtlCol="0" anchor="t"/>
          <a:lstStyle/>
          <a:p>
            <a:pPr algn="ctr" indent="0" marL="0">
              <a:buNone/>
            </a:pPr>
            <a:r>
              <a:rPr lang="en-US" sz="1400" dirty="0">
                <a:solidFill>
                  <a:srgbClr val="1F1F1F"/>
                </a:solidFill>
                <a:latin typeface="Tahoma" pitchFamily="34" charset="0"/>
                <a:ea typeface="Tahoma" pitchFamily="34" charset="-122"/>
                <a:cs typeface="Tahoma" pitchFamily="34" charset="-120"/>
              </a:rPr>
              <a:t>Không đo khi có giông sét; không để cáp nối qua đêm</a:t>
            </a:r>
            <a:endParaRPr lang="en-US" sz="1400" dirty="0"/>
          </a:p>
        </p:txBody>
      </p:sp>
      <p:sp>
        <p:nvSpPr>
          <p:cNvPr id="22" name="Shape 16"/>
          <p:cNvSpPr/>
          <p:nvPr/>
        </p:nvSpPr>
        <p:spPr>
          <a:xfrm>
            <a:off x="8958834" y="2057400"/>
            <a:ext cx="2590038" cy="3108960"/>
          </a:xfrm>
          <a:prstGeom prst="roundRect">
            <a:avLst>
              <a:gd name="adj" fmla="val 3530"/>
            </a:avLst>
          </a:prstGeom>
          <a:solidFill>
            <a:srgbClr val="ECF3FA"/>
          </a:solidFill>
          <a:ln w="12700">
            <a:solidFill>
              <a:srgbClr val="ECF3FA"/>
            </a:solidFill>
            <a:prstDash val="solid"/>
          </a:ln>
        </p:spPr>
      </p:sp>
      <p:sp>
        <p:nvSpPr>
          <p:cNvPr id="23" name="Shape 17"/>
          <p:cNvSpPr/>
          <p:nvPr/>
        </p:nvSpPr>
        <p:spPr>
          <a:xfrm>
            <a:off x="9924669" y="2258568"/>
            <a:ext cx="658368" cy="658368"/>
          </a:xfrm>
          <a:prstGeom prst="ellipse">
            <a:avLst/>
          </a:prstGeom>
          <a:solidFill>
            <a:srgbClr val="234782"/>
          </a:solidFill>
          <a:ln w="12700">
            <a:solidFill>
              <a:srgbClr val="234782"/>
            </a:solidFill>
            <a:prstDash val="solid"/>
          </a:ln>
        </p:spPr>
      </p:sp>
      <p:pic>
        <p:nvPicPr>
          <p:cNvPr id="24" name="Image 4" descr="preencoded.png">    </p:cNvPr>
          <p:cNvPicPr>
            <a:picLocks noChangeAspect="1"/>
          </p:cNvPicPr>
          <p:nvPr/>
        </p:nvPicPr>
        <p:blipFill>
          <a:blip r:embed="rId5"/>
          <a:stretch>
            <a:fillRect/>
          </a:stretch>
        </p:blipFill>
        <p:spPr>
          <a:xfrm>
            <a:off x="10069510" y="2403409"/>
            <a:ext cx="368686" cy="368686"/>
          </a:xfrm>
          <a:prstGeom prst="rect">
            <a:avLst/>
          </a:prstGeom>
        </p:spPr>
      </p:pic>
      <p:sp>
        <p:nvSpPr>
          <p:cNvPr id="25" name="Text 18"/>
          <p:cNvSpPr txBox="1"/>
          <p:nvPr/>
        </p:nvSpPr>
        <p:spPr>
          <a:xfrm>
            <a:off x="9095994" y="2990088"/>
            <a:ext cx="2315718" cy="594360"/>
          </a:xfrm>
          <a:prstGeom prst="rect">
            <a:avLst/>
          </a:prstGeom>
          <a:noFill/>
          <a:ln/>
        </p:spPr>
        <p:txBody>
          <a:bodyPr wrap="square" lIns="508" tIns="508" rIns="508" bIns="508" rtlCol="0" anchor="ctr"/>
          <a:lstStyle/>
          <a:p>
            <a:pPr algn="ctr" indent="0" marL="0">
              <a:buNone/>
            </a:pPr>
            <a:r>
              <a:rPr lang="en-US" sz="1600" b="1" dirty="0">
                <a:solidFill>
                  <a:srgbClr val="234782"/>
                </a:solidFill>
                <a:latin typeface="Tahoma" pitchFamily="34" charset="0"/>
                <a:ea typeface="Tahoma" pitchFamily="34" charset="-122"/>
                <a:cs typeface="Tahoma" pitchFamily="34" charset="-120"/>
              </a:rPr>
              <a:t>Ắc quy, bảo quản</a:t>
            </a:r>
            <a:endParaRPr lang="en-US" sz="1600" dirty="0"/>
          </a:p>
        </p:txBody>
      </p:sp>
      <p:sp>
        <p:nvSpPr>
          <p:cNvPr id="26" name="Text 19"/>
          <p:cNvSpPr txBox="1"/>
          <p:nvPr/>
        </p:nvSpPr>
        <p:spPr>
          <a:xfrm>
            <a:off x="9141714" y="3630168"/>
            <a:ext cx="2224278" cy="1444752"/>
          </a:xfrm>
          <a:prstGeom prst="rect">
            <a:avLst/>
          </a:prstGeom>
          <a:noFill/>
          <a:ln/>
        </p:spPr>
        <p:txBody>
          <a:bodyPr wrap="square" lIns="508" tIns="508" rIns="508" bIns="508" rtlCol="0" anchor="t"/>
          <a:lstStyle/>
          <a:p>
            <a:pPr algn="ctr" indent="0" marL="0">
              <a:buNone/>
            </a:pPr>
            <a:r>
              <a:rPr lang="en-US" sz="1400" dirty="0">
                <a:solidFill>
                  <a:srgbClr val="1F1F1F"/>
                </a:solidFill>
                <a:latin typeface="Tahoma" pitchFamily="34" charset="0"/>
                <a:ea typeface="Tahoma" pitchFamily="34" charset="-122"/>
                <a:cs typeface="Tahoma" pitchFamily="34" charset="-120"/>
              </a:rPr>
              <a:t>Không đoản mạch; lưu kho −40 – 65 °C; tránh nắng nóng khi đo</a:t>
            </a:r>
            <a:endParaRPr lang="en-US" sz="1400" dirty="0"/>
          </a:p>
        </p:txBody>
      </p:sp>
      <p:sp>
        <p:nvSpPr>
          <p:cNvPr id="27" name="Text 20"/>
          <p:cNvSpPr txBox="1"/>
          <p:nvPr/>
        </p:nvSpPr>
        <p:spPr>
          <a:xfrm>
            <a:off x="640080" y="5394960"/>
            <a:ext cx="10908792" cy="640080"/>
          </a:xfrm>
          <a:prstGeom prst="rect">
            <a:avLst/>
          </a:prstGeom>
          <a:noFill/>
          <a:ln/>
        </p:spPr>
        <p:txBody>
          <a:bodyPr wrap="square" lIns="508" tIns="508" rIns="508" bIns="508" rtlCol="0" anchor="ctr"/>
          <a:lstStyle/>
          <a:p>
            <a:pPr indent="0" marL="0">
              <a:buNone/>
            </a:pPr>
            <a:r>
              <a:rPr lang="en-US" sz="1600" b="1" dirty="0">
                <a:solidFill>
                  <a:srgbClr val="0086CA"/>
                </a:solidFill>
                <a:latin typeface="Tahoma" pitchFamily="34" charset="0"/>
                <a:ea typeface="Tahoma" pitchFamily="34" charset="-122"/>
                <a:cs typeface="Tahoma" pitchFamily="34" charset="-120"/>
              </a:rPr>
              <a:t>→ Hàng rào điện chăn nuôi, đường dây cao thế và sét có thể làm hỏng máy [4]</a:t>
            </a:r>
            <a:endParaRPr lang="en-US" sz="16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8. Ứng dụng</a:t>
            </a:r>
            <a:endParaRPr lang="en-US" sz="2800" dirty="0"/>
          </a:p>
        </p:txBody>
      </p:sp>
      <p:sp>
        <p:nvSpPr>
          <p:cNvPr id="3" name="Shape 1"/>
          <p:cNvSpPr/>
          <p:nvPr/>
        </p:nvSpPr>
        <p:spPr>
          <a:xfrm>
            <a:off x="640080" y="960120"/>
            <a:ext cx="2035454" cy="3108960"/>
          </a:xfrm>
          <a:prstGeom prst="roundRect">
            <a:avLst>
              <a:gd name="adj" fmla="val 4492"/>
            </a:avLst>
          </a:prstGeom>
          <a:solidFill>
            <a:srgbClr val="ECF3FA"/>
          </a:solidFill>
          <a:ln w="12700">
            <a:solidFill>
              <a:srgbClr val="ECF3FA"/>
            </a:solidFill>
            <a:prstDash val="solid"/>
          </a:ln>
        </p:spPr>
      </p:sp>
      <p:sp>
        <p:nvSpPr>
          <p:cNvPr id="4" name="Shape 2"/>
          <p:cNvSpPr/>
          <p:nvPr/>
        </p:nvSpPr>
        <p:spPr>
          <a:xfrm>
            <a:off x="1328623" y="1161288"/>
            <a:ext cx="658368" cy="658368"/>
          </a:xfrm>
          <a:prstGeom prst="ellipse">
            <a:avLst/>
          </a:prstGeom>
          <a:solidFill>
            <a:srgbClr val="234782"/>
          </a:solidFill>
          <a:ln w="12700">
            <a:solidFill>
              <a:srgbClr val="234782"/>
            </a:solidFill>
            <a:prstDash val="solid"/>
          </a:ln>
        </p:spPr>
      </p:sp>
      <p:pic>
        <p:nvPicPr>
          <p:cNvPr id="5" name="Image 0" descr="preencoded.png">    </p:cNvPr>
          <p:cNvPicPr>
            <a:picLocks noChangeAspect="1"/>
          </p:cNvPicPr>
          <p:nvPr/>
        </p:nvPicPr>
        <p:blipFill>
          <a:blip r:embed="rId1"/>
          <a:stretch>
            <a:fillRect/>
          </a:stretch>
        </p:blipFill>
        <p:spPr>
          <a:xfrm>
            <a:off x="1473464" y="1306129"/>
            <a:ext cx="368686" cy="368686"/>
          </a:xfrm>
          <a:prstGeom prst="rect">
            <a:avLst/>
          </a:prstGeom>
        </p:spPr>
      </p:pic>
      <p:sp>
        <p:nvSpPr>
          <p:cNvPr id="6" name="Text 3"/>
          <p:cNvSpPr txBox="1"/>
          <p:nvPr/>
        </p:nvSpPr>
        <p:spPr>
          <a:xfrm>
            <a:off x="777240" y="1892808"/>
            <a:ext cx="1761134" cy="594360"/>
          </a:xfrm>
          <a:prstGeom prst="rect">
            <a:avLst/>
          </a:prstGeom>
          <a:noFill/>
          <a:ln/>
        </p:spPr>
        <p:txBody>
          <a:bodyPr wrap="square" lIns="508" tIns="508" rIns="508" bIns="508" rtlCol="0" anchor="ctr"/>
          <a:lstStyle/>
          <a:p>
            <a:pPr algn="ctr" indent="0" marL="0">
              <a:buNone/>
            </a:pPr>
            <a:r>
              <a:rPr lang="en-US" sz="1600" b="1" dirty="0">
                <a:solidFill>
                  <a:srgbClr val="234782"/>
                </a:solidFill>
                <a:latin typeface="Tahoma" pitchFamily="34" charset="0"/>
                <a:ea typeface="Tahoma" pitchFamily="34" charset="-122"/>
                <a:cs typeface="Tahoma" pitchFamily="34" charset="-120"/>
              </a:rPr>
              <a:t>Nước ngầm</a:t>
            </a:r>
            <a:endParaRPr lang="en-US" sz="1600" dirty="0"/>
          </a:p>
        </p:txBody>
      </p:sp>
      <p:sp>
        <p:nvSpPr>
          <p:cNvPr id="7" name="Text 4"/>
          <p:cNvSpPr txBox="1"/>
          <p:nvPr/>
        </p:nvSpPr>
        <p:spPr>
          <a:xfrm>
            <a:off x="822960" y="2532888"/>
            <a:ext cx="1669694" cy="1444752"/>
          </a:xfrm>
          <a:prstGeom prst="rect">
            <a:avLst/>
          </a:prstGeom>
          <a:noFill/>
          <a:ln/>
        </p:spPr>
        <p:txBody>
          <a:bodyPr wrap="square" lIns="508" tIns="508" rIns="508" bIns="508" rtlCol="0" anchor="t"/>
          <a:lstStyle/>
          <a:p>
            <a:pPr algn="ctr" indent="0" marL="0">
              <a:buNone/>
            </a:pPr>
            <a:r>
              <a:rPr lang="en-US" sz="1400" dirty="0">
                <a:solidFill>
                  <a:srgbClr val="1F1F1F"/>
                </a:solidFill>
                <a:latin typeface="Tahoma" pitchFamily="34" charset="0"/>
                <a:ea typeface="Tahoma" pitchFamily="34" charset="-122"/>
                <a:cs typeface="Tahoma" pitchFamily="34" charset="-120"/>
              </a:rPr>
              <a:t>Tầng chứa nước, ranh giới mặn – nhạt</a:t>
            </a:r>
            <a:endParaRPr lang="en-US" sz="1400" dirty="0"/>
          </a:p>
        </p:txBody>
      </p:sp>
      <p:sp>
        <p:nvSpPr>
          <p:cNvPr id="8" name="Shape 5"/>
          <p:cNvSpPr/>
          <p:nvPr/>
        </p:nvSpPr>
        <p:spPr>
          <a:xfrm>
            <a:off x="2858414" y="960120"/>
            <a:ext cx="2035454" cy="3108960"/>
          </a:xfrm>
          <a:prstGeom prst="roundRect">
            <a:avLst>
              <a:gd name="adj" fmla="val 4492"/>
            </a:avLst>
          </a:prstGeom>
          <a:solidFill>
            <a:srgbClr val="ECF3FA"/>
          </a:solidFill>
          <a:ln w="12700">
            <a:solidFill>
              <a:srgbClr val="ECF3FA"/>
            </a:solidFill>
            <a:prstDash val="solid"/>
          </a:ln>
        </p:spPr>
      </p:sp>
      <p:sp>
        <p:nvSpPr>
          <p:cNvPr id="9" name="Shape 6"/>
          <p:cNvSpPr/>
          <p:nvPr/>
        </p:nvSpPr>
        <p:spPr>
          <a:xfrm>
            <a:off x="3546958" y="1161288"/>
            <a:ext cx="658368" cy="658368"/>
          </a:xfrm>
          <a:prstGeom prst="ellipse">
            <a:avLst/>
          </a:prstGeom>
          <a:solidFill>
            <a:srgbClr val="234782"/>
          </a:solidFill>
          <a:ln w="12700">
            <a:solidFill>
              <a:srgbClr val="234782"/>
            </a:solidFill>
            <a:prstDash val="solid"/>
          </a:ln>
        </p:spPr>
      </p:sp>
      <p:pic>
        <p:nvPicPr>
          <p:cNvPr id="10" name="Image 1" descr="preencoded.png">    </p:cNvPr>
          <p:cNvPicPr>
            <a:picLocks noChangeAspect="1"/>
          </p:cNvPicPr>
          <p:nvPr/>
        </p:nvPicPr>
        <p:blipFill>
          <a:blip r:embed="rId2"/>
          <a:stretch>
            <a:fillRect/>
          </a:stretch>
        </p:blipFill>
        <p:spPr>
          <a:xfrm>
            <a:off x="3691799" y="1306129"/>
            <a:ext cx="368686" cy="368686"/>
          </a:xfrm>
          <a:prstGeom prst="rect">
            <a:avLst/>
          </a:prstGeom>
        </p:spPr>
      </p:pic>
      <p:sp>
        <p:nvSpPr>
          <p:cNvPr id="11" name="Text 7"/>
          <p:cNvSpPr txBox="1"/>
          <p:nvPr/>
        </p:nvSpPr>
        <p:spPr>
          <a:xfrm>
            <a:off x="2995574" y="1892808"/>
            <a:ext cx="1761134" cy="594360"/>
          </a:xfrm>
          <a:prstGeom prst="rect">
            <a:avLst/>
          </a:prstGeom>
          <a:noFill/>
          <a:ln/>
        </p:spPr>
        <p:txBody>
          <a:bodyPr wrap="square" lIns="508" tIns="508" rIns="508" bIns="508" rtlCol="0" anchor="ctr"/>
          <a:lstStyle/>
          <a:p>
            <a:pPr algn="ctr" indent="0" marL="0">
              <a:buNone/>
            </a:pPr>
            <a:r>
              <a:rPr lang="en-US" sz="1600" b="1" dirty="0">
                <a:solidFill>
                  <a:srgbClr val="234782"/>
                </a:solidFill>
                <a:latin typeface="Tahoma" pitchFamily="34" charset="0"/>
                <a:ea typeface="Tahoma" pitchFamily="34" charset="-122"/>
                <a:cs typeface="Tahoma" pitchFamily="34" charset="-120"/>
              </a:rPr>
              <a:t>Địa chất công trình</a:t>
            </a:r>
            <a:endParaRPr lang="en-US" sz="1600" dirty="0"/>
          </a:p>
        </p:txBody>
      </p:sp>
      <p:sp>
        <p:nvSpPr>
          <p:cNvPr id="12" name="Text 8"/>
          <p:cNvSpPr txBox="1"/>
          <p:nvPr/>
        </p:nvSpPr>
        <p:spPr>
          <a:xfrm>
            <a:off x="3041294" y="2532888"/>
            <a:ext cx="1669694" cy="1444752"/>
          </a:xfrm>
          <a:prstGeom prst="rect">
            <a:avLst/>
          </a:prstGeom>
          <a:noFill/>
          <a:ln/>
        </p:spPr>
        <p:txBody>
          <a:bodyPr wrap="square" lIns="508" tIns="508" rIns="508" bIns="508" rtlCol="0" anchor="t"/>
          <a:lstStyle/>
          <a:p>
            <a:pPr algn="ctr" indent="0" marL="0">
              <a:buNone/>
            </a:pPr>
            <a:r>
              <a:rPr lang="en-US" sz="1400" dirty="0">
                <a:solidFill>
                  <a:srgbClr val="1F1F1F"/>
                </a:solidFill>
                <a:latin typeface="Tahoma" pitchFamily="34" charset="0"/>
                <a:ea typeface="Tahoma" pitchFamily="34" charset="-122"/>
                <a:cs typeface="Tahoma" pitchFamily="34" charset="-120"/>
              </a:rPr>
              <a:t>Chiều dày lớp phủ, đới nứt nẻ, hang karst</a:t>
            </a:r>
            <a:endParaRPr lang="en-US" sz="1400" dirty="0"/>
          </a:p>
        </p:txBody>
      </p:sp>
      <p:sp>
        <p:nvSpPr>
          <p:cNvPr id="13" name="Shape 9"/>
          <p:cNvSpPr/>
          <p:nvPr/>
        </p:nvSpPr>
        <p:spPr>
          <a:xfrm>
            <a:off x="5076749" y="960120"/>
            <a:ext cx="2035454" cy="3108960"/>
          </a:xfrm>
          <a:prstGeom prst="roundRect">
            <a:avLst>
              <a:gd name="adj" fmla="val 4492"/>
            </a:avLst>
          </a:prstGeom>
          <a:solidFill>
            <a:srgbClr val="ECF3FA"/>
          </a:solidFill>
          <a:ln w="12700">
            <a:solidFill>
              <a:srgbClr val="ECF3FA"/>
            </a:solidFill>
            <a:prstDash val="solid"/>
          </a:ln>
        </p:spPr>
      </p:sp>
      <p:sp>
        <p:nvSpPr>
          <p:cNvPr id="14" name="Shape 10"/>
          <p:cNvSpPr/>
          <p:nvPr/>
        </p:nvSpPr>
        <p:spPr>
          <a:xfrm>
            <a:off x="5765292" y="1161288"/>
            <a:ext cx="658368" cy="658368"/>
          </a:xfrm>
          <a:prstGeom prst="ellipse">
            <a:avLst/>
          </a:prstGeom>
          <a:solidFill>
            <a:srgbClr val="234782"/>
          </a:solidFill>
          <a:ln w="12700">
            <a:solidFill>
              <a:srgbClr val="234782"/>
            </a:solidFill>
            <a:prstDash val="solid"/>
          </a:ln>
        </p:spPr>
      </p:sp>
      <p:pic>
        <p:nvPicPr>
          <p:cNvPr id="15" name="Image 2" descr="preencoded.png">    </p:cNvPr>
          <p:cNvPicPr>
            <a:picLocks noChangeAspect="1"/>
          </p:cNvPicPr>
          <p:nvPr/>
        </p:nvPicPr>
        <p:blipFill>
          <a:blip r:embed="rId3"/>
          <a:stretch>
            <a:fillRect/>
          </a:stretch>
        </p:blipFill>
        <p:spPr>
          <a:xfrm>
            <a:off x="5910133" y="1306129"/>
            <a:ext cx="368686" cy="368686"/>
          </a:xfrm>
          <a:prstGeom prst="rect">
            <a:avLst/>
          </a:prstGeom>
        </p:spPr>
      </p:pic>
      <p:sp>
        <p:nvSpPr>
          <p:cNvPr id="16" name="Text 11"/>
          <p:cNvSpPr txBox="1"/>
          <p:nvPr/>
        </p:nvSpPr>
        <p:spPr>
          <a:xfrm>
            <a:off x="5213909" y="1892808"/>
            <a:ext cx="1761134" cy="594360"/>
          </a:xfrm>
          <a:prstGeom prst="rect">
            <a:avLst/>
          </a:prstGeom>
          <a:noFill/>
          <a:ln/>
        </p:spPr>
        <p:txBody>
          <a:bodyPr wrap="square" lIns="508" tIns="508" rIns="508" bIns="508" rtlCol="0" anchor="ctr"/>
          <a:lstStyle/>
          <a:p>
            <a:pPr algn="ctr" indent="0" marL="0">
              <a:buNone/>
            </a:pPr>
            <a:r>
              <a:rPr lang="en-US" sz="1600" b="1" dirty="0">
                <a:solidFill>
                  <a:srgbClr val="234782"/>
                </a:solidFill>
                <a:latin typeface="Tahoma" pitchFamily="34" charset="0"/>
                <a:ea typeface="Tahoma" pitchFamily="34" charset="-122"/>
                <a:cs typeface="Tahoma" pitchFamily="34" charset="-120"/>
              </a:rPr>
              <a:t>Khoáng sản</a:t>
            </a:r>
            <a:endParaRPr lang="en-US" sz="1600" dirty="0"/>
          </a:p>
        </p:txBody>
      </p:sp>
      <p:sp>
        <p:nvSpPr>
          <p:cNvPr id="17" name="Text 12"/>
          <p:cNvSpPr txBox="1"/>
          <p:nvPr/>
        </p:nvSpPr>
        <p:spPr>
          <a:xfrm>
            <a:off x="5259629" y="2532888"/>
            <a:ext cx="1669694" cy="1444752"/>
          </a:xfrm>
          <a:prstGeom prst="rect">
            <a:avLst/>
          </a:prstGeom>
          <a:noFill/>
          <a:ln/>
        </p:spPr>
        <p:txBody>
          <a:bodyPr wrap="square" lIns="508" tIns="508" rIns="508" bIns="508" rtlCol="0" anchor="t"/>
          <a:lstStyle/>
          <a:p>
            <a:pPr algn="ctr" indent="0" marL="0">
              <a:buNone/>
            </a:pPr>
            <a:r>
              <a:rPr lang="en-US" sz="1400" dirty="0">
                <a:solidFill>
                  <a:srgbClr val="1F1F1F"/>
                </a:solidFill>
                <a:latin typeface="Tahoma" pitchFamily="34" charset="0"/>
                <a:ea typeface="Tahoma" pitchFamily="34" charset="-122"/>
                <a:cs typeface="Tahoma" pitchFamily="34" charset="-120"/>
              </a:rPr>
              <a:t>IP phát hiện quặng sulfide xâm tán</a:t>
            </a:r>
            <a:endParaRPr lang="en-US" sz="1400" dirty="0"/>
          </a:p>
        </p:txBody>
      </p:sp>
      <p:sp>
        <p:nvSpPr>
          <p:cNvPr id="18" name="Shape 13"/>
          <p:cNvSpPr/>
          <p:nvPr/>
        </p:nvSpPr>
        <p:spPr>
          <a:xfrm>
            <a:off x="7295083" y="960120"/>
            <a:ext cx="2035454" cy="3108960"/>
          </a:xfrm>
          <a:prstGeom prst="roundRect">
            <a:avLst>
              <a:gd name="adj" fmla="val 4492"/>
            </a:avLst>
          </a:prstGeom>
          <a:solidFill>
            <a:srgbClr val="ECF3FA"/>
          </a:solidFill>
          <a:ln w="12700">
            <a:solidFill>
              <a:srgbClr val="ECF3FA"/>
            </a:solidFill>
            <a:prstDash val="solid"/>
          </a:ln>
        </p:spPr>
      </p:sp>
      <p:sp>
        <p:nvSpPr>
          <p:cNvPr id="19" name="Shape 14"/>
          <p:cNvSpPr/>
          <p:nvPr/>
        </p:nvSpPr>
        <p:spPr>
          <a:xfrm>
            <a:off x="7983626" y="1161288"/>
            <a:ext cx="658368" cy="658368"/>
          </a:xfrm>
          <a:prstGeom prst="ellipse">
            <a:avLst/>
          </a:prstGeom>
          <a:solidFill>
            <a:srgbClr val="234782"/>
          </a:solidFill>
          <a:ln w="12700">
            <a:solidFill>
              <a:srgbClr val="234782"/>
            </a:solidFill>
            <a:prstDash val="solid"/>
          </a:ln>
        </p:spPr>
      </p:sp>
      <p:pic>
        <p:nvPicPr>
          <p:cNvPr id="20" name="Image 3" descr="preencoded.png">    </p:cNvPr>
          <p:cNvPicPr>
            <a:picLocks noChangeAspect="1"/>
          </p:cNvPicPr>
          <p:nvPr/>
        </p:nvPicPr>
        <p:blipFill>
          <a:blip r:embed="rId4"/>
          <a:stretch>
            <a:fillRect/>
          </a:stretch>
        </p:blipFill>
        <p:spPr>
          <a:xfrm>
            <a:off x="8128467" y="1306129"/>
            <a:ext cx="368686" cy="368686"/>
          </a:xfrm>
          <a:prstGeom prst="rect">
            <a:avLst/>
          </a:prstGeom>
        </p:spPr>
      </p:pic>
      <p:sp>
        <p:nvSpPr>
          <p:cNvPr id="21" name="Text 15"/>
          <p:cNvSpPr txBox="1"/>
          <p:nvPr/>
        </p:nvSpPr>
        <p:spPr>
          <a:xfrm>
            <a:off x="7432243" y="1892808"/>
            <a:ext cx="1761134" cy="594360"/>
          </a:xfrm>
          <a:prstGeom prst="rect">
            <a:avLst/>
          </a:prstGeom>
          <a:noFill/>
          <a:ln/>
        </p:spPr>
        <p:txBody>
          <a:bodyPr wrap="square" lIns="508" tIns="508" rIns="508" bIns="508" rtlCol="0" anchor="ctr"/>
          <a:lstStyle/>
          <a:p>
            <a:pPr algn="ctr" indent="0" marL="0">
              <a:buNone/>
            </a:pPr>
            <a:r>
              <a:rPr lang="en-US" sz="1600" b="1" dirty="0">
                <a:solidFill>
                  <a:srgbClr val="234782"/>
                </a:solidFill>
                <a:latin typeface="Tahoma" pitchFamily="34" charset="0"/>
                <a:ea typeface="Tahoma" pitchFamily="34" charset="-122"/>
                <a:cs typeface="Tahoma" pitchFamily="34" charset="-120"/>
              </a:rPr>
              <a:t>Môi trường</a:t>
            </a:r>
            <a:endParaRPr lang="en-US" sz="1600" dirty="0"/>
          </a:p>
        </p:txBody>
      </p:sp>
      <p:sp>
        <p:nvSpPr>
          <p:cNvPr id="22" name="Text 16"/>
          <p:cNvSpPr txBox="1"/>
          <p:nvPr/>
        </p:nvSpPr>
        <p:spPr>
          <a:xfrm>
            <a:off x="7477963" y="2532888"/>
            <a:ext cx="1669694" cy="1444752"/>
          </a:xfrm>
          <a:prstGeom prst="rect">
            <a:avLst/>
          </a:prstGeom>
          <a:noFill/>
          <a:ln/>
        </p:spPr>
        <p:txBody>
          <a:bodyPr wrap="square" lIns="508" tIns="508" rIns="508" bIns="508" rtlCol="0" anchor="t"/>
          <a:lstStyle/>
          <a:p>
            <a:pPr algn="ctr" indent="0" marL="0">
              <a:buNone/>
            </a:pPr>
            <a:r>
              <a:rPr lang="en-US" sz="1400" dirty="0">
                <a:solidFill>
                  <a:srgbClr val="1F1F1F"/>
                </a:solidFill>
                <a:latin typeface="Tahoma" pitchFamily="34" charset="0"/>
                <a:ea typeface="Tahoma" pitchFamily="34" charset="-122"/>
                <a:cs typeface="Tahoma" pitchFamily="34" charset="-120"/>
              </a:rPr>
              <a:t>Nước rỉ bãi rác, ô nhiễm đất</a:t>
            </a:r>
            <a:endParaRPr lang="en-US" sz="1400" dirty="0"/>
          </a:p>
        </p:txBody>
      </p:sp>
      <p:sp>
        <p:nvSpPr>
          <p:cNvPr id="23" name="Shape 17"/>
          <p:cNvSpPr/>
          <p:nvPr/>
        </p:nvSpPr>
        <p:spPr>
          <a:xfrm>
            <a:off x="9513418" y="960120"/>
            <a:ext cx="2035454" cy="3108960"/>
          </a:xfrm>
          <a:prstGeom prst="roundRect">
            <a:avLst>
              <a:gd name="adj" fmla="val 4492"/>
            </a:avLst>
          </a:prstGeom>
          <a:solidFill>
            <a:srgbClr val="ECF3FA"/>
          </a:solidFill>
          <a:ln w="12700">
            <a:solidFill>
              <a:srgbClr val="ECF3FA"/>
            </a:solidFill>
            <a:prstDash val="solid"/>
          </a:ln>
        </p:spPr>
      </p:sp>
      <p:sp>
        <p:nvSpPr>
          <p:cNvPr id="24" name="Shape 18"/>
          <p:cNvSpPr/>
          <p:nvPr/>
        </p:nvSpPr>
        <p:spPr>
          <a:xfrm>
            <a:off x="10201961" y="1161288"/>
            <a:ext cx="658368" cy="658368"/>
          </a:xfrm>
          <a:prstGeom prst="ellipse">
            <a:avLst/>
          </a:prstGeom>
          <a:solidFill>
            <a:srgbClr val="D95F0E"/>
          </a:solidFill>
          <a:ln w="12700">
            <a:solidFill>
              <a:srgbClr val="D95F0E"/>
            </a:solidFill>
            <a:prstDash val="solid"/>
          </a:ln>
        </p:spPr>
      </p:sp>
      <p:pic>
        <p:nvPicPr>
          <p:cNvPr id="25" name="Image 4" descr="preencoded.png">    </p:cNvPr>
          <p:cNvPicPr>
            <a:picLocks noChangeAspect="1"/>
          </p:cNvPicPr>
          <p:nvPr/>
        </p:nvPicPr>
        <p:blipFill>
          <a:blip r:embed="rId5"/>
          <a:stretch>
            <a:fillRect/>
          </a:stretch>
        </p:blipFill>
        <p:spPr>
          <a:xfrm>
            <a:off x="10346802" y="1306129"/>
            <a:ext cx="368686" cy="368686"/>
          </a:xfrm>
          <a:prstGeom prst="rect">
            <a:avLst/>
          </a:prstGeom>
        </p:spPr>
      </p:pic>
      <p:sp>
        <p:nvSpPr>
          <p:cNvPr id="26" name="Text 19"/>
          <p:cNvSpPr txBox="1"/>
          <p:nvPr/>
        </p:nvSpPr>
        <p:spPr>
          <a:xfrm>
            <a:off x="9650578" y="1892808"/>
            <a:ext cx="1761134" cy="594360"/>
          </a:xfrm>
          <a:prstGeom prst="rect">
            <a:avLst/>
          </a:prstGeom>
          <a:noFill/>
          <a:ln/>
        </p:spPr>
        <p:txBody>
          <a:bodyPr wrap="square" lIns="508" tIns="508" rIns="508" bIns="508" rtlCol="0" anchor="ctr"/>
          <a:lstStyle/>
          <a:p>
            <a:pPr algn="ctr" indent="0" marL="0">
              <a:buNone/>
            </a:pPr>
            <a:r>
              <a:rPr lang="en-US" sz="1600" b="1" dirty="0">
                <a:solidFill>
                  <a:srgbClr val="234782"/>
                </a:solidFill>
                <a:latin typeface="Tahoma" pitchFamily="34" charset="0"/>
                <a:ea typeface="Tahoma" pitchFamily="34" charset="-122"/>
                <a:cs typeface="Tahoma" pitchFamily="34" charset="-120"/>
              </a:rPr>
              <a:t>Dầu khí</a:t>
            </a:r>
            <a:endParaRPr lang="en-US" sz="1600" dirty="0"/>
          </a:p>
        </p:txBody>
      </p:sp>
      <p:sp>
        <p:nvSpPr>
          <p:cNvPr id="27" name="Text 20"/>
          <p:cNvSpPr txBox="1"/>
          <p:nvPr/>
        </p:nvSpPr>
        <p:spPr>
          <a:xfrm>
            <a:off x="9696298" y="2532888"/>
            <a:ext cx="1669694" cy="1444752"/>
          </a:xfrm>
          <a:prstGeom prst="rect">
            <a:avLst/>
          </a:prstGeom>
          <a:noFill/>
          <a:ln/>
        </p:spPr>
        <p:txBody>
          <a:bodyPr wrap="square" lIns="508" tIns="508" rIns="508" bIns="508" rtlCol="0" anchor="t"/>
          <a:lstStyle/>
          <a:p>
            <a:pPr algn="ctr" indent="0" marL="0">
              <a:buNone/>
            </a:pPr>
            <a:r>
              <a:rPr lang="en-US" sz="1400" dirty="0">
                <a:solidFill>
                  <a:srgbClr val="1F1F1F"/>
                </a:solidFill>
                <a:latin typeface="Tahoma" pitchFamily="34" charset="0"/>
                <a:ea typeface="Tahoma" pitchFamily="34" charset="-122"/>
                <a:cs typeface="Tahoma" pitchFamily="34" charset="-120"/>
              </a:rPr>
              <a:t>Cùng cơ sở với log điện trở, định luật Archie</a:t>
            </a:r>
            <a:endParaRPr lang="en-US" sz="1400" dirty="0"/>
          </a:p>
        </p:txBody>
      </p:sp>
      <p:sp>
        <p:nvSpPr>
          <p:cNvPr id="28" name="Text 21"/>
          <p:cNvSpPr txBox="1"/>
          <p:nvPr/>
        </p:nvSpPr>
        <p:spPr>
          <a:xfrm>
            <a:off x="640080" y="4389120"/>
            <a:ext cx="10908792" cy="640080"/>
          </a:xfrm>
          <a:prstGeom prst="rect">
            <a:avLst/>
          </a:prstGeom>
          <a:noFill/>
          <a:ln/>
        </p:spPr>
        <p:txBody>
          <a:bodyPr wrap="square" lIns="508" tIns="508" rIns="508" bIns="508" rtlCol="0" anchor="ctr"/>
          <a:lstStyle/>
          <a:p>
            <a:pPr indent="0" marL="0">
              <a:buNone/>
            </a:pPr>
            <a:r>
              <a:rPr lang="en-US" sz="1700" b="1" dirty="0">
                <a:solidFill>
                  <a:srgbClr val="0086CA"/>
                </a:solidFill>
                <a:latin typeface="Tahoma" pitchFamily="34" charset="0"/>
                <a:ea typeface="Tahoma" pitchFamily="34" charset="-122"/>
                <a:cs typeface="Tahoma" pitchFamily="34" charset="-120"/>
              </a:rPr>
              <a:t>→ Ví dụ: ρa giảm mạnh khi AB/2 tăng (như đường cam ở hình 8) gợi ý lớp sét hoặc nước mặn bên dưới</a:t>
            </a:r>
            <a:endParaRPr lang="en-US" sz="17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8. Liên hệ với các bài tập của môn</a:t>
            </a:r>
            <a:endParaRPr lang="en-US" sz="2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960120"/>
          <a:ext cx="10908792" cy="914400"/>
        </p:xfrm>
        <a:graphic>
          <a:graphicData uri="http://schemas.openxmlformats.org/drawingml/2006/table">
            <a:tbl>
              <a:tblPr/>
              <a:tblGrid>
                <a:gridCol w="2651760"/>
                <a:gridCol w="3474720"/>
                <a:gridCol w="4782312"/>
              </a:tblGrid>
              <a:tr h="868680">
                <a:tc>
                  <a:txBody>
                    <a:bodyPr/>
                    <a:lstStyle/>
                    <a:p>
                      <a:pPr indent="0" marL="0">
                        <a:buNone/>
                      </a:pPr>
                      <a:r>
                        <a:rPr lang="en-US" sz="1400" b="1" dirty="0">
                          <a:solidFill>
                            <a:srgbClr val="FFFFFF"/>
                          </a:solidFill>
                          <a:latin typeface="Tahoma" pitchFamily="34" charset="0"/>
                          <a:ea typeface="Tahoma" pitchFamily="34" charset="-122"/>
                          <a:cs typeface="Tahoma" pitchFamily="34" charset="-120"/>
                        </a:rPr>
                        <a:t>Bài tập</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c>
                  <a:txBody>
                    <a:bodyPr/>
                    <a:lstStyle/>
                    <a:p>
                      <a:pPr indent="0" marL="0">
                        <a:buNone/>
                      </a:pPr>
                      <a:r>
                        <a:rPr lang="en-US" sz="1400" b="1" dirty="0">
                          <a:solidFill>
                            <a:srgbClr val="FFFFFF"/>
                          </a:solidFill>
                          <a:latin typeface="Tahoma" pitchFamily="34" charset="0"/>
                          <a:ea typeface="Tahoma" pitchFamily="34" charset="-122"/>
                          <a:cs typeface="Tahoma" pitchFamily="34" charset="-120"/>
                        </a:rPr>
                        <a:t>Nội dung bài</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c>
                  <a:txBody>
                    <a:bodyPr/>
                    <a:lstStyle/>
                    <a:p>
                      <a:pPr indent="0" marL="0">
                        <a:buNone/>
                      </a:pPr>
                      <a:r>
                        <a:rPr lang="en-US" sz="1400" b="1" dirty="0">
                          <a:solidFill>
                            <a:srgbClr val="FFFFFF"/>
                          </a:solidFill>
                          <a:latin typeface="Tahoma" pitchFamily="34" charset="0"/>
                          <a:ea typeface="Tahoma" pitchFamily="34" charset="-122"/>
                          <a:cs typeface="Tahoma" pitchFamily="34" charset="-120"/>
                        </a:rPr>
                        <a:t>Liên hệ với Terrameter</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r>
              <a:tr h="868680">
                <a:tc>
                  <a:txBody>
                    <a:bodyPr/>
                    <a:lstStyle/>
                    <a:p>
                      <a:pPr indent="0" marL="0">
                        <a:buNone/>
                      </a:pPr>
                      <a:r>
                        <a:rPr lang="en-US" sz="1400" dirty="0">
                          <a:solidFill>
                            <a:srgbClr val="1F1F1F"/>
                          </a:solidFill>
                          <a:latin typeface="Tahoma" pitchFamily="34" charset="0"/>
                          <a:ea typeface="Tahoma" pitchFamily="34" charset="-122"/>
                          <a:cs typeface="Tahoma" pitchFamily="34" charset="-120"/>
                        </a:rPr>
                        <a:t>A01 – Course outline</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Các phương pháp của môn học</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Phương pháp điện trở suất: thiết bị PVU là ABEM Terrameter</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868680">
                <a:tc>
                  <a:txBody>
                    <a:bodyPr/>
                    <a:lstStyle/>
                    <a:p>
                      <a:pPr indent="0" marL="0">
                        <a:buNone/>
                      </a:pPr>
                      <a:r>
                        <a:rPr lang="en-US" sz="1400" dirty="0">
                          <a:solidFill>
                            <a:srgbClr val="1F1F1F"/>
                          </a:solidFill>
                          <a:latin typeface="Tahoma" pitchFamily="34" charset="0"/>
                          <a:ea typeface="Tahoma" pitchFamily="34" charset="-122"/>
                          <a:cs typeface="Tahoma" pitchFamily="34" charset="-120"/>
                        </a:rPr>
                        <a:t>A02 – General Seismic</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Khảo sát, mô tả thiết bị tại phòng TN</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Cùng cách làm: mô tả bộ phận, thông số, quy trình của Terrameter</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r h="868680">
                <a:tc>
                  <a:txBody>
                    <a:bodyPr/>
                    <a:lstStyle/>
                    <a:p>
                      <a:pPr indent="0" marL="0">
                        <a:buNone/>
                      </a:pPr>
                      <a:r>
                        <a:rPr lang="en-US" sz="1400" dirty="0">
                          <a:solidFill>
                            <a:srgbClr val="1F1F1F"/>
                          </a:solidFill>
                          <a:latin typeface="Tahoma" pitchFamily="34" charset="0"/>
                          <a:ea typeface="Tahoma" pitchFamily="34" charset="-122"/>
                          <a:cs typeface="Tahoma" pitchFamily="34" charset="-120"/>
                        </a:rPr>
                        <a:t>A03 – Website AI</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Đăng hồ sơ, bài tập, dự án</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Thêm trang thiết bị: ảnh, thông số, quy trình đo Terrameter</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868680">
                <a:tc>
                  <a:txBody>
                    <a:bodyPr/>
                    <a:lstStyle/>
                    <a:p>
                      <a:pPr indent="0" marL="0">
                        <a:buNone/>
                      </a:pPr>
                      <a:r>
                        <a:rPr lang="en-US" sz="1400" dirty="0">
                          <a:solidFill>
                            <a:srgbClr val="1F1F1F"/>
                          </a:solidFill>
                          <a:latin typeface="Tahoma" pitchFamily="34" charset="0"/>
                          <a:ea typeface="Tahoma" pitchFamily="34" charset="-122"/>
                          <a:cs typeface="Tahoma" pitchFamily="34" charset="-120"/>
                        </a:rPr>
                        <a:t>A04 – Seismic Refraction</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Giải mô hình lớp từ biểu đồ thời khoảng</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VES cũng giải mô hình lớp (ρ, h); dùng kiểm tra khi khúc xạ gặp lớp ẩn, đảo vận tốc</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bl>
          </a:graphicData>
        </a:graphic>
      </p:graphicFrame>
      <p:sp>
        <p:nvSpPr>
          <p:cNvPr id="4" name="Text 1"/>
          <p:cNvSpPr txBox="1"/>
          <p:nvPr/>
        </p:nvSpPr>
        <p:spPr>
          <a:xfrm>
            <a:off x="640080" y="5440680"/>
            <a:ext cx="10908792" cy="640080"/>
          </a:xfrm>
          <a:prstGeom prst="rect">
            <a:avLst/>
          </a:prstGeom>
          <a:noFill/>
          <a:ln/>
        </p:spPr>
        <p:txBody>
          <a:bodyPr wrap="square" lIns="508" tIns="508" rIns="508" bIns="508" rtlCol="0" anchor="ctr"/>
          <a:lstStyle/>
          <a:p>
            <a:pPr indent="0" marL="0">
              <a:buNone/>
            </a:pPr>
            <a:r>
              <a:rPr lang="en-US" sz="1600" b="1" dirty="0">
                <a:solidFill>
                  <a:srgbClr val="0086CA"/>
                </a:solidFill>
                <a:latin typeface="Tahoma" pitchFamily="34" charset="0"/>
                <a:ea typeface="Tahoma" pitchFamily="34" charset="-122"/>
                <a:cs typeface="Tahoma" pitchFamily="34" charset="-120"/>
              </a:rPr>
              <a:t>→ Đường cong ở hình 8 và hệ số K đều tính bằng Python, cùng cách làm phần điểm cộng của A04</a:t>
            </a:r>
            <a:endParaRPr lang="en-US" sz="16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9. Bài tập: độ sâu đá gốc tại một vị trí</a:t>
            </a:r>
            <a:endParaRPr lang="en-US" sz="2800" dirty="0"/>
          </a:p>
        </p:txBody>
      </p:sp>
      <p:sp>
        <p:nvSpPr>
          <p:cNvPr id="3" name="Shape 1"/>
          <p:cNvSpPr/>
          <p:nvPr/>
        </p:nvSpPr>
        <p:spPr>
          <a:xfrm>
            <a:off x="640080" y="914400"/>
            <a:ext cx="10908792" cy="914400"/>
          </a:xfrm>
          <a:prstGeom prst="roundRect">
            <a:avLst>
              <a:gd name="adj" fmla="val 8000"/>
            </a:avLst>
          </a:prstGeom>
          <a:solidFill>
            <a:srgbClr val="234782"/>
          </a:solidFill>
          <a:ln w="12700">
            <a:solidFill>
              <a:srgbClr val="234782"/>
            </a:solidFill>
            <a:prstDash val="solid"/>
          </a:ln>
        </p:spPr>
      </p:sp>
      <p:sp>
        <p:nvSpPr>
          <p:cNvPr id="4" name="Shape 2"/>
          <p:cNvSpPr/>
          <p:nvPr/>
        </p:nvSpPr>
        <p:spPr>
          <a:xfrm>
            <a:off x="868680" y="1088136"/>
            <a:ext cx="566928" cy="566928"/>
          </a:xfrm>
          <a:prstGeom prst="ellipse">
            <a:avLst/>
          </a:prstGeom>
          <a:solidFill>
            <a:srgbClr val="234782"/>
          </a:solidFill>
          <a:ln w="25400">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996696" y="1216152"/>
            <a:ext cx="310896" cy="310896"/>
          </a:xfrm>
          <a:prstGeom prst="rect">
            <a:avLst/>
          </a:prstGeom>
        </p:spPr>
      </p:pic>
      <p:sp>
        <p:nvSpPr>
          <p:cNvPr id="6" name="Text 3"/>
          <p:cNvSpPr txBox="1"/>
          <p:nvPr/>
        </p:nvSpPr>
        <p:spPr>
          <a:xfrm>
            <a:off x="1645920" y="987552"/>
            <a:ext cx="9628632" cy="768096"/>
          </a:xfrm>
          <a:prstGeom prst="rect">
            <a:avLst/>
          </a:prstGeom>
          <a:noFill/>
          <a:ln/>
        </p:spPr>
        <p:txBody>
          <a:bodyPr wrap="square" lIns="508" tIns="508" rIns="508" bIns="508" rtlCol="0" anchor="ctr"/>
          <a:lstStyle/>
          <a:p>
            <a:pPr indent="0" marL="0">
              <a:buNone/>
            </a:pPr>
            <a:r>
              <a:rPr lang="en-US" sz="1700" b="1" dirty="0">
                <a:solidFill>
                  <a:srgbClr val="FFFFFF"/>
                </a:solidFill>
                <a:latin typeface="Tahoma" pitchFamily="34" charset="0"/>
                <a:ea typeface="Tahoma" pitchFamily="34" charset="-122"/>
                <a:cs typeface="Tahoma" pitchFamily="34" charset="-120"/>
              </a:rPr>
              <a:t>Cùng một vị trí: tìm chiều dày lớp phủ trên đá gốc bằng địa chấn khúc xạ (A04) và bằng đo sâu điện với Terrameter</a:t>
            </a:r>
            <a:endParaRPr lang="en-US" sz="1700" dirty="0"/>
          </a:p>
        </p:txBody>
      </p:sp>
      <p:sp>
        <p:nvSpPr>
          <p:cNvPr id="7" name="Shape 4"/>
          <p:cNvSpPr/>
          <p:nvPr/>
        </p:nvSpPr>
        <p:spPr>
          <a:xfrm>
            <a:off x="640080" y="2057400"/>
            <a:ext cx="5303520" cy="4251960"/>
          </a:xfrm>
          <a:prstGeom prst="roundRect">
            <a:avLst>
              <a:gd name="adj" fmla="val 2581"/>
            </a:avLst>
          </a:prstGeom>
          <a:solidFill>
            <a:srgbClr val="ECF3FA"/>
          </a:solidFill>
          <a:ln w="12700">
            <a:solidFill>
              <a:srgbClr val="ECF3FA"/>
            </a:solidFill>
            <a:prstDash val="solid"/>
          </a:ln>
        </p:spPr>
      </p:sp>
      <p:sp>
        <p:nvSpPr>
          <p:cNvPr id="8" name="Shape 5"/>
          <p:cNvSpPr/>
          <p:nvPr/>
        </p:nvSpPr>
        <p:spPr>
          <a:xfrm>
            <a:off x="868680" y="2221992"/>
            <a:ext cx="457200" cy="457200"/>
          </a:xfrm>
          <a:prstGeom prst="ellipse">
            <a:avLst/>
          </a:prstGeom>
          <a:solidFill>
            <a:srgbClr val="234782"/>
          </a:solidFill>
          <a:ln w="19050">
            <a:solidFill>
              <a:srgbClr val="234782"/>
            </a:solidFill>
            <a:prstDash val="solid"/>
          </a:ln>
        </p:spPr>
      </p:sp>
      <p:pic>
        <p:nvPicPr>
          <p:cNvPr id="9" name="Image 1" descr="preencoded.png">    </p:cNvPr>
          <p:cNvPicPr>
            <a:picLocks noChangeAspect="1"/>
          </p:cNvPicPr>
          <p:nvPr/>
        </p:nvPicPr>
        <p:blipFill>
          <a:blip r:embed="rId2"/>
          <a:stretch>
            <a:fillRect/>
          </a:stretch>
        </p:blipFill>
        <p:spPr>
          <a:xfrm>
            <a:off x="978408" y="2331720"/>
            <a:ext cx="237744" cy="237744"/>
          </a:xfrm>
          <a:prstGeom prst="rect">
            <a:avLst/>
          </a:prstGeom>
        </p:spPr>
      </p:pic>
      <p:sp>
        <p:nvSpPr>
          <p:cNvPr id="10" name="Text 6"/>
          <p:cNvSpPr txBox="1"/>
          <p:nvPr/>
        </p:nvSpPr>
        <p:spPr>
          <a:xfrm>
            <a:off x="1463040" y="2240280"/>
            <a:ext cx="4297680" cy="411480"/>
          </a:xfrm>
          <a:prstGeom prst="rect">
            <a:avLst/>
          </a:prstGeom>
          <a:noFill/>
          <a:ln/>
        </p:spPr>
        <p:txBody>
          <a:bodyPr wrap="square" lIns="508" tIns="508" rIns="508" bIns="508" rtlCol="0" anchor="ctr"/>
          <a:lstStyle/>
          <a:p>
            <a:pPr indent="0" marL="0">
              <a:buNone/>
            </a:pPr>
            <a:r>
              <a:rPr lang="en-US" sz="1700" b="1" dirty="0">
                <a:solidFill>
                  <a:srgbClr val="234782"/>
                </a:solidFill>
                <a:latin typeface="Tahoma" pitchFamily="34" charset="0"/>
                <a:ea typeface="Tahoma" pitchFamily="34" charset="-122"/>
                <a:cs typeface="Tahoma" pitchFamily="34" charset="-120"/>
              </a:rPr>
              <a:t>Dữ liệu khúc xạ (đề)</a:t>
            </a:r>
            <a:endParaRPr lang="en-US" sz="1700" dirty="0"/>
          </a:p>
        </p:txBody>
      </p:sp>
      <p:sp>
        <p:nvSpPr>
          <p:cNvPr id="11" name="Text 7"/>
          <p:cNvSpPr txBox="1"/>
          <p:nvPr/>
        </p:nvSpPr>
        <p:spPr>
          <a:xfrm>
            <a:off x="914400" y="2834640"/>
            <a:ext cx="4800600" cy="3337560"/>
          </a:xfrm>
          <a:prstGeom prst="rect">
            <a:avLst/>
          </a:prstGeom>
          <a:noFill/>
          <a:ln/>
        </p:spPr>
        <p:txBody>
          <a:bodyPr wrap="square" lIns="254" tIns="254" rIns="254" bIns="254" rtlCol="0" anchor="t"/>
          <a:lstStyle/>
          <a:p>
            <a:pPr marL="177800" indent="-177800">
              <a:spcAft>
                <a:spcPts val="800"/>
              </a:spcAft>
              <a:buSzPct val="100000"/>
              <a:buChar char="•"/>
            </a:pPr>
            <a:r>
              <a:rPr lang="en-US" sz="1400" dirty="0">
                <a:solidFill>
                  <a:srgbClr val="1F1F1F"/>
                </a:solidFill>
                <a:latin typeface="Tahoma" pitchFamily="34" charset="0"/>
                <a:ea typeface="Tahoma" pitchFamily="34" charset="-122"/>
                <a:cs typeface="Tahoma" pitchFamily="34" charset="-120"/>
              </a:rPr>
              <a:t>12 geophone, x = 5 – 60 m, cách 5 m</a:t>
            </a:r>
            <a:endParaRPr lang="en-US" sz="1400" dirty="0"/>
          </a:p>
          <a:p>
            <a:pPr marL="177800" indent="-177800">
              <a:spcAft>
                <a:spcPts val="800"/>
              </a:spcAft>
              <a:buSzPct val="100000"/>
              <a:buChar char="•"/>
            </a:pPr>
            <a:r>
              <a:rPr lang="en-US" sz="1400" dirty="0">
                <a:solidFill>
                  <a:srgbClr val="1F1F1F"/>
                </a:solidFill>
                <a:latin typeface="Tahoma" pitchFamily="34" charset="0"/>
                <a:ea typeface="Tahoma" pitchFamily="34" charset="-122"/>
                <a:cs typeface="Tahoma" pitchFamily="34" charset="-120"/>
              </a:rPr>
              <a:t>Thời gian sóng tới đầu t (ms): 10,0 · 20,0 · 26,9 · 29,4 · 31,9 · 34,4 · 36,9 · 39,4 · 41,9 · 44,4 · 46,9 · 49,4</a:t>
            </a:r>
            <a:endParaRPr lang="en-US" sz="1400" dirty="0"/>
          </a:p>
          <a:p>
            <a:pPr marL="177800" indent="-177800">
              <a:spcAft>
                <a:spcPts val="800"/>
              </a:spcAft>
              <a:buSzPct val="100000"/>
              <a:buChar char="•"/>
            </a:pPr>
            <a:r>
              <a:rPr lang="en-US" sz="1400" b="1" dirty="0">
                <a:solidFill>
                  <a:srgbClr val="1F1F1F"/>
                </a:solidFill>
                <a:latin typeface="Tahoma" pitchFamily="34" charset="0"/>
                <a:ea typeface="Tahoma" pitchFamily="34" charset="-122"/>
                <a:cs typeface="Tahoma" pitchFamily="34" charset="-120"/>
              </a:rPr>
              <a:t>Yêu cầu:</a:t>
            </a:r>
            <a:r>
              <a:rPr lang="en-US" sz="1400" dirty="0">
                <a:solidFill>
                  <a:srgbClr val="1F1F1F"/>
                </a:solidFill>
                <a:latin typeface="Tahoma" pitchFamily="34" charset="0"/>
                <a:ea typeface="Tahoma" pitchFamily="34" charset="-122"/>
                <a:cs typeface="Tahoma" pitchFamily="34" charset="-120"/>
              </a:rPr>
              <a:t> V₁, V₂, h</a:t>
            </a:r>
            <a:endParaRPr lang="en-US" sz="1400" dirty="0"/>
          </a:p>
        </p:txBody>
      </p:sp>
      <p:sp>
        <p:nvSpPr>
          <p:cNvPr id="12" name="Shape 8"/>
          <p:cNvSpPr/>
          <p:nvPr/>
        </p:nvSpPr>
        <p:spPr>
          <a:xfrm>
            <a:off x="6245352" y="2057400"/>
            <a:ext cx="5303520" cy="4251960"/>
          </a:xfrm>
          <a:prstGeom prst="roundRect">
            <a:avLst>
              <a:gd name="adj" fmla="val 2581"/>
            </a:avLst>
          </a:prstGeom>
          <a:solidFill>
            <a:srgbClr val="234782"/>
          </a:solidFill>
          <a:ln w="12700">
            <a:solidFill>
              <a:srgbClr val="234782"/>
            </a:solidFill>
            <a:prstDash val="solid"/>
          </a:ln>
        </p:spPr>
      </p:sp>
      <p:sp>
        <p:nvSpPr>
          <p:cNvPr id="13" name="Shape 9"/>
          <p:cNvSpPr/>
          <p:nvPr/>
        </p:nvSpPr>
        <p:spPr>
          <a:xfrm>
            <a:off x="6473952" y="2221992"/>
            <a:ext cx="457200" cy="457200"/>
          </a:xfrm>
          <a:prstGeom prst="ellipse">
            <a:avLst/>
          </a:prstGeom>
          <a:solidFill>
            <a:srgbClr val="234782"/>
          </a:solidFill>
          <a:ln w="1905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6583680" y="2331720"/>
            <a:ext cx="237744" cy="237744"/>
          </a:xfrm>
          <a:prstGeom prst="rect">
            <a:avLst/>
          </a:prstGeom>
        </p:spPr>
      </p:pic>
      <p:sp>
        <p:nvSpPr>
          <p:cNvPr id="15" name="Text 10"/>
          <p:cNvSpPr txBox="1"/>
          <p:nvPr/>
        </p:nvSpPr>
        <p:spPr>
          <a:xfrm>
            <a:off x="7068312" y="2240280"/>
            <a:ext cx="4297680" cy="411480"/>
          </a:xfrm>
          <a:prstGeom prst="rect">
            <a:avLst/>
          </a:prstGeom>
          <a:noFill/>
          <a:ln/>
        </p:spPr>
        <p:txBody>
          <a:bodyPr wrap="square" lIns="508" tIns="508" rIns="508" bIns="508" rtlCol="0" anchor="ctr"/>
          <a:lstStyle/>
          <a:p>
            <a:pPr indent="0" marL="0">
              <a:buNone/>
            </a:pPr>
            <a:r>
              <a:rPr lang="en-US" sz="1700" b="1" dirty="0">
                <a:solidFill>
                  <a:srgbClr val="FFFFFF"/>
                </a:solidFill>
                <a:latin typeface="Tahoma" pitchFamily="34" charset="0"/>
                <a:ea typeface="Tahoma" pitchFamily="34" charset="-122"/>
                <a:cs typeface="Tahoma" pitchFamily="34" charset="-120"/>
              </a:rPr>
              <a:t>Dữ liệu đo sâu điện (đề)</a:t>
            </a:r>
            <a:endParaRPr lang="en-US" sz="1700" dirty="0"/>
          </a:p>
        </p:txBody>
      </p:sp>
      <p:sp>
        <p:nvSpPr>
          <p:cNvPr id="16" name="Text 11"/>
          <p:cNvSpPr txBox="1"/>
          <p:nvPr/>
        </p:nvSpPr>
        <p:spPr>
          <a:xfrm>
            <a:off x="6519672" y="2834640"/>
            <a:ext cx="4800600" cy="3337560"/>
          </a:xfrm>
          <a:prstGeom prst="rect">
            <a:avLst/>
          </a:prstGeom>
          <a:noFill/>
          <a:ln/>
        </p:spPr>
        <p:txBody>
          <a:bodyPr wrap="square" lIns="254" tIns="254" rIns="254" bIns="254" rtlCol="0" anchor="t"/>
          <a:lstStyle/>
          <a:p>
            <a:pPr marL="177800" indent="-177800">
              <a:spcAft>
                <a:spcPts val="800"/>
              </a:spcAft>
              <a:buSzPct val="100000"/>
              <a:buChar char="•"/>
            </a:pPr>
            <a:r>
              <a:rPr lang="en-US" sz="1400" dirty="0">
                <a:solidFill>
                  <a:srgbClr val="FFFFFF"/>
                </a:solidFill>
                <a:latin typeface="Tahoma" pitchFamily="34" charset="0"/>
                <a:ea typeface="Tahoma" pitchFamily="34" charset="-122"/>
                <a:cs typeface="Tahoma" pitchFamily="34" charset="-120"/>
              </a:rPr>
              <a:t>Terrameter SAS, hệ </a:t>
            </a:r>
            <a:r>
              <a:rPr lang="en-US" sz="1400" b="1" dirty="0">
                <a:solidFill>
                  <a:srgbClr val="FFFFFF"/>
                </a:solidFill>
                <a:latin typeface="Tahoma" pitchFamily="34" charset="0"/>
                <a:ea typeface="Tahoma" pitchFamily="34" charset="-122"/>
                <a:cs typeface="Tahoma" pitchFamily="34" charset="-120"/>
              </a:rPr>
              <a:t>Schlumberger</a:t>
            </a:r>
            <a:r>
              <a:rPr lang="en-US" sz="1400" dirty="0">
                <a:solidFill>
                  <a:srgbClr val="FFFFFF"/>
                </a:solidFill>
                <a:latin typeface="Tahoma" pitchFamily="34" charset="0"/>
                <a:ea typeface="Tahoma" pitchFamily="34" charset="-122"/>
                <a:cs typeface="Tahoma" pitchFamily="34" charset="-120"/>
              </a:rPr>
              <a:t>, tâm đo giữa tuyến địa chấn</a:t>
            </a:r>
            <a:endParaRPr lang="en-US" sz="1400" dirty="0"/>
          </a:p>
          <a:p>
            <a:pPr marL="177800" indent="-177800">
              <a:spcAft>
                <a:spcPts val="800"/>
              </a:spcAft>
              <a:buSzPct val="100000"/>
              <a:buChar char="•"/>
            </a:pPr>
            <a:r>
              <a:rPr lang="en-US" sz="1400" dirty="0">
                <a:solidFill>
                  <a:srgbClr val="FFFFFF"/>
                </a:solidFill>
                <a:latin typeface="Tahoma" pitchFamily="34" charset="0"/>
                <a:ea typeface="Tahoma" pitchFamily="34" charset="-122"/>
                <a:cs typeface="Tahoma" pitchFamily="34" charset="-120"/>
              </a:rPr>
              <a:t>AB/2 = 1,5 – 50 m (10 cấp); MN/2 = 0,5 m, nới lên 2 m từ AB/2 = 10 m</a:t>
            </a:r>
            <a:endParaRPr lang="en-US" sz="1400" dirty="0"/>
          </a:p>
          <a:p>
            <a:pPr marL="177800" indent="-177800">
              <a:spcAft>
                <a:spcPts val="800"/>
              </a:spcAft>
              <a:buSzPct val="100000"/>
              <a:buChar char="•"/>
            </a:pPr>
            <a:r>
              <a:rPr lang="en-US" sz="1400" dirty="0">
                <a:solidFill>
                  <a:srgbClr val="FFFFFF"/>
                </a:solidFill>
                <a:latin typeface="Tahoma" pitchFamily="34" charset="0"/>
                <a:ea typeface="Tahoma" pitchFamily="34" charset="-122"/>
                <a:cs typeface="Tahoma" pitchFamily="34" charset="-120"/>
              </a:rPr>
              <a:t>Đo I và ΔU tại mỗi cấp</a:t>
            </a:r>
            <a:endParaRPr lang="en-US" sz="1400" dirty="0"/>
          </a:p>
          <a:p>
            <a:pPr marL="177800" indent="-177800">
              <a:spcAft>
                <a:spcPts val="800"/>
              </a:spcAft>
              <a:buSzPct val="100000"/>
              <a:buChar char="•"/>
            </a:pPr>
            <a:r>
              <a:rPr lang="en-US" sz="1400" b="1" dirty="0">
                <a:solidFill>
                  <a:srgbClr val="FFFFFF"/>
                </a:solidFill>
                <a:latin typeface="Tahoma" pitchFamily="34" charset="0"/>
                <a:ea typeface="Tahoma" pitchFamily="34" charset="-122"/>
                <a:cs typeface="Tahoma" pitchFamily="34" charset="-120"/>
              </a:rPr>
              <a:t>Yêu cầu:</a:t>
            </a:r>
            <a:r>
              <a:rPr lang="en-US" sz="1400" dirty="0">
                <a:solidFill>
                  <a:srgbClr val="FFFFFF"/>
                </a:solidFill>
                <a:latin typeface="Tahoma" pitchFamily="34" charset="0"/>
                <a:ea typeface="Tahoma" pitchFamily="34" charset="-122"/>
                <a:cs typeface="Tahoma" pitchFamily="34" charset="-120"/>
              </a:rPr>
              <a:t> ρa, mô hình lớp (ρ₁, ρ₂, h); so sánh với khúc xạ</a:t>
            </a:r>
            <a:endParaRPr lang="en-US" sz="14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9. Lời giải phần khúc xạ (A04)</a:t>
            </a:r>
            <a:endParaRPr lang="en-US" sz="2800" dirty="0"/>
          </a:p>
        </p:txBody>
      </p:sp>
      <p:graphicFrame>
        <p:nvGraphicFramePr>
          <p:cNvPr id="3" name="Chart 0" descr=""/>
          <p:cNvGraphicFramePr/>
          <p:nvPr/>
        </p:nvGraphicFramePr>
        <p:xfrm>
          <a:off x="640080" y="914400"/>
          <a:ext cx="6035040" cy="4572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40080" y="5577840"/>
            <a:ext cx="6035040" cy="292608"/>
          </a:xfrm>
          <a:prstGeom prst="rect">
            <a:avLst/>
          </a:prstGeom>
          <a:noFill/>
          <a:ln/>
        </p:spPr>
        <p:txBody>
          <a:bodyPr wrap="square" lIns="508" tIns="508" rIns="508" bIns="508" rtlCol="0" anchor="t"/>
          <a:lstStyle/>
          <a:p>
            <a:pPr algn="ctr" indent="0" marL="0">
              <a:buNone/>
            </a:pPr>
            <a:r>
              <a:rPr lang="en-US" sz="1200" dirty="0">
                <a:solidFill>
                  <a:srgbClr val="52514E"/>
                </a:solidFill>
                <a:latin typeface="Tahoma" pitchFamily="34" charset="0"/>
                <a:ea typeface="Tahoma" pitchFamily="34" charset="-122"/>
                <a:cs typeface="Tahoma" pitchFamily="34" charset="-120"/>
              </a:rPr>
              <a:t>Hình 9. Biểu đồ thời khoảng: 2 điểm đầu có độ dốc lớn (sóng trực tiếp), 10 điểm sau (sóng khúc xạ)</a:t>
            </a:r>
            <a:endParaRPr lang="en-US" sz="1200" dirty="0"/>
          </a:p>
        </p:txBody>
      </p:sp>
      <p:sp>
        <p:nvSpPr>
          <p:cNvPr id="5" name="Shape 2"/>
          <p:cNvSpPr/>
          <p:nvPr/>
        </p:nvSpPr>
        <p:spPr>
          <a:xfrm>
            <a:off x="6949440" y="914400"/>
            <a:ext cx="4599432" cy="4343400"/>
          </a:xfrm>
          <a:prstGeom prst="roundRect">
            <a:avLst>
              <a:gd name="adj" fmla="val 2526"/>
            </a:avLst>
          </a:prstGeom>
          <a:solidFill>
            <a:srgbClr val="ECF3FA"/>
          </a:solidFill>
          <a:ln w="12700">
            <a:solidFill>
              <a:srgbClr val="ECF3FA"/>
            </a:solidFill>
            <a:prstDash val="solid"/>
          </a:ln>
        </p:spPr>
      </p:sp>
      <p:sp>
        <p:nvSpPr>
          <p:cNvPr id="6" name="Shape 3"/>
          <p:cNvSpPr/>
          <p:nvPr/>
        </p:nvSpPr>
        <p:spPr>
          <a:xfrm>
            <a:off x="7178040" y="1078992"/>
            <a:ext cx="457200" cy="457200"/>
          </a:xfrm>
          <a:prstGeom prst="ellipse">
            <a:avLst/>
          </a:prstGeom>
          <a:solidFill>
            <a:srgbClr val="234782"/>
          </a:solidFill>
          <a:ln w="19050">
            <a:solidFill>
              <a:srgbClr val="234782"/>
            </a:solidFill>
            <a:prstDash val="solid"/>
          </a:ln>
        </p:spPr>
      </p:sp>
      <p:pic>
        <p:nvPicPr>
          <p:cNvPr id="7" name="Image 0" descr="preencoded.png">    </p:cNvPr>
          <p:cNvPicPr>
            <a:picLocks noChangeAspect="1"/>
          </p:cNvPicPr>
          <p:nvPr/>
        </p:nvPicPr>
        <p:blipFill>
          <a:blip r:embed="rId2"/>
          <a:stretch>
            <a:fillRect/>
          </a:stretch>
        </p:blipFill>
        <p:spPr>
          <a:xfrm>
            <a:off x="7287768" y="1188720"/>
            <a:ext cx="237744" cy="237744"/>
          </a:xfrm>
          <a:prstGeom prst="rect">
            <a:avLst/>
          </a:prstGeom>
        </p:spPr>
      </p:pic>
      <p:sp>
        <p:nvSpPr>
          <p:cNvPr id="8" name="Text 4"/>
          <p:cNvSpPr txBox="1"/>
          <p:nvPr/>
        </p:nvSpPr>
        <p:spPr>
          <a:xfrm>
            <a:off x="7772400" y="1097280"/>
            <a:ext cx="3593592" cy="411480"/>
          </a:xfrm>
          <a:prstGeom prst="rect">
            <a:avLst/>
          </a:prstGeom>
          <a:noFill/>
          <a:ln/>
        </p:spPr>
        <p:txBody>
          <a:bodyPr wrap="square" lIns="508" tIns="508" rIns="508" bIns="508" rtlCol="0" anchor="ctr"/>
          <a:lstStyle/>
          <a:p>
            <a:pPr indent="0" marL="0">
              <a:buNone/>
            </a:pPr>
            <a:r>
              <a:rPr lang="en-US" sz="1700" b="1" dirty="0">
                <a:solidFill>
                  <a:srgbClr val="234782"/>
                </a:solidFill>
                <a:latin typeface="Tahoma" pitchFamily="34" charset="0"/>
                <a:ea typeface="Tahoma" pitchFamily="34" charset="-122"/>
                <a:cs typeface="Tahoma" pitchFamily="34" charset="-120"/>
              </a:rPr>
              <a:t>Các bước giải</a:t>
            </a:r>
            <a:endParaRPr lang="en-US" sz="1700" dirty="0"/>
          </a:p>
        </p:txBody>
      </p:sp>
      <p:sp>
        <p:nvSpPr>
          <p:cNvPr id="9" name="Text 5"/>
          <p:cNvSpPr txBox="1"/>
          <p:nvPr/>
        </p:nvSpPr>
        <p:spPr>
          <a:xfrm>
            <a:off x="7223760" y="1691640"/>
            <a:ext cx="4096512" cy="3429000"/>
          </a:xfrm>
          <a:prstGeom prst="rect">
            <a:avLst/>
          </a:prstGeom>
          <a:noFill/>
          <a:ln/>
        </p:spPr>
        <p:txBody>
          <a:bodyPr wrap="square" lIns="254" tIns="254" rIns="254" bIns="254" rtlCol="0" anchor="t"/>
          <a:lstStyle/>
          <a:p>
            <a:pPr marL="177800" indent="-177800">
              <a:spcAft>
                <a:spcPts val="800"/>
              </a:spcAft>
              <a:buSzPct val="100000"/>
              <a:buChar char="•"/>
            </a:pPr>
            <a:r>
              <a:rPr lang="en-US" sz="1500" dirty="0">
                <a:solidFill>
                  <a:srgbClr val="1F1F1F"/>
                </a:solidFill>
                <a:latin typeface="Tahoma" pitchFamily="34" charset="0"/>
                <a:ea typeface="Tahoma" pitchFamily="34" charset="-122"/>
                <a:cs typeface="Tahoma" pitchFamily="34" charset="-120"/>
              </a:rPr>
              <a:t>Đoạn 1: độ dốc 2 ms/m → </a:t>
            </a:r>
            <a:r>
              <a:rPr lang="en-US" sz="1500" b="1" dirty="0">
                <a:solidFill>
                  <a:srgbClr val="1F1F1F"/>
                </a:solidFill>
                <a:latin typeface="Tahoma" pitchFamily="34" charset="0"/>
                <a:ea typeface="Tahoma" pitchFamily="34" charset="-122"/>
                <a:cs typeface="Tahoma" pitchFamily="34" charset="-120"/>
              </a:rPr>
              <a:t>V₁ = 500 m/s</a:t>
            </a:r>
            <a:endParaRPr lang="en-US" sz="1500" dirty="0"/>
          </a:p>
          <a:p>
            <a:pPr marL="177800" indent="-177800">
              <a:spcAft>
                <a:spcPts val="800"/>
              </a:spcAft>
              <a:buSzPct val="100000"/>
              <a:buChar char="•"/>
            </a:pPr>
            <a:r>
              <a:rPr lang="en-US" sz="1500" dirty="0">
                <a:solidFill>
                  <a:srgbClr val="1F1F1F"/>
                </a:solidFill>
                <a:latin typeface="Tahoma" pitchFamily="34" charset="0"/>
                <a:ea typeface="Tahoma" pitchFamily="34" charset="-122"/>
                <a:cs typeface="Tahoma" pitchFamily="34" charset="-120"/>
              </a:rPr>
              <a:t>Đoạn 2: độ dốc 0,5 ms/m → </a:t>
            </a:r>
            <a:r>
              <a:rPr lang="en-US" sz="1500" b="1" dirty="0">
                <a:solidFill>
                  <a:srgbClr val="1F1F1F"/>
                </a:solidFill>
                <a:latin typeface="Tahoma" pitchFamily="34" charset="0"/>
                <a:ea typeface="Tahoma" pitchFamily="34" charset="-122"/>
                <a:cs typeface="Tahoma" pitchFamily="34" charset="-120"/>
              </a:rPr>
              <a:t>V₂ = 2.000 m/s</a:t>
            </a:r>
            <a:r>
              <a:rPr lang="en-US" sz="1500" dirty="0">
                <a:solidFill>
                  <a:srgbClr val="1F1F1F"/>
                </a:solidFill>
                <a:latin typeface="Tahoma" pitchFamily="34" charset="0"/>
                <a:ea typeface="Tahoma" pitchFamily="34" charset="-122"/>
                <a:cs typeface="Tahoma" pitchFamily="34" charset="-120"/>
              </a:rPr>
              <a:t>; chặn tᵢ = 19,4 ms</a:t>
            </a:r>
            <a:endParaRPr lang="en-US" sz="1500" dirty="0"/>
          </a:p>
          <a:p>
            <a:pPr marL="177800" indent="-177800">
              <a:spcAft>
                <a:spcPts val="800"/>
              </a:spcAft>
              <a:buSzPct val="100000"/>
              <a:buChar char="•"/>
            </a:pPr>
            <a:r>
              <a:rPr lang="en-US" sz="1500" dirty="0">
                <a:solidFill>
                  <a:srgbClr val="1F1F1F"/>
                </a:solidFill>
                <a:latin typeface="Tahoma" pitchFamily="34" charset="0"/>
                <a:ea typeface="Tahoma" pitchFamily="34" charset="-122"/>
                <a:cs typeface="Tahoma" pitchFamily="34" charset="-120"/>
              </a:rPr>
              <a:t>sin iᶜ = 500/2.000 → iᶜ ≈ 14,5°</a:t>
            </a:r>
            <a:endParaRPr lang="en-US" sz="1500" dirty="0"/>
          </a:p>
          <a:p>
            <a:pPr marL="177800" indent="-177800">
              <a:spcAft>
                <a:spcPts val="800"/>
              </a:spcAft>
              <a:buSzPct val="100000"/>
              <a:buChar char="•"/>
            </a:pPr>
            <a:r>
              <a:rPr lang="en-US" sz="1500" dirty="0">
                <a:solidFill>
                  <a:srgbClr val="1F1F1F"/>
                </a:solidFill>
                <a:latin typeface="Tahoma" pitchFamily="34" charset="0"/>
                <a:ea typeface="Tahoma" pitchFamily="34" charset="-122"/>
                <a:cs typeface="Tahoma" pitchFamily="34" charset="-120"/>
              </a:rPr>
              <a:t>h = tᵢV₁V₂ / (2√(V₂² − V₁²)) ≈ </a:t>
            </a:r>
            <a:r>
              <a:rPr lang="en-US" sz="1500" b="1" dirty="0">
                <a:solidFill>
                  <a:srgbClr val="1F1F1F"/>
                </a:solidFill>
                <a:latin typeface="Tahoma" pitchFamily="34" charset="0"/>
                <a:ea typeface="Tahoma" pitchFamily="34" charset="-122"/>
                <a:cs typeface="Tahoma" pitchFamily="34" charset="-120"/>
              </a:rPr>
              <a:t>5,0 m</a:t>
            </a:r>
            <a:endParaRPr lang="en-US" sz="1500" dirty="0"/>
          </a:p>
        </p:txBody>
      </p:sp>
      <p:sp>
        <p:nvSpPr>
          <p:cNvPr id="10" name="Text 6"/>
          <p:cNvSpPr txBox="1"/>
          <p:nvPr/>
        </p:nvSpPr>
        <p:spPr>
          <a:xfrm>
            <a:off x="6949440" y="5394960"/>
            <a:ext cx="4599432" cy="640080"/>
          </a:xfrm>
          <a:prstGeom prst="rect">
            <a:avLst/>
          </a:prstGeom>
          <a:noFill/>
          <a:ln/>
        </p:spPr>
        <p:txBody>
          <a:bodyPr wrap="square" lIns="508" tIns="508" rIns="508" bIns="508" rtlCol="0" anchor="ctr"/>
          <a:lstStyle/>
          <a:p>
            <a:pPr indent="0" marL="0">
              <a:buNone/>
            </a:pPr>
            <a:r>
              <a:rPr lang="en-US" sz="1500" b="1" dirty="0">
                <a:solidFill>
                  <a:srgbClr val="0086CA"/>
                </a:solidFill>
                <a:latin typeface="Tahoma" pitchFamily="34" charset="0"/>
                <a:ea typeface="Tahoma" pitchFamily="34" charset="-122"/>
                <a:cs typeface="Tahoma" pitchFamily="34" charset="-120"/>
              </a:rPr>
              <a:t>→ Code Python (np.polyfit hai đoạn) cho cùng kết quả</a:t>
            </a:r>
            <a:endParaRPr lang="en-US" sz="15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9. Lời giải phần đo sâu điện (Terrameter)</a:t>
            </a:r>
            <a:endParaRPr lang="en-US" sz="2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914400"/>
          <a:ext cx="5852160" cy="914400"/>
        </p:xfrm>
        <a:graphic>
          <a:graphicData uri="http://schemas.openxmlformats.org/drawingml/2006/table">
            <a:tbl>
              <a:tblPr/>
              <a:tblGrid>
                <a:gridCol w="914400"/>
                <a:gridCol w="960120"/>
                <a:gridCol w="960120"/>
                <a:gridCol w="914400"/>
                <a:gridCol w="1005840"/>
                <a:gridCol w="1097280"/>
              </a:tblGrid>
              <a:tr h="384048">
                <a:tc>
                  <a:txBody>
                    <a:bodyPr/>
                    <a:lstStyle/>
                    <a:p>
                      <a:pPr indent="0" marL="0">
                        <a:buNone/>
                      </a:pPr>
                      <a:r>
                        <a:rPr lang="en-US" sz="1200" b="1" dirty="0">
                          <a:solidFill>
                            <a:srgbClr val="FFFFFF"/>
                          </a:solidFill>
                          <a:latin typeface="Tahoma" pitchFamily="34" charset="0"/>
                          <a:ea typeface="Tahoma" pitchFamily="34" charset="-122"/>
                          <a:cs typeface="Tahoma" pitchFamily="34" charset="-120"/>
                        </a:rPr>
                        <a:t>AB/2 (m)</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c>
                  <a:txBody>
                    <a:bodyPr/>
                    <a:lstStyle/>
                    <a:p>
                      <a:pPr indent="0" marL="0">
                        <a:buNone/>
                      </a:pPr>
                      <a:r>
                        <a:rPr lang="en-US" sz="1200" b="1" dirty="0">
                          <a:solidFill>
                            <a:srgbClr val="FFFFFF"/>
                          </a:solidFill>
                          <a:latin typeface="Tahoma" pitchFamily="34" charset="0"/>
                          <a:ea typeface="Tahoma" pitchFamily="34" charset="-122"/>
                          <a:cs typeface="Tahoma" pitchFamily="34" charset="-120"/>
                        </a:rPr>
                        <a:t>MN/2 (m)</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c>
                  <a:txBody>
                    <a:bodyPr/>
                    <a:lstStyle/>
                    <a:p>
                      <a:pPr indent="0" marL="0">
                        <a:buNone/>
                      </a:pPr>
                      <a:r>
                        <a:rPr lang="en-US" sz="1200" b="1" dirty="0">
                          <a:solidFill>
                            <a:srgbClr val="FFFFFF"/>
                          </a:solidFill>
                          <a:latin typeface="Tahoma" pitchFamily="34" charset="0"/>
                          <a:ea typeface="Tahoma" pitchFamily="34" charset="-122"/>
                          <a:cs typeface="Tahoma" pitchFamily="34" charset="-120"/>
                        </a:rPr>
                        <a:t>K (m)</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c>
                  <a:txBody>
                    <a:bodyPr/>
                    <a:lstStyle/>
                    <a:p>
                      <a:pPr indent="0" marL="0">
                        <a:buNone/>
                      </a:pPr>
                      <a:r>
                        <a:rPr lang="en-US" sz="1200" b="1" dirty="0">
                          <a:solidFill>
                            <a:srgbClr val="FFFFFF"/>
                          </a:solidFill>
                          <a:latin typeface="Tahoma" pitchFamily="34" charset="0"/>
                          <a:ea typeface="Tahoma" pitchFamily="34" charset="-122"/>
                          <a:cs typeface="Tahoma" pitchFamily="34" charset="-120"/>
                        </a:rPr>
                        <a:t>I (mA)</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c>
                  <a:txBody>
                    <a:bodyPr/>
                    <a:lstStyle/>
                    <a:p>
                      <a:pPr indent="0" marL="0">
                        <a:buNone/>
                      </a:pPr>
                      <a:r>
                        <a:rPr lang="en-US" sz="1200" b="1" dirty="0">
                          <a:solidFill>
                            <a:srgbClr val="FFFFFF"/>
                          </a:solidFill>
                          <a:latin typeface="Tahoma" pitchFamily="34" charset="0"/>
                          <a:ea typeface="Tahoma" pitchFamily="34" charset="-122"/>
                          <a:cs typeface="Tahoma" pitchFamily="34" charset="-120"/>
                        </a:rPr>
                        <a:t>ΔU (V)</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c>
                  <a:txBody>
                    <a:bodyPr/>
                    <a:lstStyle/>
                    <a:p>
                      <a:pPr indent="0" marL="0">
                        <a:buNone/>
                      </a:pPr>
                      <a:r>
                        <a:rPr lang="en-US" sz="1200" b="1" dirty="0">
                          <a:solidFill>
                            <a:srgbClr val="FFFFFF"/>
                          </a:solidFill>
                          <a:latin typeface="Tahoma" pitchFamily="34" charset="0"/>
                          <a:ea typeface="Tahoma" pitchFamily="34" charset="-122"/>
                          <a:cs typeface="Tahoma" pitchFamily="34" charset="-120"/>
                        </a:rPr>
                        <a:t>ρa (Ω·m)</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r>
              <a:tr h="384048">
                <a:tc>
                  <a:txBody>
                    <a:bodyPr/>
                    <a:lstStyle/>
                    <a:p>
                      <a:pPr indent="0" marL="0">
                        <a:buNone/>
                      </a:pPr>
                      <a:r>
                        <a:rPr lang="en-US" sz="1200" dirty="0">
                          <a:solidFill>
                            <a:srgbClr val="1F1F1F"/>
                          </a:solidFill>
                          <a:latin typeface="Tahoma" pitchFamily="34" charset="0"/>
                          <a:ea typeface="Tahoma" pitchFamily="34" charset="-122"/>
                          <a:cs typeface="Tahoma" pitchFamily="34" charset="-120"/>
                        </a:rPr>
                        <a:t>1,5</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0,5</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6,3</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200</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3,333</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104,7</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1F1F"/>
                          </a:solidFill>
                          <a:latin typeface="Tahoma" pitchFamily="34" charset="0"/>
                          <a:ea typeface="Tahoma" pitchFamily="34" charset="-122"/>
                          <a:cs typeface="Tahoma" pitchFamily="34" charset="-120"/>
                        </a:rPr>
                        <a:t>2</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0,5</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11,8</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200</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1,634</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96,2</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r h="384048">
                <a:tc>
                  <a:txBody>
                    <a:bodyPr/>
                    <a:lstStyle/>
                    <a:p>
                      <a:pPr indent="0" marL="0">
                        <a:buNone/>
                      </a:pPr>
                      <a:r>
                        <a:rPr lang="en-US" sz="1200" dirty="0">
                          <a:solidFill>
                            <a:srgbClr val="1F1F1F"/>
                          </a:solidFill>
                          <a:latin typeface="Tahoma" pitchFamily="34" charset="0"/>
                          <a:ea typeface="Tahoma" pitchFamily="34" charset="-122"/>
                          <a:cs typeface="Tahoma" pitchFamily="34" charset="-120"/>
                        </a:rPr>
                        <a:t>3</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0,5</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27,5</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200</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0,767</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105,4</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1F1F"/>
                          </a:solidFill>
                          <a:latin typeface="Tahoma" pitchFamily="34" charset="0"/>
                          <a:ea typeface="Tahoma" pitchFamily="34" charset="-122"/>
                          <a:cs typeface="Tahoma" pitchFamily="34" charset="-120"/>
                        </a:rPr>
                        <a:t>5</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0,5</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77,8</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200</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0,298</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116,0</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r h="384048">
                <a:tc>
                  <a:txBody>
                    <a:bodyPr/>
                    <a:lstStyle/>
                    <a:p>
                      <a:pPr indent="0" marL="0">
                        <a:buNone/>
                      </a:pPr>
                      <a:r>
                        <a:rPr lang="en-US" sz="1200" dirty="0">
                          <a:solidFill>
                            <a:srgbClr val="1F1F1F"/>
                          </a:solidFill>
                          <a:latin typeface="Tahoma" pitchFamily="34" charset="0"/>
                          <a:ea typeface="Tahoma" pitchFamily="34" charset="-122"/>
                          <a:cs typeface="Tahoma" pitchFamily="34" charset="-120"/>
                        </a:rPr>
                        <a:t>7</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0,5</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153,2</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200</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0,178</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136,6</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1F1F"/>
                          </a:solidFill>
                          <a:latin typeface="Tahoma" pitchFamily="34" charset="0"/>
                          <a:ea typeface="Tahoma" pitchFamily="34" charset="-122"/>
                          <a:cs typeface="Tahoma" pitchFamily="34" charset="-120"/>
                        </a:rPr>
                        <a:t>10</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2,0</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75,4</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200</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0,464</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175,0</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r h="384048">
                <a:tc>
                  <a:txBody>
                    <a:bodyPr/>
                    <a:lstStyle/>
                    <a:p>
                      <a:pPr indent="0" marL="0">
                        <a:buNone/>
                      </a:pPr>
                      <a:r>
                        <a:rPr lang="en-US" sz="1200" dirty="0">
                          <a:solidFill>
                            <a:srgbClr val="1F1F1F"/>
                          </a:solidFill>
                          <a:latin typeface="Tahoma" pitchFamily="34" charset="0"/>
                          <a:ea typeface="Tahoma" pitchFamily="34" charset="-122"/>
                          <a:cs typeface="Tahoma" pitchFamily="34" charset="-120"/>
                        </a:rPr>
                        <a:t>15</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2,0</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173,6</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200</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0,266</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230,8</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1F1F"/>
                          </a:solidFill>
                          <a:latin typeface="Tahoma" pitchFamily="34" charset="0"/>
                          <a:ea typeface="Tahoma" pitchFamily="34" charset="-122"/>
                          <a:cs typeface="Tahoma" pitchFamily="34" charset="-120"/>
                        </a:rPr>
                        <a:t>20</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2,0</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311,0</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500</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0,479</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297,9</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r h="384048">
                <a:tc>
                  <a:txBody>
                    <a:bodyPr/>
                    <a:lstStyle/>
                    <a:p>
                      <a:pPr indent="0" marL="0">
                        <a:buNone/>
                      </a:pPr>
                      <a:r>
                        <a:rPr lang="en-US" sz="1200" dirty="0">
                          <a:solidFill>
                            <a:srgbClr val="1F1F1F"/>
                          </a:solidFill>
                          <a:latin typeface="Tahoma" pitchFamily="34" charset="0"/>
                          <a:ea typeface="Tahoma" pitchFamily="34" charset="-122"/>
                          <a:cs typeface="Tahoma" pitchFamily="34" charset="-120"/>
                        </a:rPr>
                        <a:t>30</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2,0</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703,7</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500</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0,278</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391,0</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1F1F"/>
                          </a:solidFill>
                          <a:latin typeface="Tahoma" pitchFamily="34" charset="0"/>
                          <a:ea typeface="Tahoma" pitchFamily="34" charset="-122"/>
                          <a:cs typeface="Tahoma" pitchFamily="34" charset="-120"/>
                        </a:rPr>
                        <a:t>50</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2,0</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1960,4</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500</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0,147</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200" dirty="0">
                          <a:solidFill>
                            <a:srgbClr val="1F1F1F"/>
                          </a:solidFill>
                          <a:latin typeface="Tahoma" pitchFamily="34" charset="0"/>
                          <a:ea typeface="Tahoma" pitchFamily="34" charset="-122"/>
                          <a:cs typeface="Tahoma" pitchFamily="34" charset="-120"/>
                        </a:rPr>
                        <a:t>577,4</a:t>
                      </a:r>
                      <a:endParaRPr lang="en-US" sz="12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bl>
          </a:graphicData>
        </a:graphic>
      </p:graphicFrame>
      <p:sp>
        <p:nvSpPr>
          <p:cNvPr id="4" name="Text 1"/>
          <p:cNvSpPr txBox="1"/>
          <p:nvPr/>
        </p:nvSpPr>
        <p:spPr>
          <a:xfrm>
            <a:off x="640080" y="5257800"/>
            <a:ext cx="5852160" cy="548640"/>
          </a:xfrm>
          <a:prstGeom prst="rect">
            <a:avLst/>
          </a:prstGeom>
          <a:noFill/>
          <a:ln/>
        </p:spPr>
        <p:txBody>
          <a:bodyPr wrap="square" lIns="508" tIns="508" rIns="508" bIns="508" rtlCol="0" anchor="t"/>
          <a:lstStyle/>
          <a:p>
            <a:pPr indent="0" marL="0">
              <a:buNone/>
            </a:pPr>
            <a:r>
              <a:rPr lang="en-US" sz="1300" dirty="0">
                <a:solidFill>
                  <a:srgbClr val="52514E"/>
                </a:solidFill>
                <a:latin typeface="Tahoma" pitchFamily="34" charset="0"/>
                <a:ea typeface="Tahoma" pitchFamily="34" charset="-122"/>
                <a:cs typeface="Tahoma" pitchFamily="34" charset="-120"/>
              </a:rPr>
              <a:t>K = π(L² − l²)/2l;  ρa = K·ΔU/I. Ví dụ AB/2 = 20 m: ρa = 311,0 × 0,479 / 0,5 ≈ 298 Ω·m</a:t>
            </a:r>
            <a:endParaRPr lang="en-US" sz="1300" dirty="0"/>
          </a:p>
        </p:txBody>
      </p:sp>
      <p:graphicFrame>
        <p:nvGraphicFramePr>
          <p:cNvPr id="5" name="Chart 0" descr=""/>
          <p:cNvGraphicFramePr/>
          <p:nvPr/>
        </p:nvGraphicFramePr>
        <p:xfrm>
          <a:off x="6720840" y="914400"/>
          <a:ext cx="4828032" cy="393192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720840" y="4937760"/>
            <a:ext cx="4828032" cy="1371600"/>
          </a:xfrm>
          <a:prstGeom prst="roundRect">
            <a:avLst>
              <a:gd name="adj" fmla="val 8000"/>
            </a:avLst>
          </a:prstGeom>
          <a:solidFill>
            <a:srgbClr val="234782"/>
          </a:solidFill>
          <a:ln w="12700">
            <a:solidFill>
              <a:srgbClr val="234782"/>
            </a:solidFill>
            <a:prstDash val="solid"/>
          </a:ln>
        </p:spPr>
      </p:sp>
      <p:sp>
        <p:nvSpPr>
          <p:cNvPr id="7" name="Text 3"/>
          <p:cNvSpPr txBox="1"/>
          <p:nvPr/>
        </p:nvSpPr>
        <p:spPr>
          <a:xfrm>
            <a:off x="6995160" y="5120640"/>
            <a:ext cx="4370832" cy="411480"/>
          </a:xfrm>
          <a:prstGeom prst="rect">
            <a:avLst/>
          </a:prstGeom>
          <a:noFill/>
          <a:ln/>
        </p:spPr>
        <p:txBody>
          <a:bodyPr wrap="square" lIns="508" tIns="508" rIns="508" bIns="508" rtlCol="0" anchor="ctr"/>
          <a:lstStyle/>
          <a:p>
            <a:pPr indent="0" marL="0">
              <a:buNone/>
            </a:pPr>
            <a:r>
              <a:rPr lang="en-US" sz="1700" b="1" dirty="0">
                <a:solidFill>
                  <a:srgbClr val="FFFFFF"/>
                </a:solidFill>
                <a:latin typeface="Tahoma" pitchFamily="34" charset="0"/>
                <a:ea typeface="Tahoma" pitchFamily="34" charset="-122"/>
                <a:cs typeface="Tahoma" pitchFamily="34" charset="-120"/>
              </a:rPr>
              <a:t>Giải ngược (Python)</a:t>
            </a:r>
            <a:endParaRPr lang="en-US" sz="1700" dirty="0"/>
          </a:p>
        </p:txBody>
      </p:sp>
      <p:sp>
        <p:nvSpPr>
          <p:cNvPr id="8" name="Text 4"/>
          <p:cNvSpPr txBox="1"/>
          <p:nvPr/>
        </p:nvSpPr>
        <p:spPr>
          <a:xfrm>
            <a:off x="6995160" y="5715000"/>
            <a:ext cx="4325112" cy="457200"/>
          </a:xfrm>
          <a:prstGeom prst="rect">
            <a:avLst/>
          </a:prstGeom>
          <a:noFill/>
          <a:ln/>
        </p:spPr>
        <p:txBody>
          <a:bodyPr wrap="square" lIns="254" tIns="254" rIns="254" bIns="254" rtlCol="0" anchor="t"/>
          <a:lstStyle/>
          <a:p>
            <a:pPr marL="177800" indent="-177800">
              <a:spcAft>
                <a:spcPts val="800"/>
              </a:spcAft>
              <a:buSzPct val="100000"/>
              <a:buChar char="•"/>
            </a:pPr>
            <a:r>
              <a:rPr lang="en-US" sz="1400" dirty="0">
                <a:solidFill>
                  <a:srgbClr val="FFFFFF"/>
                </a:solidFill>
                <a:latin typeface="Tahoma" pitchFamily="34" charset="0"/>
                <a:ea typeface="Tahoma" pitchFamily="34" charset="-122"/>
                <a:cs typeface="Tahoma" pitchFamily="34" charset="-120"/>
              </a:rPr>
              <a:t>ρ₁ ≈ 100 Ω·m, ρ₂ ≈ 1.200 Ω·m, </a:t>
            </a:r>
            <a:r>
              <a:rPr lang="en-US" sz="1400" b="1" dirty="0">
                <a:solidFill>
                  <a:srgbClr val="FFFFFF"/>
                </a:solidFill>
                <a:latin typeface="Tahoma" pitchFamily="34" charset="0"/>
                <a:ea typeface="Tahoma" pitchFamily="34" charset="-122"/>
                <a:cs typeface="Tahoma" pitchFamily="34" charset="-120"/>
              </a:rPr>
              <a:t>h ≈ 5,3 m</a:t>
            </a:r>
            <a:endParaRPr lang="en-US" sz="14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9. So sánh và mối liên hệ</a:t>
            </a:r>
            <a:endParaRPr lang="en-US" sz="2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0080" y="914400"/>
          <a:ext cx="10908792" cy="914400"/>
        </p:xfrm>
        <a:graphic>
          <a:graphicData uri="http://schemas.openxmlformats.org/drawingml/2006/table">
            <a:tbl>
              <a:tblPr/>
              <a:tblGrid>
                <a:gridCol w="2651760"/>
                <a:gridCol w="4114800"/>
                <a:gridCol w="4142232"/>
              </a:tblGrid>
              <a:tr h="0">
                <a:tc>
                  <a:txBody>
                    <a:bodyPr/>
                    <a:lstStyle/>
                    <a:p>
                      <a:pPr indent="0" marL="0">
                        <a:buNone/>
                      </a:pP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c>
                  <a:txBody>
                    <a:bodyPr/>
                    <a:lstStyle/>
                    <a:p>
                      <a:pPr indent="0" marL="0">
                        <a:buNone/>
                      </a:pPr>
                      <a:r>
                        <a:rPr lang="en-US" sz="1400" b="1" dirty="0">
                          <a:solidFill>
                            <a:srgbClr val="FFFFFF"/>
                          </a:solidFill>
                          <a:latin typeface="Tahoma" pitchFamily="34" charset="0"/>
                          <a:ea typeface="Tahoma" pitchFamily="34" charset="-122"/>
                          <a:cs typeface="Tahoma" pitchFamily="34" charset="-120"/>
                        </a:rPr>
                        <a:t>Địa chấn khúc xạ (A04)</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c>
                  <a:txBody>
                    <a:bodyPr/>
                    <a:lstStyle/>
                    <a:p>
                      <a:pPr indent="0" marL="0">
                        <a:buNone/>
                      </a:pPr>
                      <a:r>
                        <a:rPr lang="en-US" sz="1400" b="1" dirty="0">
                          <a:solidFill>
                            <a:srgbClr val="FFFFFF"/>
                          </a:solidFill>
                          <a:latin typeface="Tahoma" pitchFamily="34" charset="0"/>
                          <a:ea typeface="Tahoma" pitchFamily="34" charset="-122"/>
                          <a:cs typeface="Tahoma" pitchFamily="34" charset="-120"/>
                        </a:rPr>
                        <a:t>Đo sâu điện (Terrameter)</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234782"/>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Thiết bị</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MAE Sysmatrack, geophone, búa</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ABEM Terrameter SAS, 4 điện cực</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Tính chất đo</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Vận tốc sóng P</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Điện trở suất</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Lớp 1 (đất phủ)</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V₁ = 500 m/s</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ρ₁ ≈ 100 Ω·m</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Lớp 2 (đá gốc)</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V₂ = 2.000 m/s</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ρ₂ ≈ 1.200 Ω·m</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Chiều dày lớp phủ</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h ≈ 5,0 m</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h ≈ 5,3 m</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1F1F"/>
                          </a:solidFill>
                          <a:latin typeface="Tahoma" pitchFamily="34" charset="0"/>
                          <a:ea typeface="Tahoma" pitchFamily="34" charset="-122"/>
                          <a:cs typeface="Tahoma" pitchFamily="34" charset="-120"/>
                        </a:rPr>
                        <a:t>Cách giải</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Hồi quy 2 đoạn thẳng</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c>
                  <a:txBody>
                    <a:bodyPr/>
                    <a:lstStyle/>
                    <a:p>
                      <a:pPr indent="0" marL="0">
                        <a:buNone/>
                      </a:pPr>
                      <a:r>
                        <a:rPr lang="en-US" sz="1400" dirty="0">
                          <a:solidFill>
                            <a:srgbClr val="1F1F1F"/>
                          </a:solidFill>
                          <a:latin typeface="Tahoma" pitchFamily="34" charset="0"/>
                          <a:ea typeface="Tahoma" pitchFamily="34" charset="-122"/>
                          <a:cs typeface="Tahoma" pitchFamily="34" charset="-120"/>
                        </a:rPr>
                        <a:t>Khớp đường cong 2 lớp</a:t>
                      </a:r>
                      <a:endParaRPr lang="en-US" sz="1400" dirty="0">
                        <a:latin typeface="Tahoma" charset="0"/>
                        <a:ea typeface="Tahoma" charset="0"/>
                        <a:cs typeface="Tahoma" charset="0"/>
                      </a:endParaRPr>
                    </a:p>
                  </a:txBody>
                  <a:tcPr marL="76200" marR="76200" marT="50800" marB="50800" anchor="ctr">
                    <a:lnL w="9525" cap="flat" cmpd="sng" algn="ctr">
                      <a:solidFill>
                        <a:srgbClr val="C9D8EA"/>
                      </a:solidFill>
                      <a:prstDash val="solid"/>
                      <a:round/>
                      <a:headEnd type="none" w="med" len="med"/>
                      <a:tailEnd type="none" w="med" len="med"/>
                    </a:lnL>
                    <a:lnR w="9525" cap="flat" cmpd="sng" algn="ctr">
                      <a:solidFill>
                        <a:srgbClr val="C9D8EA"/>
                      </a:solidFill>
                      <a:prstDash val="solid"/>
                      <a:round/>
                      <a:headEnd type="none" w="med" len="med"/>
                      <a:tailEnd type="none" w="med" len="med"/>
                    </a:lnR>
                    <a:lnT w="9525" cap="flat" cmpd="sng" algn="ctr">
                      <a:solidFill>
                        <a:srgbClr val="C9D8EA"/>
                      </a:solidFill>
                      <a:prstDash val="solid"/>
                      <a:round/>
                      <a:headEnd type="none" w="med" len="med"/>
                      <a:tailEnd type="none" w="med" len="med"/>
                    </a:lnT>
                    <a:lnB w="9525" cap="flat" cmpd="sng" algn="ctr">
                      <a:solidFill>
                        <a:srgbClr val="C9D8EA"/>
                      </a:solidFill>
                      <a:prstDash val="solid"/>
                      <a:round/>
                      <a:headEnd type="none" w="med" len="med"/>
                      <a:tailEnd type="none" w="med" len="med"/>
                    </a:lnB>
                    <a:solidFill>
                      <a:srgbClr val="ECF3FA"/>
                    </a:solidFill>
                  </a:tcPr>
                </a:tc>
              </a:tr>
            </a:tbl>
          </a:graphicData>
        </a:graphic>
      </p:graphicFrame>
      <p:sp>
        <p:nvSpPr>
          <p:cNvPr id="4" name="Shape 1"/>
          <p:cNvSpPr/>
          <p:nvPr/>
        </p:nvSpPr>
        <p:spPr>
          <a:xfrm>
            <a:off x="640080" y="3794760"/>
            <a:ext cx="3514344" cy="2514600"/>
          </a:xfrm>
          <a:prstGeom prst="roundRect">
            <a:avLst>
              <a:gd name="adj" fmla="val 3636"/>
            </a:avLst>
          </a:prstGeom>
          <a:solidFill>
            <a:srgbClr val="ECF3FA"/>
          </a:solidFill>
          <a:ln w="12700">
            <a:solidFill>
              <a:srgbClr val="ECF3FA"/>
            </a:solidFill>
            <a:prstDash val="solid"/>
          </a:ln>
        </p:spPr>
      </p:sp>
      <p:sp>
        <p:nvSpPr>
          <p:cNvPr id="5" name="Shape 2"/>
          <p:cNvSpPr/>
          <p:nvPr/>
        </p:nvSpPr>
        <p:spPr>
          <a:xfrm>
            <a:off x="2068068" y="3995928"/>
            <a:ext cx="658368" cy="658368"/>
          </a:xfrm>
          <a:prstGeom prst="ellipse">
            <a:avLst/>
          </a:prstGeom>
          <a:solidFill>
            <a:srgbClr val="234782"/>
          </a:solidFill>
          <a:ln w="12700">
            <a:solidFill>
              <a:srgbClr val="234782"/>
            </a:solidFill>
            <a:prstDash val="solid"/>
          </a:ln>
        </p:spPr>
      </p:sp>
      <p:pic>
        <p:nvPicPr>
          <p:cNvPr id="6" name="Image 0" descr="preencoded.png">    </p:cNvPr>
          <p:cNvPicPr>
            <a:picLocks noChangeAspect="1"/>
          </p:cNvPicPr>
          <p:nvPr/>
        </p:nvPicPr>
        <p:blipFill>
          <a:blip r:embed="rId1"/>
          <a:stretch>
            <a:fillRect/>
          </a:stretch>
        </p:blipFill>
        <p:spPr>
          <a:xfrm>
            <a:off x="2212909" y="4140769"/>
            <a:ext cx="368686" cy="368686"/>
          </a:xfrm>
          <a:prstGeom prst="rect">
            <a:avLst/>
          </a:prstGeom>
        </p:spPr>
      </p:pic>
      <p:sp>
        <p:nvSpPr>
          <p:cNvPr id="7" name="Text 3"/>
          <p:cNvSpPr txBox="1"/>
          <p:nvPr/>
        </p:nvSpPr>
        <p:spPr>
          <a:xfrm>
            <a:off x="777240" y="4727448"/>
            <a:ext cx="3240024" cy="594360"/>
          </a:xfrm>
          <a:prstGeom prst="rect">
            <a:avLst/>
          </a:prstGeom>
          <a:noFill/>
          <a:ln/>
        </p:spPr>
        <p:txBody>
          <a:bodyPr wrap="square" lIns="508" tIns="508" rIns="508" bIns="508" rtlCol="0" anchor="ctr"/>
          <a:lstStyle/>
          <a:p>
            <a:pPr algn="ctr" indent="0" marL="0">
              <a:buNone/>
            </a:pPr>
            <a:r>
              <a:rPr lang="en-US" sz="1600" b="1" dirty="0">
                <a:solidFill>
                  <a:srgbClr val="234782"/>
                </a:solidFill>
                <a:latin typeface="Tahoma" pitchFamily="34" charset="0"/>
                <a:ea typeface="Tahoma" pitchFamily="34" charset="-122"/>
                <a:cs typeface="Tahoma" pitchFamily="34" charset="-120"/>
              </a:rPr>
              <a:t>Kiểm tra chéo</a:t>
            </a:r>
            <a:endParaRPr lang="en-US" sz="1600" dirty="0"/>
          </a:p>
        </p:txBody>
      </p:sp>
      <p:sp>
        <p:nvSpPr>
          <p:cNvPr id="8" name="Text 4"/>
          <p:cNvSpPr txBox="1"/>
          <p:nvPr/>
        </p:nvSpPr>
        <p:spPr>
          <a:xfrm>
            <a:off x="822960" y="5367528"/>
            <a:ext cx="3148584" cy="850392"/>
          </a:xfrm>
          <a:prstGeom prst="rect">
            <a:avLst/>
          </a:prstGeom>
          <a:noFill/>
          <a:ln/>
        </p:spPr>
        <p:txBody>
          <a:bodyPr wrap="square" lIns="508" tIns="508" rIns="508" bIns="508" rtlCol="0" anchor="t"/>
          <a:lstStyle/>
          <a:p>
            <a:pPr algn="ctr" indent="0" marL="0">
              <a:buNone/>
            </a:pPr>
            <a:r>
              <a:rPr lang="en-US" sz="1400" dirty="0">
                <a:solidFill>
                  <a:srgbClr val="1F1F1F"/>
                </a:solidFill>
                <a:latin typeface="Tahoma" pitchFamily="34" charset="0"/>
                <a:ea typeface="Tahoma" pitchFamily="34" charset="-122"/>
                <a:cs typeface="Tahoma" pitchFamily="34" charset="-120"/>
              </a:rPr>
              <a:t>Hai phương pháp lệch 0,3 m (6%): mô hình lớp đáng tin</a:t>
            </a:r>
            <a:endParaRPr lang="en-US" sz="1400" dirty="0"/>
          </a:p>
        </p:txBody>
      </p:sp>
      <p:sp>
        <p:nvSpPr>
          <p:cNvPr id="9" name="Shape 5"/>
          <p:cNvSpPr/>
          <p:nvPr/>
        </p:nvSpPr>
        <p:spPr>
          <a:xfrm>
            <a:off x="4337304" y="3794760"/>
            <a:ext cx="3514344" cy="2514600"/>
          </a:xfrm>
          <a:prstGeom prst="roundRect">
            <a:avLst>
              <a:gd name="adj" fmla="val 3636"/>
            </a:avLst>
          </a:prstGeom>
          <a:solidFill>
            <a:srgbClr val="ECF3FA"/>
          </a:solidFill>
          <a:ln w="12700">
            <a:solidFill>
              <a:srgbClr val="ECF3FA"/>
            </a:solidFill>
            <a:prstDash val="solid"/>
          </a:ln>
        </p:spPr>
      </p:sp>
      <p:sp>
        <p:nvSpPr>
          <p:cNvPr id="10" name="Shape 6"/>
          <p:cNvSpPr/>
          <p:nvPr/>
        </p:nvSpPr>
        <p:spPr>
          <a:xfrm>
            <a:off x="5765292" y="3995928"/>
            <a:ext cx="658368" cy="658368"/>
          </a:xfrm>
          <a:prstGeom prst="ellipse">
            <a:avLst/>
          </a:prstGeom>
          <a:solidFill>
            <a:srgbClr val="234782"/>
          </a:solidFill>
          <a:ln w="12700">
            <a:solidFill>
              <a:srgbClr val="234782"/>
            </a:solidFill>
            <a:prstDash val="solid"/>
          </a:ln>
        </p:spPr>
      </p:sp>
      <p:pic>
        <p:nvPicPr>
          <p:cNvPr id="11" name="Image 1" descr="preencoded.png">    </p:cNvPr>
          <p:cNvPicPr>
            <a:picLocks noChangeAspect="1"/>
          </p:cNvPicPr>
          <p:nvPr/>
        </p:nvPicPr>
        <p:blipFill>
          <a:blip r:embed="rId2"/>
          <a:stretch>
            <a:fillRect/>
          </a:stretch>
        </p:blipFill>
        <p:spPr>
          <a:xfrm>
            <a:off x="5910133" y="4140769"/>
            <a:ext cx="368686" cy="368686"/>
          </a:xfrm>
          <a:prstGeom prst="rect">
            <a:avLst/>
          </a:prstGeom>
        </p:spPr>
      </p:pic>
      <p:sp>
        <p:nvSpPr>
          <p:cNvPr id="12" name="Text 7"/>
          <p:cNvSpPr txBox="1"/>
          <p:nvPr/>
        </p:nvSpPr>
        <p:spPr>
          <a:xfrm>
            <a:off x="4474464" y="4727448"/>
            <a:ext cx="3240024" cy="594360"/>
          </a:xfrm>
          <a:prstGeom prst="rect">
            <a:avLst/>
          </a:prstGeom>
          <a:noFill/>
          <a:ln/>
        </p:spPr>
        <p:txBody>
          <a:bodyPr wrap="square" lIns="508" tIns="508" rIns="508" bIns="508" rtlCol="0" anchor="ctr"/>
          <a:lstStyle/>
          <a:p>
            <a:pPr algn="ctr" indent="0" marL="0">
              <a:buNone/>
            </a:pPr>
            <a:r>
              <a:rPr lang="en-US" sz="1600" b="1" dirty="0">
                <a:solidFill>
                  <a:srgbClr val="234782"/>
                </a:solidFill>
                <a:latin typeface="Tahoma" pitchFamily="34" charset="0"/>
                <a:ea typeface="Tahoma" pitchFamily="34" charset="-122"/>
                <a:cs typeface="Tahoma" pitchFamily="34" charset="-120"/>
              </a:rPr>
              <a:t>Giảm đa nghiệm</a:t>
            </a:r>
            <a:endParaRPr lang="en-US" sz="1600" dirty="0"/>
          </a:p>
        </p:txBody>
      </p:sp>
      <p:sp>
        <p:nvSpPr>
          <p:cNvPr id="13" name="Text 8"/>
          <p:cNvSpPr txBox="1"/>
          <p:nvPr/>
        </p:nvSpPr>
        <p:spPr>
          <a:xfrm>
            <a:off x="4520184" y="5367528"/>
            <a:ext cx="3148584" cy="850392"/>
          </a:xfrm>
          <a:prstGeom prst="rect">
            <a:avLst/>
          </a:prstGeom>
          <a:noFill/>
          <a:ln/>
        </p:spPr>
        <p:txBody>
          <a:bodyPr wrap="square" lIns="508" tIns="508" rIns="508" bIns="508" rtlCol="0" anchor="t"/>
          <a:lstStyle/>
          <a:p>
            <a:pPr algn="ctr" indent="0" marL="0">
              <a:buNone/>
            </a:pPr>
            <a:r>
              <a:rPr lang="en-US" sz="1400" dirty="0">
                <a:solidFill>
                  <a:srgbClr val="1F1F1F"/>
                </a:solidFill>
                <a:latin typeface="Tahoma" pitchFamily="34" charset="0"/>
                <a:ea typeface="Tahoma" pitchFamily="34" charset="-122"/>
                <a:cs typeface="Tahoma" pitchFamily="34" charset="-120"/>
              </a:rPr>
              <a:t>Lấy h từ khúc xạ làm ràng buộc khi giải ngược VES</a:t>
            </a:r>
            <a:endParaRPr lang="en-US" sz="1400" dirty="0"/>
          </a:p>
        </p:txBody>
      </p:sp>
      <p:sp>
        <p:nvSpPr>
          <p:cNvPr id="14" name="Shape 9"/>
          <p:cNvSpPr/>
          <p:nvPr/>
        </p:nvSpPr>
        <p:spPr>
          <a:xfrm>
            <a:off x="8034528" y="3794760"/>
            <a:ext cx="3514344" cy="2514600"/>
          </a:xfrm>
          <a:prstGeom prst="roundRect">
            <a:avLst>
              <a:gd name="adj" fmla="val 3636"/>
            </a:avLst>
          </a:prstGeom>
          <a:solidFill>
            <a:srgbClr val="ECF3FA"/>
          </a:solidFill>
          <a:ln w="12700">
            <a:solidFill>
              <a:srgbClr val="ECF3FA"/>
            </a:solidFill>
            <a:prstDash val="solid"/>
          </a:ln>
        </p:spPr>
      </p:sp>
      <p:sp>
        <p:nvSpPr>
          <p:cNvPr id="15" name="Shape 10"/>
          <p:cNvSpPr/>
          <p:nvPr/>
        </p:nvSpPr>
        <p:spPr>
          <a:xfrm>
            <a:off x="9462516" y="3995928"/>
            <a:ext cx="658368" cy="658368"/>
          </a:xfrm>
          <a:prstGeom prst="ellipse">
            <a:avLst/>
          </a:prstGeom>
          <a:solidFill>
            <a:srgbClr val="D95F0E"/>
          </a:solidFill>
          <a:ln w="12700">
            <a:solidFill>
              <a:srgbClr val="D95F0E"/>
            </a:solidFill>
            <a:prstDash val="solid"/>
          </a:ln>
        </p:spPr>
      </p:sp>
      <p:pic>
        <p:nvPicPr>
          <p:cNvPr id="16" name="Image 2" descr="preencoded.png">    </p:cNvPr>
          <p:cNvPicPr>
            <a:picLocks noChangeAspect="1"/>
          </p:cNvPicPr>
          <p:nvPr/>
        </p:nvPicPr>
        <p:blipFill>
          <a:blip r:embed="rId3"/>
          <a:stretch>
            <a:fillRect/>
          </a:stretch>
        </p:blipFill>
        <p:spPr>
          <a:xfrm>
            <a:off x="9607357" y="4140769"/>
            <a:ext cx="368686" cy="368686"/>
          </a:xfrm>
          <a:prstGeom prst="rect">
            <a:avLst/>
          </a:prstGeom>
        </p:spPr>
      </p:pic>
      <p:sp>
        <p:nvSpPr>
          <p:cNvPr id="17" name="Text 11"/>
          <p:cNvSpPr txBox="1"/>
          <p:nvPr/>
        </p:nvSpPr>
        <p:spPr>
          <a:xfrm>
            <a:off x="8171688" y="4727448"/>
            <a:ext cx="3240024" cy="594360"/>
          </a:xfrm>
          <a:prstGeom prst="rect">
            <a:avLst/>
          </a:prstGeom>
          <a:noFill/>
          <a:ln/>
        </p:spPr>
        <p:txBody>
          <a:bodyPr wrap="square" lIns="508" tIns="508" rIns="508" bIns="508" rtlCol="0" anchor="ctr"/>
          <a:lstStyle/>
          <a:p>
            <a:pPr algn="ctr" indent="0" marL="0">
              <a:buNone/>
            </a:pPr>
            <a:r>
              <a:rPr lang="en-US" sz="1600" b="1" dirty="0">
                <a:solidFill>
                  <a:srgbClr val="234782"/>
                </a:solidFill>
                <a:latin typeface="Tahoma" pitchFamily="34" charset="0"/>
                <a:ea typeface="Tahoma" pitchFamily="34" charset="-122"/>
                <a:cs typeface="Tahoma" pitchFamily="34" charset="-120"/>
              </a:rPr>
              <a:t>Khi khúc xạ thất bại</a:t>
            </a:r>
            <a:endParaRPr lang="en-US" sz="1600" dirty="0"/>
          </a:p>
        </p:txBody>
      </p:sp>
      <p:sp>
        <p:nvSpPr>
          <p:cNvPr id="18" name="Text 12"/>
          <p:cNvSpPr txBox="1"/>
          <p:nvPr/>
        </p:nvSpPr>
        <p:spPr>
          <a:xfrm>
            <a:off x="8217408" y="5367528"/>
            <a:ext cx="3148584" cy="850392"/>
          </a:xfrm>
          <a:prstGeom prst="rect">
            <a:avLst/>
          </a:prstGeom>
          <a:noFill/>
          <a:ln/>
        </p:spPr>
        <p:txBody>
          <a:bodyPr wrap="square" lIns="508" tIns="508" rIns="508" bIns="508" rtlCol="0" anchor="t"/>
          <a:lstStyle/>
          <a:p>
            <a:pPr algn="ctr" indent="0" marL="0">
              <a:buNone/>
            </a:pPr>
            <a:r>
              <a:rPr lang="en-US" sz="1400" dirty="0">
                <a:solidFill>
                  <a:srgbClr val="1F1F1F"/>
                </a:solidFill>
                <a:latin typeface="Tahoma" pitchFamily="34" charset="0"/>
                <a:ea typeface="Tahoma" pitchFamily="34" charset="-122"/>
                <a:cs typeface="Tahoma" pitchFamily="34" charset="-120"/>
              </a:rPr>
              <a:t>Lớp dưới chậm hơn (đảo vận tốc): VES vẫn thấy ranh giới</a:t>
            </a:r>
            <a:endParaRPr lang="en-US" sz="14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10. Kết luận</a:t>
            </a:r>
            <a:endParaRPr lang="en-US" sz="2800" dirty="0"/>
          </a:p>
        </p:txBody>
      </p:sp>
      <p:sp>
        <p:nvSpPr>
          <p:cNvPr id="3" name="Shape 1"/>
          <p:cNvSpPr/>
          <p:nvPr/>
        </p:nvSpPr>
        <p:spPr>
          <a:xfrm>
            <a:off x="640080" y="960120"/>
            <a:ext cx="10908792" cy="800100"/>
          </a:xfrm>
          <a:prstGeom prst="roundRect">
            <a:avLst>
              <a:gd name="adj" fmla="val 6857"/>
            </a:avLst>
          </a:prstGeom>
          <a:solidFill>
            <a:srgbClr val="ECF3FA"/>
          </a:solidFill>
          <a:ln w="9525">
            <a:solidFill>
              <a:srgbClr val="ECF3FA"/>
            </a:solidFill>
            <a:prstDash val="solid"/>
          </a:ln>
        </p:spPr>
      </p:sp>
      <p:sp>
        <p:nvSpPr>
          <p:cNvPr id="4" name="Shape 2"/>
          <p:cNvSpPr/>
          <p:nvPr/>
        </p:nvSpPr>
        <p:spPr>
          <a:xfrm>
            <a:off x="822960" y="1131570"/>
            <a:ext cx="457200" cy="457200"/>
          </a:xfrm>
          <a:prstGeom prst="ellipse">
            <a:avLst/>
          </a:prstGeom>
          <a:solidFill>
            <a:srgbClr val="234782"/>
          </a:solidFill>
          <a:ln w="12700">
            <a:solidFill>
              <a:srgbClr val="234782"/>
            </a:solidFill>
            <a:prstDash val="solid"/>
          </a:ln>
        </p:spPr>
      </p:sp>
      <p:sp>
        <p:nvSpPr>
          <p:cNvPr id="5" name="Text 3"/>
          <p:cNvSpPr/>
          <p:nvPr/>
        </p:nvSpPr>
        <p:spPr>
          <a:xfrm>
            <a:off x="822960" y="113157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ahoma" pitchFamily="34" charset="0"/>
                <a:ea typeface="Tahoma" pitchFamily="34" charset="-122"/>
                <a:cs typeface="Tahoma" pitchFamily="34" charset="-120"/>
              </a:rPr>
              <a:t>1</a:t>
            </a:r>
            <a:endParaRPr lang="en-US" sz="1400" dirty="0"/>
          </a:p>
        </p:txBody>
      </p:sp>
      <p:sp>
        <p:nvSpPr>
          <p:cNvPr id="6" name="Text 4"/>
          <p:cNvSpPr txBox="1"/>
          <p:nvPr/>
        </p:nvSpPr>
        <p:spPr>
          <a:xfrm>
            <a:off x="1463040" y="1005840"/>
            <a:ext cx="1554480" cy="708660"/>
          </a:xfrm>
          <a:prstGeom prst="rect">
            <a:avLst/>
          </a:prstGeom>
          <a:noFill/>
          <a:ln/>
        </p:spPr>
        <p:txBody>
          <a:bodyPr wrap="square" lIns="508" tIns="508" rIns="508" bIns="508" rtlCol="0" anchor="ctr"/>
          <a:lstStyle/>
          <a:p>
            <a:pPr indent="0" marL="0">
              <a:buNone/>
            </a:pPr>
            <a:r>
              <a:rPr lang="en-US" sz="1600" b="1" dirty="0">
                <a:solidFill>
                  <a:srgbClr val="234782"/>
                </a:solidFill>
                <a:latin typeface="Tahoma" pitchFamily="34" charset="0"/>
                <a:ea typeface="Tahoma" pitchFamily="34" charset="-122"/>
                <a:cs typeface="Tahoma" pitchFamily="34" charset="-120"/>
              </a:rPr>
              <a:t>Nguyên lý</a:t>
            </a:r>
            <a:endParaRPr lang="en-US" sz="1600" dirty="0"/>
          </a:p>
        </p:txBody>
      </p:sp>
      <p:sp>
        <p:nvSpPr>
          <p:cNvPr id="7" name="Text 5"/>
          <p:cNvSpPr txBox="1"/>
          <p:nvPr/>
        </p:nvSpPr>
        <p:spPr>
          <a:xfrm>
            <a:off x="3108960" y="1005840"/>
            <a:ext cx="8257032" cy="708660"/>
          </a:xfrm>
          <a:prstGeom prst="rect">
            <a:avLst/>
          </a:prstGeom>
          <a:noFill/>
          <a:ln/>
        </p:spPr>
        <p:txBody>
          <a:bodyPr wrap="square" lIns="508" tIns="508" rIns="508" bIns="508" rtlCol="0" anchor="ctr"/>
          <a:lstStyle/>
          <a:p>
            <a:pPr indent="0" marL="0">
              <a:buNone/>
            </a:pPr>
            <a:r>
              <a:rPr lang="en-US" sz="1500" dirty="0">
                <a:solidFill>
                  <a:srgbClr val="1F1F1F"/>
                </a:solidFill>
                <a:latin typeface="Tahoma" pitchFamily="34" charset="0"/>
                <a:ea typeface="Tahoma" pitchFamily="34" charset="-122"/>
                <a:cs typeface="Tahoma" pitchFamily="34" charset="-120"/>
              </a:rPr>
              <a:t>Đo 4 cực: phát I qua A, B, đo ΔU giữa M, N, tính ρa = K·ΔU/I</a:t>
            </a:r>
            <a:endParaRPr lang="en-US" sz="1500" dirty="0"/>
          </a:p>
        </p:txBody>
      </p:sp>
      <p:sp>
        <p:nvSpPr>
          <p:cNvPr id="8" name="Shape 6"/>
          <p:cNvSpPr/>
          <p:nvPr/>
        </p:nvSpPr>
        <p:spPr>
          <a:xfrm>
            <a:off x="640080" y="1869948"/>
            <a:ext cx="10908792" cy="800100"/>
          </a:xfrm>
          <a:prstGeom prst="roundRect">
            <a:avLst>
              <a:gd name="adj" fmla="val 6857"/>
            </a:avLst>
          </a:prstGeom>
          <a:solidFill>
            <a:srgbClr val="FFFFFF"/>
          </a:solidFill>
          <a:ln w="9525">
            <a:solidFill>
              <a:srgbClr val="C9D8EA"/>
            </a:solidFill>
            <a:prstDash val="solid"/>
          </a:ln>
        </p:spPr>
      </p:sp>
      <p:sp>
        <p:nvSpPr>
          <p:cNvPr id="9" name="Shape 7"/>
          <p:cNvSpPr/>
          <p:nvPr/>
        </p:nvSpPr>
        <p:spPr>
          <a:xfrm>
            <a:off x="822960" y="2041398"/>
            <a:ext cx="457200" cy="457200"/>
          </a:xfrm>
          <a:prstGeom prst="ellipse">
            <a:avLst/>
          </a:prstGeom>
          <a:solidFill>
            <a:srgbClr val="234782"/>
          </a:solidFill>
          <a:ln w="12700">
            <a:solidFill>
              <a:srgbClr val="234782"/>
            </a:solidFill>
            <a:prstDash val="solid"/>
          </a:ln>
        </p:spPr>
      </p:sp>
      <p:sp>
        <p:nvSpPr>
          <p:cNvPr id="10" name="Text 8"/>
          <p:cNvSpPr/>
          <p:nvPr/>
        </p:nvSpPr>
        <p:spPr>
          <a:xfrm>
            <a:off x="822960" y="204139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ahoma" pitchFamily="34" charset="0"/>
                <a:ea typeface="Tahoma" pitchFamily="34" charset="-122"/>
                <a:cs typeface="Tahoma" pitchFamily="34" charset="-120"/>
              </a:rPr>
              <a:t>2</a:t>
            </a:r>
            <a:endParaRPr lang="en-US" sz="1400" dirty="0"/>
          </a:p>
        </p:txBody>
      </p:sp>
      <p:sp>
        <p:nvSpPr>
          <p:cNvPr id="11" name="Text 9"/>
          <p:cNvSpPr txBox="1"/>
          <p:nvPr/>
        </p:nvSpPr>
        <p:spPr>
          <a:xfrm>
            <a:off x="1463040" y="1915668"/>
            <a:ext cx="1554480" cy="708660"/>
          </a:xfrm>
          <a:prstGeom prst="rect">
            <a:avLst/>
          </a:prstGeom>
          <a:noFill/>
          <a:ln/>
        </p:spPr>
        <p:txBody>
          <a:bodyPr wrap="square" lIns="508" tIns="508" rIns="508" bIns="508" rtlCol="0" anchor="ctr"/>
          <a:lstStyle/>
          <a:p>
            <a:pPr indent="0" marL="0">
              <a:buNone/>
            </a:pPr>
            <a:r>
              <a:rPr lang="en-US" sz="1600" b="1" dirty="0">
                <a:solidFill>
                  <a:srgbClr val="234782"/>
                </a:solidFill>
                <a:latin typeface="Tahoma" pitchFamily="34" charset="0"/>
                <a:ea typeface="Tahoma" pitchFamily="34" charset="-122"/>
                <a:cs typeface="Tahoma" pitchFamily="34" charset="-120"/>
              </a:rPr>
              <a:t>Thiết bị</a:t>
            </a:r>
            <a:endParaRPr lang="en-US" sz="1600" dirty="0"/>
          </a:p>
        </p:txBody>
      </p:sp>
      <p:sp>
        <p:nvSpPr>
          <p:cNvPr id="12" name="Text 10"/>
          <p:cNvSpPr txBox="1"/>
          <p:nvPr/>
        </p:nvSpPr>
        <p:spPr>
          <a:xfrm>
            <a:off x="3108960" y="1915668"/>
            <a:ext cx="8257032" cy="708660"/>
          </a:xfrm>
          <a:prstGeom prst="rect">
            <a:avLst/>
          </a:prstGeom>
          <a:noFill/>
          <a:ln/>
        </p:spPr>
        <p:txBody>
          <a:bodyPr wrap="square" lIns="508" tIns="508" rIns="508" bIns="508" rtlCol="0" anchor="ctr"/>
          <a:lstStyle/>
          <a:p>
            <a:pPr indent="0" marL="0">
              <a:buNone/>
            </a:pPr>
            <a:r>
              <a:rPr lang="en-US" sz="1500" dirty="0">
                <a:solidFill>
                  <a:srgbClr val="1F1F1F"/>
                </a:solidFill>
                <a:latin typeface="Tahoma" pitchFamily="34" charset="0"/>
                <a:ea typeface="Tahoma" pitchFamily="34" charset="-122"/>
                <a:cs typeface="Tahoma" pitchFamily="34" charset="-120"/>
              </a:rPr>
              <a:t>Terrameter SAS: 1 – 1.000 mA, 400 V, 1 µV; 1 hoặc 4 kênh; đo RES, IP, SP</a:t>
            </a:r>
            <a:endParaRPr lang="en-US" sz="1500" dirty="0"/>
          </a:p>
        </p:txBody>
      </p:sp>
      <p:sp>
        <p:nvSpPr>
          <p:cNvPr id="13" name="Shape 11"/>
          <p:cNvSpPr/>
          <p:nvPr/>
        </p:nvSpPr>
        <p:spPr>
          <a:xfrm>
            <a:off x="640080" y="2779776"/>
            <a:ext cx="10908792" cy="800100"/>
          </a:xfrm>
          <a:prstGeom prst="roundRect">
            <a:avLst>
              <a:gd name="adj" fmla="val 6857"/>
            </a:avLst>
          </a:prstGeom>
          <a:solidFill>
            <a:srgbClr val="ECF3FA"/>
          </a:solidFill>
          <a:ln w="9525">
            <a:solidFill>
              <a:srgbClr val="ECF3FA"/>
            </a:solidFill>
            <a:prstDash val="solid"/>
          </a:ln>
        </p:spPr>
      </p:sp>
      <p:sp>
        <p:nvSpPr>
          <p:cNvPr id="14" name="Shape 12"/>
          <p:cNvSpPr/>
          <p:nvPr/>
        </p:nvSpPr>
        <p:spPr>
          <a:xfrm>
            <a:off x="822960" y="2951226"/>
            <a:ext cx="457200" cy="457200"/>
          </a:xfrm>
          <a:prstGeom prst="ellipse">
            <a:avLst/>
          </a:prstGeom>
          <a:solidFill>
            <a:srgbClr val="234782"/>
          </a:solidFill>
          <a:ln w="12700">
            <a:solidFill>
              <a:srgbClr val="234782"/>
            </a:solidFill>
            <a:prstDash val="solid"/>
          </a:ln>
        </p:spPr>
      </p:sp>
      <p:sp>
        <p:nvSpPr>
          <p:cNvPr id="15" name="Text 13"/>
          <p:cNvSpPr/>
          <p:nvPr/>
        </p:nvSpPr>
        <p:spPr>
          <a:xfrm>
            <a:off x="822960" y="295122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ahoma" pitchFamily="34" charset="0"/>
                <a:ea typeface="Tahoma" pitchFamily="34" charset="-122"/>
                <a:cs typeface="Tahoma" pitchFamily="34" charset="-120"/>
              </a:rPr>
              <a:t>3</a:t>
            </a:r>
            <a:endParaRPr lang="en-US" sz="1400" dirty="0"/>
          </a:p>
        </p:txBody>
      </p:sp>
      <p:sp>
        <p:nvSpPr>
          <p:cNvPr id="16" name="Text 14"/>
          <p:cNvSpPr txBox="1"/>
          <p:nvPr/>
        </p:nvSpPr>
        <p:spPr>
          <a:xfrm>
            <a:off x="1463040" y="2825496"/>
            <a:ext cx="1554480" cy="708660"/>
          </a:xfrm>
          <a:prstGeom prst="rect">
            <a:avLst/>
          </a:prstGeom>
          <a:noFill/>
          <a:ln/>
        </p:spPr>
        <p:txBody>
          <a:bodyPr wrap="square" lIns="508" tIns="508" rIns="508" bIns="508" rtlCol="0" anchor="ctr"/>
          <a:lstStyle/>
          <a:p>
            <a:pPr indent="0" marL="0">
              <a:buNone/>
            </a:pPr>
            <a:r>
              <a:rPr lang="en-US" sz="1600" b="1" dirty="0">
                <a:solidFill>
                  <a:srgbClr val="234782"/>
                </a:solidFill>
                <a:latin typeface="Tahoma" pitchFamily="34" charset="0"/>
                <a:ea typeface="Tahoma" pitchFamily="34" charset="-122"/>
                <a:cs typeface="Tahoma" pitchFamily="34" charset="-120"/>
              </a:rPr>
              <a:t>Thao tác</a:t>
            </a:r>
            <a:endParaRPr lang="en-US" sz="1600" dirty="0"/>
          </a:p>
        </p:txBody>
      </p:sp>
      <p:sp>
        <p:nvSpPr>
          <p:cNvPr id="17" name="Text 15"/>
          <p:cNvSpPr txBox="1"/>
          <p:nvPr/>
        </p:nvSpPr>
        <p:spPr>
          <a:xfrm>
            <a:off x="3108960" y="2825496"/>
            <a:ext cx="8257032" cy="708660"/>
          </a:xfrm>
          <a:prstGeom prst="rect">
            <a:avLst/>
          </a:prstGeom>
          <a:noFill/>
          <a:ln/>
        </p:spPr>
        <p:txBody>
          <a:bodyPr wrap="square" lIns="508" tIns="508" rIns="508" bIns="508" rtlCol="0" anchor="ctr"/>
          <a:lstStyle/>
          <a:p>
            <a:pPr indent="0" marL="0">
              <a:buNone/>
            </a:pPr>
            <a:r>
              <a:rPr lang="en-US" sz="1500" dirty="0">
                <a:solidFill>
                  <a:srgbClr val="1F1F1F"/>
                </a:solidFill>
                <a:latin typeface="Tahoma" pitchFamily="34" charset="0"/>
                <a:ea typeface="Tahoma" pitchFamily="34" charset="-122"/>
                <a:cs typeface="Tahoma" pitchFamily="34" charset="-120"/>
              </a:rPr>
              <a:t>Điều khiển bằng 4 núm xoay; kiểm tra S.Dev ≤ 1% mỗi lần đo</a:t>
            </a:r>
            <a:endParaRPr lang="en-US" sz="1500" dirty="0"/>
          </a:p>
        </p:txBody>
      </p:sp>
      <p:sp>
        <p:nvSpPr>
          <p:cNvPr id="18" name="Shape 16"/>
          <p:cNvSpPr/>
          <p:nvPr/>
        </p:nvSpPr>
        <p:spPr>
          <a:xfrm>
            <a:off x="640080" y="3689604"/>
            <a:ext cx="10908792" cy="800100"/>
          </a:xfrm>
          <a:prstGeom prst="roundRect">
            <a:avLst>
              <a:gd name="adj" fmla="val 6857"/>
            </a:avLst>
          </a:prstGeom>
          <a:solidFill>
            <a:srgbClr val="FFFFFF"/>
          </a:solidFill>
          <a:ln w="9525">
            <a:solidFill>
              <a:srgbClr val="C9D8EA"/>
            </a:solidFill>
            <a:prstDash val="solid"/>
          </a:ln>
        </p:spPr>
      </p:sp>
      <p:sp>
        <p:nvSpPr>
          <p:cNvPr id="19" name="Shape 17"/>
          <p:cNvSpPr/>
          <p:nvPr/>
        </p:nvSpPr>
        <p:spPr>
          <a:xfrm>
            <a:off x="822960" y="3861054"/>
            <a:ext cx="457200" cy="457200"/>
          </a:xfrm>
          <a:prstGeom prst="ellipse">
            <a:avLst/>
          </a:prstGeom>
          <a:solidFill>
            <a:srgbClr val="234782"/>
          </a:solidFill>
          <a:ln w="12700">
            <a:solidFill>
              <a:srgbClr val="234782"/>
            </a:solidFill>
            <a:prstDash val="solid"/>
          </a:ln>
        </p:spPr>
      </p:sp>
      <p:sp>
        <p:nvSpPr>
          <p:cNvPr id="20" name="Text 18"/>
          <p:cNvSpPr/>
          <p:nvPr/>
        </p:nvSpPr>
        <p:spPr>
          <a:xfrm>
            <a:off x="822960" y="386105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ahoma" pitchFamily="34" charset="0"/>
                <a:ea typeface="Tahoma" pitchFamily="34" charset="-122"/>
                <a:cs typeface="Tahoma" pitchFamily="34" charset="-120"/>
              </a:rPr>
              <a:t>4</a:t>
            </a:r>
            <a:endParaRPr lang="en-US" sz="1400" dirty="0"/>
          </a:p>
        </p:txBody>
      </p:sp>
      <p:sp>
        <p:nvSpPr>
          <p:cNvPr id="21" name="Text 19"/>
          <p:cNvSpPr txBox="1"/>
          <p:nvPr/>
        </p:nvSpPr>
        <p:spPr>
          <a:xfrm>
            <a:off x="1463040" y="3735324"/>
            <a:ext cx="1554480" cy="708660"/>
          </a:xfrm>
          <a:prstGeom prst="rect">
            <a:avLst/>
          </a:prstGeom>
          <a:noFill/>
          <a:ln/>
        </p:spPr>
        <p:txBody>
          <a:bodyPr wrap="square" lIns="508" tIns="508" rIns="508" bIns="508" rtlCol="0" anchor="ctr"/>
          <a:lstStyle/>
          <a:p>
            <a:pPr indent="0" marL="0">
              <a:buNone/>
            </a:pPr>
            <a:r>
              <a:rPr lang="en-US" sz="1600" b="1" dirty="0">
                <a:solidFill>
                  <a:srgbClr val="234782"/>
                </a:solidFill>
                <a:latin typeface="Tahoma" pitchFamily="34" charset="0"/>
                <a:ea typeface="Tahoma" pitchFamily="34" charset="-122"/>
                <a:cs typeface="Tahoma" pitchFamily="34" charset="-120"/>
              </a:rPr>
              <a:t>Quy trình</a:t>
            </a:r>
            <a:endParaRPr lang="en-US" sz="1600" dirty="0"/>
          </a:p>
        </p:txBody>
      </p:sp>
      <p:sp>
        <p:nvSpPr>
          <p:cNvPr id="22" name="Text 20"/>
          <p:cNvSpPr txBox="1"/>
          <p:nvPr/>
        </p:nvSpPr>
        <p:spPr>
          <a:xfrm>
            <a:off x="3108960" y="3735324"/>
            <a:ext cx="8257032" cy="708660"/>
          </a:xfrm>
          <a:prstGeom prst="rect">
            <a:avLst/>
          </a:prstGeom>
          <a:noFill/>
          <a:ln/>
        </p:spPr>
        <p:txBody>
          <a:bodyPr wrap="square" lIns="508" tIns="508" rIns="508" bIns="508" rtlCol="0" anchor="ctr"/>
          <a:lstStyle/>
          <a:p>
            <a:pPr indent="0" marL="0">
              <a:buNone/>
            </a:pPr>
            <a:r>
              <a:rPr lang="en-US" sz="1500" dirty="0">
                <a:solidFill>
                  <a:srgbClr val="1F1F1F"/>
                </a:solidFill>
                <a:latin typeface="Tahoma" pitchFamily="34" charset="0"/>
                <a:ea typeface="Tahoma" pitchFamily="34" charset="-122"/>
                <a:cs typeface="Tahoma" pitchFamily="34" charset="-120"/>
              </a:rPr>
              <a:t>VES theo Schlumberger; ảnh điện 2D với hệ LUND; giải ngược IPI2Win, RES2DINV</a:t>
            </a:r>
            <a:endParaRPr lang="en-US" sz="1500" dirty="0"/>
          </a:p>
        </p:txBody>
      </p:sp>
      <p:sp>
        <p:nvSpPr>
          <p:cNvPr id="23" name="Shape 21"/>
          <p:cNvSpPr/>
          <p:nvPr/>
        </p:nvSpPr>
        <p:spPr>
          <a:xfrm>
            <a:off x="640080" y="4599432"/>
            <a:ext cx="10908792" cy="800100"/>
          </a:xfrm>
          <a:prstGeom prst="roundRect">
            <a:avLst>
              <a:gd name="adj" fmla="val 6857"/>
            </a:avLst>
          </a:prstGeom>
          <a:solidFill>
            <a:srgbClr val="ECF3FA"/>
          </a:solidFill>
          <a:ln w="9525">
            <a:solidFill>
              <a:srgbClr val="ECF3FA"/>
            </a:solidFill>
            <a:prstDash val="solid"/>
          </a:ln>
        </p:spPr>
      </p:sp>
      <p:sp>
        <p:nvSpPr>
          <p:cNvPr id="24" name="Shape 22"/>
          <p:cNvSpPr/>
          <p:nvPr/>
        </p:nvSpPr>
        <p:spPr>
          <a:xfrm>
            <a:off x="822960" y="4770882"/>
            <a:ext cx="457200" cy="457200"/>
          </a:xfrm>
          <a:prstGeom prst="ellipse">
            <a:avLst/>
          </a:prstGeom>
          <a:solidFill>
            <a:srgbClr val="234782"/>
          </a:solidFill>
          <a:ln w="12700">
            <a:solidFill>
              <a:srgbClr val="234782"/>
            </a:solidFill>
            <a:prstDash val="solid"/>
          </a:ln>
        </p:spPr>
      </p:sp>
      <p:sp>
        <p:nvSpPr>
          <p:cNvPr id="25" name="Text 23"/>
          <p:cNvSpPr/>
          <p:nvPr/>
        </p:nvSpPr>
        <p:spPr>
          <a:xfrm>
            <a:off x="822960" y="477088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ahoma" pitchFamily="34" charset="0"/>
                <a:ea typeface="Tahoma" pitchFamily="34" charset="-122"/>
                <a:cs typeface="Tahoma" pitchFamily="34" charset="-120"/>
              </a:rPr>
              <a:t>5</a:t>
            </a:r>
            <a:endParaRPr lang="en-US" sz="1400" dirty="0"/>
          </a:p>
        </p:txBody>
      </p:sp>
      <p:sp>
        <p:nvSpPr>
          <p:cNvPr id="26" name="Text 24"/>
          <p:cNvSpPr txBox="1"/>
          <p:nvPr/>
        </p:nvSpPr>
        <p:spPr>
          <a:xfrm>
            <a:off x="1463040" y="4645152"/>
            <a:ext cx="1554480" cy="708660"/>
          </a:xfrm>
          <a:prstGeom prst="rect">
            <a:avLst/>
          </a:prstGeom>
          <a:noFill/>
          <a:ln/>
        </p:spPr>
        <p:txBody>
          <a:bodyPr wrap="square" lIns="508" tIns="508" rIns="508" bIns="508" rtlCol="0" anchor="ctr"/>
          <a:lstStyle/>
          <a:p>
            <a:pPr indent="0" marL="0">
              <a:buNone/>
            </a:pPr>
            <a:r>
              <a:rPr lang="en-US" sz="1600" b="1" dirty="0">
                <a:solidFill>
                  <a:srgbClr val="234782"/>
                </a:solidFill>
                <a:latin typeface="Tahoma" pitchFamily="34" charset="0"/>
                <a:ea typeface="Tahoma" pitchFamily="34" charset="-122"/>
                <a:cs typeface="Tahoma" pitchFamily="34" charset="-120"/>
              </a:rPr>
              <a:t>An toàn</a:t>
            </a:r>
            <a:endParaRPr lang="en-US" sz="1600" dirty="0"/>
          </a:p>
        </p:txBody>
      </p:sp>
      <p:sp>
        <p:nvSpPr>
          <p:cNvPr id="27" name="Text 25"/>
          <p:cNvSpPr txBox="1"/>
          <p:nvPr/>
        </p:nvSpPr>
        <p:spPr>
          <a:xfrm>
            <a:off x="3108960" y="4645152"/>
            <a:ext cx="8257032" cy="708660"/>
          </a:xfrm>
          <a:prstGeom prst="rect">
            <a:avLst/>
          </a:prstGeom>
          <a:noFill/>
          <a:ln/>
        </p:spPr>
        <p:txBody>
          <a:bodyPr wrap="square" lIns="508" tIns="508" rIns="508" bIns="508" rtlCol="0" anchor="ctr"/>
          <a:lstStyle/>
          <a:p>
            <a:pPr indent="0" marL="0">
              <a:buNone/>
            </a:pPr>
            <a:r>
              <a:rPr lang="en-US" sz="1500" dirty="0">
                <a:solidFill>
                  <a:srgbClr val="1F1F1F"/>
                </a:solidFill>
                <a:latin typeface="Tahoma" pitchFamily="34" charset="0"/>
                <a:ea typeface="Tahoma" pitchFamily="34" charset="-122"/>
                <a:cs typeface="Tahoma" pitchFamily="34" charset="-120"/>
              </a:rPr>
              <a:t>Điện áp 400 V: bảo hộ, ngắt cáp trước khi tháo cực, không đo khi giông sét</a:t>
            </a:r>
            <a:endParaRPr lang="en-US" sz="1500" dirty="0"/>
          </a:p>
        </p:txBody>
      </p:sp>
      <p:sp>
        <p:nvSpPr>
          <p:cNvPr id="28" name="Shape 26"/>
          <p:cNvSpPr/>
          <p:nvPr/>
        </p:nvSpPr>
        <p:spPr>
          <a:xfrm>
            <a:off x="640080" y="5509260"/>
            <a:ext cx="10908792" cy="800100"/>
          </a:xfrm>
          <a:prstGeom prst="roundRect">
            <a:avLst>
              <a:gd name="adj" fmla="val 6857"/>
            </a:avLst>
          </a:prstGeom>
          <a:solidFill>
            <a:srgbClr val="FFFFFF"/>
          </a:solidFill>
          <a:ln w="9525">
            <a:solidFill>
              <a:srgbClr val="C9D8EA"/>
            </a:solidFill>
            <a:prstDash val="solid"/>
          </a:ln>
        </p:spPr>
      </p:sp>
      <p:sp>
        <p:nvSpPr>
          <p:cNvPr id="29" name="Shape 27"/>
          <p:cNvSpPr/>
          <p:nvPr/>
        </p:nvSpPr>
        <p:spPr>
          <a:xfrm>
            <a:off x="822960" y="5680710"/>
            <a:ext cx="457200" cy="457200"/>
          </a:xfrm>
          <a:prstGeom prst="ellipse">
            <a:avLst/>
          </a:prstGeom>
          <a:solidFill>
            <a:srgbClr val="234782"/>
          </a:solidFill>
          <a:ln w="12700">
            <a:solidFill>
              <a:srgbClr val="234782"/>
            </a:solidFill>
            <a:prstDash val="solid"/>
          </a:ln>
        </p:spPr>
      </p:sp>
      <p:sp>
        <p:nvSpPr>
          <p:cNvPr id="30" name="Text 28"/>
          <p:cNvSpPr/>
          <p:nvPr/>
        </p:nvSpPr>
        <p:spPr>
          <a:xfrm>
            <a:off x="822960" y="568071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ahoma" pitchFamily="34" charset="0"/>
                <a:ea typeface="Tahoma" pitchFamily="34" charset="-122"/>
                <a:cs typeface="Tahoma" pitchFamily="34" charset="-120"/>
              </a:rPr>
              <a:t>6</a:t>
            </a:r>
            <a:endParaRPr lang="en-US" sz="1400" dirty="0"/>
          </a:p>
        </p:txBody>
      </p:sp>
      <p:sp>
        <p:nvSpPr>
          <p:cNvPr id="31" name="Text 29"/>
          <p:cNvSpPr txBox="1"/>
          <p:nvPr/>
        </p:nvSpPr>
        <p:spPr>
          <a:xfrm>
            <a:off x="1463040" y="5554980"/>
            <a:ext cx="1554480" cy="708660"/>
          </a:xfrm>
          <a:prstGeom prst="rect">
            <a:avLst/>
          </a:prstGeom>
          <a:noFill/>
          <a:ln/>
        </p:spPr>
        <p:txBody>
          <a:bodyPr wrap="square" lIns="508" tIns="508" rIns="508" bIns="508" rtlCol="0" anchor="ctr"/>
          <a:lstStyle/>
          <a:p>
            <a:pPr indent="0" marL="0">
              <a:buNone/>
            </a:pPr>
            <a:r>
              <a:rPr lang="en-US" sz="1600" b="1" dirty="0">
                <a:solidFill>
                  <a:srgbClr val="234782"/>
                </a:solidFill>
                <a:latin typeface="Tahoma" pitchFamily="34" charset="0"/>
                <a:ea typeface="Tahoma" pitchFamily="34" charset="-122"/>
                <a:cs typeface="Tahoma" pitchFamily="34" charset="-120"/>
              </a:rPr>
              <a:t>Bài tập</a:t>
            </a:r>
            <a:endParaRPr lang="en-US" sz="1600" dirty="0"/>
          </a:p>
        </p:txBody>
      </p:sp>
      <p:sp>
        <p:nvSpPr>
          <p:cNvPr id="32" name="Text 30"/>
          <p:cNvSpPr txBox="1"/>
          <p:nvPr/>
        </p:nvSpPr>
        <p:spPr>
          <a:xfrm>
            <a:off x="3108960" y="5554980"/>
            <a:ext cx="8257032" cy="708660"/>
          </a:xfrm>
          <a:prstGeom prst="rect">
            <a:avLst/>
          </a:prstGeom>
          <a:noFill/>
          <a:ln/>
        </p:spPr>
        <p:txBody>
          <a:bodyPr wrap="square" lIns="508" tIns="508" rIns="508" bIns="508" rtlCol="0" anchor="ctr"/>
          <a:lstStyle/>
          <a:p>
            <a:pPr indent="0" marL="0">
              <a:buNone/>
            </a:pPr>
            <a:r>
              <a:rPr lang="en-US" sz="1500" dirty="0">
                <a:solidFill>
                  <a:srgbClr val="1F1F1F"/>
                </a:solidFill>
                <a:latin typeface="Tahoma" pitchFamily="34" charset="0"/>
                <a:ea typeface="Tahoma" pitchFamily="34" charset="-122"/>
                <a:cs typeface="Tahoma" pitchFamily="34" charset="-120"/>
              </a:rPr>
              <a:t>Khúc xạ cho h ≈ 5,0 m, đo sâu điện cho h ≈ 5,3 m: hai phương pháp kiểm tra chéo nhau</a:t>
            </a:r>
            <a:endParaRPr lang="en-US" sz="15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r>
              <a:rPr lang="en-US" sz="2800" b="1" dirty="0">
                <a:solidFill>
                  <a:srgbClr val="234782"/>
                </a:solidFill>
                <a:latin typeface="Tahoma" pitchFamily="34" charset="0"/>
                <a:ea typeface="Tahoma" pitchFamily="34" charset="-122"/>
                <a:cs typeface="Tahoma" pitchFamily="34" charset="-120"/>
              </a:rPr>
              <a:t>Tài liệu tham khảo</a:t>
            </a:r>
            <a:endParaRPr lang="en-US" sz="2800" dirty="0"/>
          </a:p>
        </p:txBody>
      </p:sp>
      <p:sp>
        <p:nvSpPr>
          <p:cNvPr id="3" name="Text 1"/>
          <p:cNvSpPr txBox="1"/>
          <p:nvPr/>
        </p:nvSpPr>
        <p:spPr>
          <a:xfrm>
            <a:off x="640080" y="914400"/>
            <a:ext cx="10908792" cy="5394960"/>
          </a:xfrm>
          <a:prstGeom prst="rect">
            <a:avLst/>
          </a:prstGeom>
          <a:noFill/>
          <a:ln/>
        </p:spPr>
        <p:txBody>
          <a:bodyPr wrap="square" lIns="508" tIns="508" rIns="508" bIns="508" rtlCol="0" anchor="t"/>
          <a:lstStyle/>
          <a:p>
            <a:pPr indent="0" marL="0">
              <a:buNone/>
            </a:pPr>
            <a:r>
              <a:rPr lang="en-US" sz="1300" b="1" dirty="0">
                <a:solidFill>
                  <a:srgbClr val="234782"/>
                </a:solidFill>
                <a:latin typeface="Tahoma" pitchFamily="34" charset="0"/>
                <a:ea typeface="Tahoma" pitchFamily="34" charset="-122"/>
                <a:cs typeface="Tahoma" pitchFamily="34" charset="-120"/>
              </a:rPr>
              <a:t>[1]  </a:t>
            </a:r>
            <a:r>
              <a:rPr lang="en-US" sz="1300" dirty="0">
                <a:solidFill>
                  <a:srgbClr val="1F1F1F"/>
                </a:solidFill>
                <a:latin typeface="Tahoma" pitchFamily="34" charset="0"/>
                <a:ea typeface="Tahoma" pitchFamily="34" charset="-122"/>
                <a:cs typeface="Tahoma" pitchFamily="34" charset="-120"/>
              </a:rPr>
              <a:t>Telford, W. M., Geldart, L. P., &amp; Sheriff, R. E. (1990). Applied Geophysics (2nd ed.). Cambridge University Press.</a:t>
            </a:r>
            <a:endParaRPr lang="en-US" sz="1300" dirty="0"/>
          </a:p>
          <a:p>
            <a:pPr indent="0" marL="0">
              <a:buNone/>
            </a:pPr>
            <a:r>
              <a:rPr lang="en-US" sz="1300" b="1" dirty="0">
                <a:solidFill>
                  <a:srgbClr val="234782"/>
                </a:solidFill>
                <a:latin typeface="Tahoma" pitchFamily="34" charset="0"/>
                <a:ea typeface="Tahoma" pitchFamily="34" charset="-122"/>
                <a:cs typeface="Tahoma" pitchFamily="34" charset="-120"/>
              </a:rPr>
              <a:t>[2]  </a:t>
            </a:r>
            <a:r>
              <a:rPr lang="en-US" sz="1300" dirty="0">
                <a:solidFill>
                  <a:srgbClr val="1F1F1F"/>
                </a:solidFill>
                <a:latin typeface="Tahoma" pitchFamily="34" charset="0"/>
                <a:ea typeface="Tahoma" pitchFamily="34" charset="-122"/>
                <a:cs typeface="Tahoma" pitchFamily="34" charset="-120"/>
              </a:rPr>
              <a:t>Archie, G. E. (1942). The electrical resistivity log as an aid in determining some reservoir characteristics. Transactions of the AIME, 146, 54–62.</a:t>
            </a:r>
            <a:endParaRPr lang="en-US" sz="1300" dirty="0"/>
          </a:p>
          <a:p>
            <a:pPr indent="0" marL="0">
              <a:buNone/>
            </a:pPr>
            <a:r>
              <a:rPr lang="en-US" sz="1300" b="1" dirty="0">
                <a:solidFill>
                  <a:srgbClr val="234782"/>
                </a:solidFill>
                <a:latin typeface="Tahoma" pitchFamily="34" charset="0"/>
                <a:ea typeface="Tahoma" pitchFamily="34" charset="-122"/>
                <a:cs typeface="Tahoma" pitchFamily="34" charset="-120"/>
              </a:rPr>
              <a:t>[3]  </a:t>
            </a:r>
            <a:r>
              <a:rPr lang="en-US" sz="1300" dirty="0">
                <a:solidFill>
                  <a:srgbClr val="1F1F1F"/>
                </a:solidFill>
                <a:latin typeface="Tahoma" pitchFamily="34" charset="0"/>
                <a:ea typeface="Tahoma" pitchFamily="34" charset="-122"/>
                <a:cs typeface="Tahoma" pitchFamily="34" charset="-120"/>
              </a:rPr>
              <a:t>Burger, H. R., Sheehan, A. F., &amp; Jones, C. H. (2004). Introduction to Applied Geophysics: Exploring the Shallow Subsurface. W. W. Norton &amp; Company.</a:t>
            </a:r>
            <a:endParaRPr lang="en-US" sz="1300" dirty="0"/>
          </a:p>
          <a:p>
            <a:pPr indent="0" marL="0">
              <a:buNone/>
            </a:pPr>
            <a:r>
              <a:rPr lang="en-US" sz="1300" b="1" dirty="0">
                <a:solidFill>
                  <a:srgbClr val="234782"/>
                </a:solidFill>
                <a:latin typeface="Tahoma" pitchFamily="34" charset="0"/>
                <a:ea typeface="Tahoma" pitchFamily="34" charset="-122"/>
                <a:cs typeface="Tahoma" pitchFamily="34" charset="-120"/>
              </a:rPr>
              <a:t>[4]  </a:t>
            </a:r>
            <a:r>
              <a:rPr lang="en-US" sz="1300" dirty="0">
                <a:solidFill>
                  <a:srgbClr val="1F1F1F"/>
                </a:solidFill>
                <a:latin typeface="Tahoma" pitchFamily="34" charset="0"/>
                <a:ea typeface="Tahoma" pitchFamily="34" charset="-122"/>
                <a:cs typeface="Tahoma" pitchFamily="34" charset="-120"/>
              </a:rPr>
              <a:t>ABEM Instrument AB / Guideline Geo. Instruction Manual – Terrameter SAS 1000 / SAS 4000 (GGEO-100049).</a:t>
            </a:r>
            <a:endParaRPr lang="en-US" sz="1300" dirty="0"/>
          </a:p>
          <a:p>
            <a:pPr indent="0" marL="0">
              <a:buNone/>
            </a:pPr>
            <a:r>
              <a:rPr lang="en-US" sz="1300" b="1" dirty="0">
                <a:solidFill>
                  <a:srgbClr val="234782"/>
                </a:solidFill>
                <a:latin typeface="Tahoma" pitchFamily="34" charset="0"/>
                <a:ea typeface="Tahoma" pitchFamily="34" charset="-122"/>
                <a:cs typeface="Tahoma" pitchFamily="34" charset="-120"/>
              </a:rPr>
              <a:t>[5]  </a:t>
            </a:r>
            <a:r>
              <a:rPr lang="en-US" sz="1300" dirty="0">
                <a:solidFill>
                  <a:srgbClr val="1F1F1F"/>
                </a:solidFill>
                <a:latin typeface="Tahoma" pitchFamily="34" charset="0"/>
                <a:ea typeface="Tahoma" pitchFamily="34" charset="-122"/>
                <a:cs typeface="Tahoma" pitchFamily="34" charset="-120"/>
              </a:rPr>
              <a:t>Reynolds, J. M. (2011). An Introduction to Applied and Environmental Geophysics (2nd ed.). Wiley-Blackwell.</a:t>
            </a:r>
            <a:endParaRPr lang="en-US" sz="1300" dirty="0"/>
          </a:p>
          <a:p>
            <a:pPr indent="0" marL="0">
              <a:buNone/>
            </a:pPr>
            <a:r>
              <a:rPr lang="en-US" sz="1300" b="1" dirty="0">
                <a:solidFill>
                  <a:srgbClr val="234782"/>
                </a:solidFill>
                <a:latin typeface="Tahoma" pitchFamily="34" charset="0"/>
                <a:ea typeface="Tahoma" pitchFamily="34" charset="-122"/>
                <a:cs typeface="Tahoma" pitchFamily="34" charset="-120"/>
              </a:rPr>
              <a:t>[6]  </a:t>
            </a:r>
            <a:r>
              <a:rPr lang="en-US" sz="1300" dirty="0">
                <a:solidFill>
                  <a:srgbClr val="1F1F1F"/>
                </a:solidFill>
                <a:latin typeface="Tahoma" pitchFamily="34" charset="0"/>
                <a:ea typeface="Tahoma" pitchFamily="34" charset="-122"/>
                <a:cs typeface="Tahoma" pitchFamily="34" charset="-120"/>
              </a:rPr>
              <a:t>Loke, M. H. (2004). Tutorial: 2-D and 3-D electrical imaging surveys. Geotomo Software.</a:t>
            </a:r>
            <a:endParaRPr lang="en-US" sz="13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914400" y="2468880"/>
            <a:ext cx="10360152" cy="822960"/>
          </a:xfrm>
          <a:prstGeom prst="rect">
            <a:avLst/>
          </a:prstGeom>
          <a:noFill/>
          <a:ln/>
        </p:spPr>
        <p:txBody>
          <a:bodyPr wrap="square" lIns="508" tIns="508" rIns="508" bIns="508" rtlCol="0" anchor="ctr"/>
          <a:lstStyle/>
          <a:p>
            <a:pPr algn="ctr" indent="0" marL="0">
              <a:buNone/>
            </a:pPr>
            <a:r>
              <a:rPr lang="en-US" sz="3600" dirty="0">
                <a:solidFill>
                  <a:srgbClr val="0086CA"/>
                </a:solidFill>
                <a:latin typeface="Tahoma" pitchFamily="34" charset="0"/>
                <a:ea typeface="Tahoma" pitchFamily="34" charset="-122"/>
                <a:cs typeface="Tahoma" pitchFamily="34" charset="-120"/>
              </a:rPr>
              <a:t>CẢM ƠN QUÝ THẦY CÔ ĐÃ LẮNG NGHE!</a:t>
            </a:r>
            <a:endParaRPr lang="en-US" sz="3600" dirty="0"/>
          </a:p>
        </p:txBody>
      </p:sp>
      <p:sp>
        <p:nvSpPr>
          <p:cNvPr id="3" name="Text 1"/>
          <p:cNvSpPr txBox="1"/>
          <p:nvPr/>
        </p:nvSpPr>
        <p:spPr>
          <a:xfrm>
            <a:off x="914400" y="3337560"/>
            <a:ext cx="10360152" cy="457200"/>
          </a:xfrm>
          <a:prstGeom prst="rect">
            <a:avLst/>
          </a:prstGeom>
          <a:noFill/>
          <a:ln/>
        </p:spPr>
        <p:txBody>
          <a:bodyPr wrap="square" lIns="508" tIns="508" rIns="508" bIns="508" rtlCol="0" anchor="t"/>
          <a:lstStyle/>
          <a:p>
            <a:pPr algn="ctr" indent="0" marL="0">
              <a:buNone/>
            </a:pPr>
            <a:r>
              <a:rPr lang="en-US" sz="2000" dirty="0">
                <a:solidFill>
                  <a:srgbClr val="52514E"/>
                </a:solidFill>
                <a:latin typeface="Tahoma" pitchFamily="34" charset="0"/>
                <a:ea typeface="Tahoma" pitchFamily="34" charset="-122"/>
                <a:cs typeface="Tahoma" pitchFamily="34" charset="-120"/>
              </a:rPr>
              <a:t>Kính mong nhận được góp ý của thầy</a:t>
            </a:r>
            <a:endParaRPr lang="en-US" sz="2000" dirty="0"/>
          </a:p>
        </p:txBody>
      </p:sp>
      <p:sp>
        <p:nvSpPr>
          <p:cNvPr id="4" name="Text 3"/>
          <p:cNvSpPr/>
          <p:nvPr>
            <p:ph idx="104" type="title" hasCustomPrompt="1"/>
          </p:nvPr>
        </p:nvSpPr>
        <p:spPr>
          <a:xfrm>
            <a:off x="1691640" y="73152"/>
            <a:ext cx="9985248" cy="548640"/>
          </a:xfrm>
          <a:prstGeom prst="rect">
            <a:avLst/>
          </a:prstGeom>
          <a:noFill/>
          <a:ln/>
        </p:spPr>
        <p:txBody>
          <a:bodyPr wrap="square" lIns="0" tIns="0" rIns="0" bIns="0" rtlCol="0" anchor="b"/>
          <a:lstStyle/>
          <a:p>
            <a:pPr algn="r" indent="0" marL="0">
              <a:buNone/>
            </a:pPr>
            <a:endParaRPr lang="en-US" sz="2800" dirty="0"/>
          </a:p>
        </p:txBody>
      </p:sp>
      <p:sp>
        <p:nvSpPr>
          <p:cNvPr id="25" name="Slide Number Placeholder 0"/>
          <p:cNvSpPr>
            <a:spLocks noGrp="1"/>
          </p:cNvSpPr>
          <p:nvPr>
            <p:ph type="sldNum" sz="quarter" idx="4294967295"/>
          </p:nvPr>
        </p:nvSpPr>
        <p:spPr>
          <a:xfrm>
            <a:off x="11155680" y="6574536"/>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2514E"/>
                </a:solidFill>
                <a:latin typeface="Tahoma"/>
                <a:ea typeface="Tahoma"/>
                <a:cs typeface="Tahoma"/>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ahom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hom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PetroVietnam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Máy đo điện trở suất ABEM Terrameter SAS</dc:title>
  <dc:subject>PptxGenJS Presentation</dc:subject>
  <dc:creator>Nguyễn Duy Tính</dc:creator>
  <cp:lastModifiedBy>Nguyễn Duy Tính</cp:lastModifiedBy>
  <cp:revision>1</cp:revision>
  <dcterms:created xsi:type="dcterms:W3CDTF">2026-10-28T15:20:35Z</dcterms:created>
  <dcterms:modified xsi:type="dcterms:W3CDTF">2026-10-28T15:20:35Z</dcterms:modified>
</cp:coreProperties>
</file>